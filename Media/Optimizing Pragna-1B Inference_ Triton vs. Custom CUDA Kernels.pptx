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of4g4dxkrf6s/cover_gpu_tech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>
                  <a:alpha val="80000"/>
                </a:srgbClr>
              </a:gs>
              <a:gs pos="50000">
                <a:srgbClr val="0D1117">
                  <a:alpha val="7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969" y="1281430"/>
            <a:ext cx="3151187" cy="398462"/>
          </a:xfrm>
          <a:custGeom>
            <a:avLst/>
            <a:gdLst/>
            <a:ahLst/>
            <a:cxnLst/>
            <a:rect l="l" t="t" r="r" b="b"/>
            <a:pathLst>
              <a:path w="3151187" h="398462">
                <a:moveTo>
                  <a:pt x="76202" y="0"/>
                </a:moveTo>
                <a:lnTo>
                  <a:pt x="3074986" y="0"/>
                </a:lnTo>
                <a:cubicBezTo>
                  <a:pt x="3117071" y="0"/>
                  <a:pt x="3151187" y="34117"/>
                  <a:pt x="3151187" y="76202"/>
                </a:cubicBezTo>
                <a:lnTo>
                  <a:pt x="3151187" y="322261"/>
                </a:lnTo>
                <a:cubicBezTo>
                  <a:pt x="3151187" y="364346"/>
                  <a:pt x="3117071" y="398462"/>
                  <a:pt x="3074986" y="398462"/>
                </a:cubicBezTo>
                <a:lnTo>
                  <a:pt x="76202" y="398462"/>
                </a:lnTo>
                <a:cubicBezTo>
                  <a:pt x="34117" y="398462"/>
                  <a:pt x="0" y="364346"/>
                  <a:pt x="0" y="322261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337" y="1392555"/>
            <a:ext cx="29165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PROJECT-BASED LEARNING (PBL)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1484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Optimizing 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Pragna-1B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Inference: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Triton vs. Custom CUDA Kernels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57942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949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Deep Dive into GPU Profiling &amp; Kernel Optimization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969" y="447151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223044" y="0"/>
                </a:moveTo>
                <a:lnTo>
                  <a:pt x="223044" y="0"/>
                </a:lnTo>
                <a:cubicBezTo>
                  <a:pt x="346145" y="0"/>
                  <a:pt x="446087" y="99943"/>
                  <a:pt x="446087" y="223044"/>
                </a:cubicBezTo>
                <a:lnTo>
                  <a:pt x="446087" y="223044"/>
                </a:lnTo>
                <a:cubicBezTo>
                  <a:pt x="446087" y="346145"/>
                  <a:pt x="346145" y="446087"/>
                  <a:pt x="223044" y="446087"/>
                </a:cubicBezTo>
                <a:lnTo>
                  <a:pt x="223044" y="446087"/>
                </a:lnTo>
                <a:cubicBezTo>
                  <a:pt x="99943" y="446087"/>
                  <a:pt x="0" y="346145"/>
                  <a:pt x="0" y="223044"/>
                </a:cubicBezTo>
                <a:lnTo>
                  <a:pt x="0" y="223044"/>
                </a:lnTo>
                <a:cubicBezTo>
                  <a:pt x="0" y="99943"/>
                  <a:pt x="99943" y="0"/>
                  <a:pt x="223044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6256" y="460089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4467542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4658042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Kratik Mudgal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57266" y="447151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223044" y="0"/>
                </a:moveTo>
                <a:lnTo>
                  <a:pt x="223044" y="0"/>
                </a:lnTo>
                <a:cubicBezTo>
                  <a:pt x="346145" y="0"/>
                  <a:pt x="446087" y="99943"/>
                  <a:pt x="446087" y="223044"/>
                </a:cubicBezTo>
                <a:lnTo>
                  <a:pt x="446087" y="223044"/>
                </a:lnTo>
                <a:cubicBezTo>
                  <a:pt x="446087" y="346145"/>
                  <a:pt x="346145" y="446087"/>
                  <a:pt x="223044" y="446087"/>
                </a:cubicBezTo>
                <a:lnTo>
                  <a:pt x="223044" y="446087"/>
                </a:lnTo>
                <a:cubicBezTo>
                  <a:pt x="99943" y="446087"/>
                  <a:pt x="0" y="346145"/>
                  <a:pt x="0" y="223044"/>
                </a:cubicBezTo>
                <a:lnTo>
                  <a:pt x="0" y="223044"/>
                </a:lnTo>
                <a:cubicBezTo>
                  <a:pt x="0" y="99943"/>
                  <a:pt x="99943" y="0"/>
                  <a:pt x="223044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741" y="460089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4" name="Text 11"/>
          <p:cNvSpPr/>
          <p:nvPr/>
        </p:nvSpPr>
        <p:spPr>
          <a:xfrm>
            <a:off x="2824797" y="4467542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24797" y="4658042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B.Tech Cybersecurity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1000" y="5825331"/>
            <a:ext cx="11430000" cy="7937"/>
          </a:xfrm>
          <a:custGeom>
            <a:avLst/>
            <a:gdLst/>
            <a:ahLst/>
            <a:cxnLst/>
            <a:rect l="l" t="t" r="r" b="b"/>
            <a:pathLst>
              <a:path w="11430000" h="7937">
                <a:moveTo>
                  <a:pt x="0" y="0"/>
                </a:moveTo>
                <a:lnTo>
                  <a:pt x="11430000" y="0"/>
                </a:lnTo>
                <a:lnTo>
                  <a:pt x="11430000" y="7937"/>
                </a:lnTo>
                <a:lnTo>
                  <a:pt x="0" y="7937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7" name="Shape 14"/>
          <p:cNvSpPr/>
          <p:nvPr/>
        </p:nvSpPr>
        <p:spPr>
          <a:xfrm>
            <a:off x="409575" y="6153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18" name="Text 15"/>
          <p:cNvSpPr/>
          <p:nvPr/>
        </p:nvSpPr>
        <p:spPr>
          <a:xfrm>
            <a:off x="781050" y="60579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1050" y="6248400"/>
            <a:ext cx="420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github.com/moonboyknm/Pragna1B_Custom_Kernel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659904" y="60579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Mid-Term Review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650379" y="62484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20000"/>
                </a:srgbClr>
              </a:gs>
              <a:gs pos="100000">
                <a:srgbClr val="3FB950">
                  <a:alpha val="20000"/>
                </a:srgbClr>
              </a:gs>
            </a:gsLst>
            <a:lin ang="2700000" scaled="1"/>
          </a:gra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558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Motivation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7561262" cy="2789237"/>
          </a:xfrm>
          <a:custGeom>
            <a:avLst/>
            <a:gdLst/>
            <a:ahLst/>
            <a:cxnLst/>
            <a:rect l="l" t="t" r="r" b="b"/>
            <a:pathLst>
              <a:path w="7561262" h="2789237">
                <a:moveTo>
                  <a:pt x="114303" y="0"/>
                </a:moveTo>
                <a:lnTo>
                  <a:pt x="7446960" y="0"/>
                </a:lnTo>
                <a:cubicBezTo>
                  <a:pt x="7510087" y="0"/>
                  <a:pt x="7561262" y="51175"/>
                  <a:pt x="7561262" y="114303"/>
                </a:cubicBezTo>
                <a:lnTo>
                  <a:pt x="7561262" y="2674935"/>
                </a:lnTo>
                <a:cubicBezTo>
                  <a:pt x="7561262" y="2738062"/>
                  <a:pt x="7510087" y="2789237"/>
                  <a:pt x="7446960" y="2789237"/>
                </a:cubicBezTo>
                <a:lnTo>
                  <a:pt x="114303" y="2789237"/>
                </a:lnTo>
                <a:cubicBezTo>
                  <a:pt x="51175" y="2789237"/>
                  <a:pt x="0" y="2738062"/>
                  <a:pt x="0" y="2674935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437" y="13033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6594" y="140811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1074737" y="1341437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437" y="1798637"/>
            <a:ext cx="724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Language Models (SLMs)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Pragna-1B are specifically designed for edge devices and resource-constrained environments. However,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B72"/>
                </a:solidFill>
                <a:highlight>
                  <a:srgbClr val="FF7B7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PyTorch implementations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suffer from severe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bandwidth inefficiencies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406" y="2659857"/>
            <a:ext cx="7161212" cy="808037"/>
          </a:xfrm>
          <a:custGeom>
            <a:avLst/>
            <a:gdLst/>
            <a:ahLst/>
            <a:cxnLst/>
            <a:rect l="l" t="t" r="r" b="b"/>
            <a:pathLst>
              <a:path w="7161212" h="808037">
                <a:moveTo>
                  <a:pt x="76198" y="0"/>
                </a:moveTo>
                <a:lnTo>
                  <a:pt x="7085015" y="0"/>
                </a:lnTo>
                <a:cubicBezTo>
                  <a:pt x="7127069" y="0"/>
                  <a:pt x="7161212" y="34143"/>
                  <a:pt x="7161212" y="76198"/>
                </a:cubicBezTo>
                <a:lnTo>
                  <a:pt x="7161212" y="731840"/>
                </a:lnTo>
                <a:cubicBezTo>
                  <a:pt x="7161212" y="773894"/>
                  <a:pt x="7127069" y="808037"/>
                  <a:pt x="7085015" y="808037"/>
                </a:cubicBezTo>
                <a:lnTo>
                  <a:pt x="76198" y="808037"/>
                </a:lnTo>
                <a:cubicBezTo>
                  <a:pt x="34143" y="808037"/>
                  <a:pt x="0" y="773894"/>
                  <a:pt x="0" y="731840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725" y="281066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13" name="Text 11"/>
          <p:cNvSpPr/>
          <p:nvPr/>
        </p:nvSpPr>
        <p:spPr>
          <a:xfrm>
            <a:off x="930275" y="2778125"/>
            <a:ext cx="676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Gap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675" y="304482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Utilization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993" y="30448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~45%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675" y="3273425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01675" y="327342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38100" y="0"/>
                </a:moveTo>
                <a:lnTo>
                  <a:pt x="1485900" y="0"/>
                </a:lnTo>
                <a:cubicBezTo>
                  <a:pt x="1506928" y="0"/>
                  <a:pt x="1524000" y="17072"/>
                  <a:pt x="1524000" y="38100"/>
                </a:cubicBezTo>
                <a:lnTo>
                  <a:pt x="1524000" y="38100"/>
                </a:lnTo>
                <a:cubicBezTo>
                  <a:pt x="1524000" y="59128"/>
                  <a:pt x="1506928" y="76200"/>
                  <a:pt x="1485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18" name="Text 16"/>
          <p:cNvSpPr/>
          <p:nvPr/>
        </p:nvSpPr>
        <p:spPr>
          <a:xfrm>
            <a:off x="4241800" y="3044825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Utilization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90118" y="30448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~12%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1800" y="3273425"/>
            <a:ext cx="3390900" cy="76200"/>
          </a:xfrm>
          <a:custGeom>
            <a:avLst/>
            <a:gdLst/>
            <a:ahLst/>
            <a:cxnLst/>
            <a:rect l="l" t="t" r="r" b="b"/>
            <a:pathLst>
              <a:path w="3390900" h="762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8100"/>
                </a:lnTo>
                <a:cubicBezTo>
                  <a:pt x="3390900" y="59128"/>
                  <a:pt x="3373828" y="76200"/>
                  <a:pt x="3352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1" name="Shape 19"/>
          <p:cNvSpPr/>
          <p:nvPr/>
        </p:nvSpPr>
        <p:spPr>
          <a:xfrm>
            <a:off x="4241800" y="3273425"/>
            <a:ext cx="409575" cy="76200"/>
          </a:xfrm>
          <a:custGeom>
            <a:avLst/>
            <a:gdLst/>
            <a:ahLst/>
            <a:cxnLst/>
            <a:rect l="l" t="t" r="r" b="b"/>
            <a:pathLst>
              <a:path w="409575" h="76200">
                <a:moveTo>
                  <a:pt x="38100" y="0"/>
                </a:moveTo>
                <a:lnTo>
                  <a:pt x="371475" y="0"/>
                </a:lnTo>
                <a:cubicBezTo>
                  <a:pt x="392503" y="0"/>
                  <a:pt x="409575" y="17072"/>
                  <a:pt x="409575" y="38100"/>
                </a:cubicBezTo>
                <a:lnTo>
                  <a:pt x="409575" y="38100"/>
                </a:lnTo>
                <a:cubicBezTo>
                  <a:pt x="409575" y="59128"/>
                  <a:pt x="392503" y="76200"/>
                  <a:pt x="371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2" name="Shape 20"/>
          <p:cNvSpPr/>
          <p:nvPr/>
        </p:nvSpPr>
        <p:spPr>
          <a:xfrm>
            <a:off x="8106569" y="1108869"/>
            <a:ext cx="3703637" cy="2789237"/>
          </a:xfrm>
          <a:custGeom>
            <a:avLst/>
            <a:gdLst/>
            <a:ahLst/>
            <a:cxnLst/>
            <a:rect l="l" t="t" r="r" b="b"/>
            <a:pathLst>
              <a:path w="3703637" h="2789237">
                <a:moveTo>
                  <a:pt x="114303" y="0"/>
                </a:moveTo>
                <a:lnTo>
                  <a:pt x="3589335" y="0"/>
                </a:lnTo>
                <a:cubicBezTo>
                  <a:pt x="3652462" y="0"/>
                  <a:pt x="3703637" y="51175"/>
                  <a:pt x="3703637" y="114303"/>
                </a:cubicBezTo>
                <a:lnTo>
                  <a:pt x="3703637" y="2674935"/>
                </a:lnTo>
                <a:cubicBezTo>
                  <a:pt x="3703637" y="2738062"/>
                  <a:pt x="3652462" y="2789237"/>
                  <a:pt x="3589335" y="2789237"/>
                </a:cubicBezTo>
                <a:lnTo>
                  <a:pt x="114303" y="2789237"/>
                </a:lnTo>
                <a:cubicBezTo>
                  <a:pt x="51175" y="2789237"/>
                  <a:pt x="0" y="2738062"/>
                  <a:pt x="0" y="2674935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038" y="130333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08194" y="140811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8796338" y="1341437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Goal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1038" y="1798637"/>
            <a:ext cx="3390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Beat the compiler-generated performance of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OpenAI's Triton language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writing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FB950"/>
                </a:solidFill>
                <a:highlight>
                  <a:srgbClr val="3FB950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hand-tuned C++ CUDA kernels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extract maximum performance from consumer hardware.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05006" y="3155157"/>
            <a:ext cx="3303587" cy="541337"/>
          </a:xfrm>
          <a:custGeom>
            <a:avLst/>
            <a:gdLst/>
            <a:ahLst/>
            <a:cxnLst/>
            <a:rect l="l" t="t" r="r" b="b"/>
            <a:pathLst>
              <a:path w="3303587" h="541337">
                <a:moveTo>
                  <a:pt x="76199" y="0"/>
                </a:moveTo>
                <a:lnTo>
                  <a:pt x="3227389" y="0"/>
                </a:lnTo>
                <a:cubicBezTo>
                  <a:pt x="3269472" y="0"/>
                  <a:pt x="3303587" y="34115"/>
                  <a:pt x="3303587" y="76199"/>
                </a:cubicBezTo>
                <a:lnTo>
                  <a:pt x="3303587" y="465139"/>
                </a:lnTo>
                <a:cubicBezTo>
                  <a:pt x="3303587" y="507222"/>
                  <a:pt x="3269472" y="541337"/>
                  <a:pt x="3227389" y="541337"/>
                </a:cubicBezTo>
                <a:lnTo>
                  <a:pt x="76199" y="541337"/>
                </a:lnTo>
                <a:cubicBezTo>
                  <a:pt x="34143" y="541337"/>
                  <a:pt x="0" y="507194"/>
                  <a:pt x="0" y="465139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3275" y="333057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Speedup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28338" y="3273425"/>
            <a:ext cx="78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1.5-2x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4969" y="4055269"/>
            <a:ext cx="11418887" cy="1274762"/>
          </a:xfrm>
          <a:custGeom>
            <a:avLst/>
            <a:gdLst/>
            <a:ahLst/>
            <a:cxnLst/>
            <a:rect l="l" t="t" r="r" b="b"/>
            <a:pathLst>
              <a:path w="11418887" h="1274762">
                <a:moveTo>
                  <a:pt x="114295" y="0"/>
                </a:moveTo>
                <a:lnTo>
                  <a:pt x="11304592" y="0"/>
                </a:lnTo>
                <a:cubicBezTo>
                  <a:pt x="11367716" y="0"/>
                  <a:pt x="11418887" y="51172"/>
                  <a:pt x="11418887" y="114295"/>
                </a:cubicBezTo>
                <a:lnTo>
                  <a:pt x="11418887" y="1160467"/>
                </a:lnTo>
                <a:cubicBezTo>
                  <a:pt x="11418887" y="1223591"/>
                  <a:pt x="11367716" y="1274762"/>
                  <a:pt x="11304592" y="1274762"/>
                </a:cubicBezTo>
                <a:lnTo>
                  <a:pt x="114295" y="1274762"/>
                </a:lnTo>
                <a:cubicBezTo>
                  <a:pt x="51172" y="1274762"/>
                  <a:pt x="0" y="1223591"/>
                  <a:pt x="0" y="1160467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3406" y="4431030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837" y="45794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1265237" y="4249737"/>
            <a:ext cx="807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Target Hardware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65237" y="4630737"/>
            <a:ext cx="80391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GeForce RTX 2050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8A6FF"/>
                </a:solidFill>
                <a:highlight>
                  <a:srgbClr val="58A6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4GB VRAM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Simulating constrained edge environments where every memory transaction and compute cycle counts.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382284" y="4327842"/>
            <a:ext cx="1055687" cy="731837"/>
          </a:xfrm>
          <a:custGeom>
            <a:avLst/>
            <a:gdLst/>
            <a:ahLst/>
            <a:cxnLst/>
            <a:rect l="l" t="t" r="r" b="b"/>
            <a:pathLst>
              <a:path w="1055687" h="731837">
                <a:moveTo>
                  <a:pt x="76199" y="0"/>
                </a:moveTo>
                <a:lnTo>
                  <a:pt x="979489" y="0"/>
                </a:lnTo>
                <a:cubicBezTo>
                  <a:pt x="1021572" y="0"/>
                  <a:pt x="1055687" y="34115"/>
                  <a:pt x="1055687" y="76199"/>
                </a:cubicBezTo>
                <a:lnTo>
                  <a:pt x="1055687" y="655639"/>
                </a:lnTo>
                <a:cubicBezTo>
                  <a:pt x="1055687" y="697722"/>
                  <a:pt x="1021572" y="731837"/>
                  <a:pt x="979489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7215" y="4446111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CUDA Cores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52928" y="467471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2,048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556557" y="4327842"/>
            <a:ext cx="1055687" cy="731837"/>
          </a:xfrm>
          <a:custGeom>
            <a:avLst/>
            <a:gdLst/>
            <a:ahLst/>
            <a:cxnLst/>
            <a:rect l="l" t="t" r="r" b="b"/>
            <a:pathLst>
              <a:path w="1055687" h="731837">
                <a:moveTo>
                  <a:pt x="76199" y="0"/>
                </a:moveTo>
                <a:lnTo>
                  <a:pt x="979489" y="0"/>
                </a:lnTo>
                <a:cubicBezTo>
                  <a:pt x="1021572" y="0"/>
                  <a:pt x="1055687" y="34115"/>
                  <a:pt x="1055687" y="76199"/>
                </a:cubicBezTo>
                <a:lnTo>
                  <a:pt x="1055687" y="655639"/>
                </a:lnTo>
                <a:cubicBezTo>
                  <a:pt x="1055687" y="697722"/>
                  <a:pt x="1021572" y="731837"/>
                  <a:pt x="979489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41489" y="4446111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BW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27201" y="4674711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112 GB/s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9113" y="552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562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Star of the Show: Pragna-1B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6789737" cy="2046287"/>
          </a:xfrm>
          <a:custGeom>
            <a:avLst/>
            <a:gdLst/>
            <a:ahLst/>
            <a:cxnLst/>
            <a:rect l="l" t="t" r="r" b="b"/>
            <a:pathLst>
              <a:path w="6789737" h="2046287">
                <a:moveTo>
                  <a:pt x="114306" y="0"/>
                </a:moveTo>
                <a:lnTo>
                  <a:pt x="6675432" y="0"/>
                </a:lnTo>
                <a:cubicBezTo>
                  <a:pt x="6738561" y="0"/>
                  <a:pt x="6789737" y="51176"/>
                  <a:pt x="6789737" y="114306"/>
                </a:cubicBezTo>
                <a:lnTo>
                  <a:pt x="6789737" y="1931982"/>
                </a:lnTo>
                <a:cubicBezTo>
                  <a:pt x="6789737" y="1995111"/>
                  <a:pt x="6738561" y="2046287"/>
                  <a:pt x="6675432" y="2046287"/>
                </a:cubicBezTo>
                <a:lnTo>
                  <a:pt x="114306" y="2046287"/>
                </a:lnTo>
                <a:cubicBezTo>
                  <a:pt x="51176" y="2046287"/>
                  <a:pt x="0" y="1995111"/>
                  <a:pt x="0" y="1931982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150" y="13033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79462" y="1265238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is Pragna-1B?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337" y="1646238"/>
            <a:ext cx="655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1.25 billion parameter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decoder-only transformer model specifically optimized for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D2A8FF"/>
                </a:solidFill>
                <a:highlight>
                  <a:srgbClr val="D2A8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languages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including Hindi, Gujarati, Tamil, Telugu, and more.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5306" y="2259807"/>
            <a:ext cx="2074862" cy="731837"/>
          </a:xfrm>
          <a:custGeom>
            <a:avLst/>
            <a:gdLst/>
            <a:ahLst/>
            <a:cxnLst/>
            <a:rect l="l" t="t" r="r" b="b"/>
            <a:pathLst>
              <a:path w="2074862" h="731837">
                <a:moveTo>
                  <a:pt x="76199" y="0"/>
                </a:moveTo>
                <a:lnTo>
                  <a:pt x="1998664" y="0"/>
                </a:lnTo>
                <a:cubicBezTo>
                  <a:pt x="2040747" y="0"/>
                  <a:pt x="2074862" y="34115"/>
                  <a:pt x="2074862" y="76199"/>
                </a:cubicBezTo>
                <a:lnTo>
                  <a:pt x="2074862" y="655639"/>
                </a:lnTo>
                <a:cubicBezTo>
                  <a:pt x="2074862" y="697722"/>
                  <a:pt x="2040747" y="731837"/>
                  <a:pt x="1998664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425" y="2378075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1.25B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238" y="26828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2248" y="2259807"/>
            <a:ext cx="2074862" cy="731837"/>
          </a:xfrm>
          <a:custGeom>
            <a:avLst/>
            <a:gdLst/>
            <a:ahLst/>
            <a:cxnLst/>
            <a:rect l="l" t="t" r="r" b="b"/>
            <a:pathLst>
              <a:path w="2074862" h="731837">
                <a:moveTo>
                  <a:pt x="76199" y="0"/>
                </a:moveTo>
                <a:lnTo>
                  <a:pt x="1998664" y="0"/>
                </a:lnTo>
                <a:cubicBezTo>
                  <a:pt x="2040747" y="0"/>
                  <a:pt x="2074862" y="34115"/>
                  <a:pt x="2074862" y="76199"/>
                </a:cubicBezTo>
                <a:lnTo>
                  <a:pt x="2074862" y="655639"/>
                </a:lnTo>
                <a:cubicBezTo>
                  <a:pt x="2074862" y="697722"/>
                  <a:pt x="2040747" y="731837"/>
                  <a:pt x="1998664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3366" y="2378075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27179" y="26828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9188" y="2259807"/>
            <a:ext cx="2074862" cy="731837"/>
          </a:xfrm>
          <a:custGeom>
            <a:avLst/>
            <a:gdLst/>
            <a:ahLst/>
            <a:cxnLst/>
            <a:rect l="l" t="t" r="r" b="b"/>
            <a:pathLst>
              <a:path w="2074862" h="731837">
                <a:moveTo>
                  <a:pt x="76199" y="0"/>
                </a:moveTo>
                <a:lnTo>
                  <a:pt x="1998664" y="0"/>
                </a:lnTo>
                <a:cubicBezTo>
                  <a:pt x="2040747" y="0"/>
                  <a:pt x="2074862" y="34115"/>
                  <a:pt x="2074862" y="76199"/>
                </a:cubicBezTo>
                <a:lnTo>
                  <a:pt x="2074862" y="655639"/>
                </a:lnTo>
                <a:cubicBezTo>
                  <a:pt x="2074862" y="697722"/>
                  <a:pt x="2040747" y="731837"/>
                  <a:pt x="1998664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0308" y="2378075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2,048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4120" y="26828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Dim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969" y="3274219"/>
            <a:ext cx="6789737" cy="1627187"/>
          </a:xfrm>
          <a:custGeom>
            <a:avLst/>
            <a:gdLst/>
            <a:ahLst/>
            <a:cxnLst/>
            <a:rect l="l" t="t" r="r" b="b"/>
            <a:pathLst>
              <a:path w="6789737" h="1627187">
                <a:moveTo>
                  <a:pt x="114294" y="0"/>
                </a:moveTo>
                <a:lnTo>
                  <a:pt x="6675444" y="0"/>
                </a:lnTo>
                <a:cubicBezTo>
                  <a:pt x="6738566" y="0"/>
                  <a:pt x="6789737" y="51171"/>
                  <a:pt x="6789737" y="114294"/>
                </a:cubicBezTo>
                <a:lnTo>
                  <a:pt x="6789737" y="1512894"/>
                </a:lnTo>
                <a:cubicBezTo>
                  <a:pt x="6789737" y="1576016"/>
                  <a:pt x="6738566" y="1627187"/>
                  <a:pt x="6675444" y="1627187"/>
                </a:cubicBezTo>
                <a:lnTo>
                  <a:pt x="114294" y="1627187"/>
                </a:lnTo>
                <a:cubicBezTo>
                  <a:pt x="51171" y="1627187"/>
                  <a:pt x="0" y="1576016"/>
                  <a:pt x="0" y="1512894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150" y="346868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779462" y="3430587"/>
            <a:ext cx="633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Foundation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37" y="3811587"/>
            <a:ext cx="655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 the proven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TinyLlama/Llama-2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with key optimizations for Indic language tokenization and context understanding.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5306" y="4425156"/>
            <a:ext cx="1141412" cy="312737"/>
          </a:xfrm>
          <a:custGeom>
            <a:avLst/>
            <a:gdLst/>
            <a:ahLst/>
            <a:cxnLst/>
            <a:rect l="l" t="t" r="r" b="b"/>
            <a:pathLst>
              <a:path w="1141412" h="312737">
                <a:moveTo>
                  <a:pt x="76198" y="0"/>
                </a:moveTo>
                <a:lnTo>
                  <a:pt x="1065214" y="0"/>
                </a:lnTo>
                <a:cubicBezTo>
                  <a:pt x="1107297" y="0"/>
                  <a:pt x="1141412" y="34115"/>
                  <a:pt x="1141412" y="76198"/>
                </a:cubicBezTo>
                <a:lnTo>
                  <a:pt x="1141412" y="236539"/>
                </a:lnTo>
                <a:cubicBezTo>
                  <a:pt x="1141412" y="278622"/>
                  <a:pt x="1107297" y="312737"/>
                  <a:pt x="1065214" y="312737"/>
                </a:cubicBezTo>
                <a:lnTo>
                  <a:pt x="76198" y="312737"/>
                </a:lnTo>
                <a:cubicBezTo>
                  <a:pt x="34115" y="312737"/>
                  <a:pt x="0" y="278622"/>
                  <a:pt x="0" y="236539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37" y="4421187"/>
            <a:ext cx="12001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Decoder-Only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807369" y="4425156"/>
            <a:ext cx="1931987" cy="312737"/>
          </a:xfrm>
          <a:custGeom>
            <a:avLst/>
            <a:gdLst/>
            <a:ahLst/>
            <a:cxnLst/>
            <a:rect l="l" t="t" r="r" b="b"/>
            <a:pathLst>
              <a:path w="1931987" h="312737">
                <a:moveTo>
                  <a:pt x="76198" y="0"/>
                </a:moveTo>
                <a:lnTo>
                  <a:pt x="1855789" y="0"/>
                </a:lnTo>
                <a:cubicBezTo>
                  <a:pt x="1897872" y="0"/>
                  <a:pt x="1931987" y="34115"/>
                  <a:pt x="1931987" y="76198"/>
                </a:cubicBezTo>
                <a:lnTo>
                  <a:pt x="1931987" y="236539"/>
                </a:lnTo>
                <a:cubicBezTo>
                  <a:pt x="1931987" y="278622"/>
                  <a:pt x="1897872" y="312737"/>
                  <a:pt x="1855789" y="312737"/>
                </a:cubicBezTo>
                <a:lnTo>
                  <a:pt x="76198" y="312737"/>
                </a:lnTo>
                <a:cubicBezTo>
                  <a:pt x="34115" y="312737"/>
                  <a:pt x="0" y="278622"/>
                  <a:pt x="0" y="236539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03400" y="4421187"/>
            <a:ext cx="199072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Grouped Query Attention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8578" y="4425156"/>
            <a:ext cx="1455737" cy="312737"/>
          </a:xfrm>
          <a:custGeom>
            <a:avLst/>
            <a:gdLst/>
            <a:ahLst/>
            <a:cxnLst/>
            <a:rect l="l" t="t" r="r" b="b"/>
            <a:pathLst>
              <a:path w="1455737" h="312737">
                <a:moveTo>
                  <a:pt x="76198" y="0"/>
                </a:moveTo>
                <a:lnTo>
                  <a:pt x="1379539" y="0"/>
                </a:lnTo>
                <a:cubicBezTo>
                  <a:pt x="1421622" y="0"/>
                  <a:pt x="1455737" y="34115"/>
                  <a:pt x="1455737" y="76198"/>
                </a:cubicBezTo>
                <a:lnTo>
                  <a:pt x="1455737" y="236539"/>
                </a:lnTo>
                <a:cubicBezTo>
                  <a:pt x="1455737" y="278622"/>
                  <a:pt x="1421622" y="312737"/>
                  <a:pt x="1379539" y="312737"/>
                </a:cubicBezTo>
                <a:lnTo>
                  <a:pt x="76198" y="312737"/>
                </a:lnTo>
                <a:cubicBezTo>
                  <a:pt x="34115" y="312737"/>
                  <a:pt x="0" y="278622"/>
                  <a:pt x="0" y="236539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4609" y="4421187"/>
            <a:ext cx="1514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SwiGLU Activation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34409" y="1108869"/>
            <a:ext cx="4475162" cy="2627312"/>
          </a:xfrm>
          <a:custGeom>
            <a:avLst/>
            <a:gdLst/>
            <a:ahLst/>
            <a:cxnLst/>
            <a:rect l="l" t="t" r="r" b="b"/>
            <a:pathLst>
              <a:path w="4475162" h="2627312">
                <a:moveTo>
                  <a:pt x="114288" y="0"/>
                </a:moveTo>
                <a:lnTo>
                  <a:pt x="4360874" y="0"/>
                </a:lnTo>
                <a:cubicBezTo>
                  <a:pt x="4423994" y="0"/>
                  <a:pt x="4475162" y="51169"/>
                  <a:pt x="4475162" y="114288"/>
                </a:cubicBezTo>
                <a:lnTo>
                  <a:pt x="4475162" y="2513024"/>
                </a:lnTo>
                <a:cubicBezTo>
                  <a:pt x="4475162" y="2576144"/>
                  <a:pt x="4423994" y="2627312"/>
                  <a:pt x="4360874" y="2627312"/>
                </a:cubicBezTo>
                <a:lnTo>
                  <a:pt x="114288" y="2627312"/>
                </a:lnTo>
                <a:cubicBezTo>
                  <a:pt x="51169" y="2627312"/>
                  <a:pt x="0" y="2576144"/>
                  <a:pt x="0" y="2513024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0778" y="13033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28903" y="1265238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4746" y="1650207"/>
            <a:ext cx="4151312" cy="998537"/>
          </a:xfrm>
          <a:custGeom>
            <a:avLst/>
            <a:gdLst/>
            <a:ahLst/>
            <a:cxnLst/>
            <a:rect l="l" t="t" r="r" b="b"/>
            <a:pathLst>
              <a:path w="4151312" h="998537">
                <a:moveTo>
                  <a:pt x="76198" y="0"/>
                </a:moveTo>
                <a:lnTo>
                  <a:pt x="4075114" y="0"/>
                </a:lnTo>
                <a:cubicBezTo>
                  <a:pt x="4117197" y="0"/>
                  <a:pt x="4151312" y="34115"/>
                  <a:pt x="4151312" y="76198"/>
                </a:cubicBezTo>
                <a:lnTo>
                  <a:pt x="4151312" y="922339"/>
                </a:lnTo>
                <a:cubicBezTo>
                  <a:pt x="4151312" y="964422"/>
                  <a:pt x="4117197" y="998537"/>
                  <a:pt x="4075114" y="998537"/>
                </a:cubicBezTo>
                <a:lnTo>
                  <a:pt x="76198" y="998537"/>
                </a:lnTo>
                <a:cubicBezTo>
                  <a:pt x="34115" y="998537"/>
                  <a:pt x="0" y="964422"/>
                  <a:pt x="0" y="922339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3015" y="17684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01121" y="1854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42" y="50006"/>
                </a:moveTo>
                <a:lnTo>
                  <a:pt x="127099" y="50006"/>
                </a:lnTo>
                <a:cubicBezTo>
                  <a:pt x="130563" y="50006"/>
                  <a:pt x="133350" y="47219"/>
                  <a:pt x="133350" y="43755"/>
                </a:cubicBezTo>
                <a:lnTo>
                  <a:pt x="133350" y="6251"/>
                </a:lnTo>
                <a:cubicBezTo>
                  <a:pt x="133350" y="3724"/>
                  <a:pt x="131839" y="1432"/>
                  <a:pt x="129495" y="469"/>
                </a:cubicBezTo>
                <a:cubicBezTo>
                  <a:pt x="127151" y="-495"/>
                  <a:pt x="124469" y="52"/>
                  <a:pt x="122672" y="1823"/>
                </a:cubicBezTo>
                <a:lnTo>
                  <a:pt x="109206" y="15314"/>
                </a:lnTo>
                <a:cubicBezTo>
                  <a:pt x="97668" y="5756"/>
                  <a:pt x="82823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ubicBezTo>
                  <a:pt x="20628" y="35291"/>
                  <a:pt x="41490" y="16669"/>
                  <a:pt x="66675" y="16669"/>
                </a:cubicBezTo>
                <a:cubicBezTo>
                  <a:pt x="78239" y="16669"/>
                  <a:pt x="88865" y="20575"/>
                  <a:pt x="97330" y="27165"/>
                </a:cubicBezTo>
                <a:lnTo>
                  <a:pt x="85167" y="39328"/>
                </a:lnTo>
                <a:cubicBezTo>
                  <a:pt x="83370" y="41125"/>
                  <a:pt x="82849" y="43808"/>
                  <a:pt x="83813" y="46152"/>
                </a:cubicBezTo>
                <a:cubicBezTo>
                  <a:pt x="84776" y="48496"/>
                  <a:pt x="87068" y="50006"/>
                  <a:pt x="89595" y="50006"/>
                </a:cubicBezTo>
                <a:lnTo>
                  <a:pt x="125042" y="50006"/>
                </a:lnTo>
                <a:close/>
                <a:moveTo>
                  <a:pt x="132699" y="76181"/>
                </a:moveTo>
                <a:cubicBezTo>
                  <a:pt x="133350" y="71624"/>
                  <a:pt x="130173" y="67404"/>
                  <a:pt x="125641" y="66753"/>
                </a:cubicBezTo>
                <a:cubicBezTo>
                  <a:pt x="121109" y="66102"/>
                  <a:pt x="116864" y="69279"/>
                  <a:pt x="116212" y="73811"/>
                </a:cubicBezTo>
                <a:cubicBezTo>
                  <a:pt x="112748" y="98033"/>
                  <a:pt x="91886" y="116655"/>
                  <a:pt x="66701" y="116655"/>
                </a:cubicBezTo>
                <a:cubicBezTo>
                  <a:pt x="55137" y="116655"/>
                  <a:pt x="44511" y="112748"/>
                  <a:pt x="36046" y="106159"/>
                </a:cubicBezTo>
                <a:lnTo>
                  <a:pt x="48183" y="94022"/>
                </a:lnTo>
                <a:cubicBezTo>
                  <a:pt x="49980" y="92225"/>
                  <a:pt x="50501" y="89542"/>
                  <a:pt x="49537" y="87198"/>
                </a:cubicBezTo>
                <a:cubicBezTo>
                  <a:pt x="48574" y="84854"/>
                  <a:pt x="46282" y="83344"/>
                  <a:pt x="43755" y="83344"/>
                </a:cubicBezTo>
                <a:lnTo>
                  <a:pt x="6251" y="83344"/>
                </a:lnTo>
                <a:cubicBezTo>
                  <a:pt x="2787" y="83344"/>
                  <a:pt x="0" y="86131"/>
                  <a:pt x="0" y="89595"/>
                </a:cubicBezTo>
                <a:lnTo>
                  <a:pt x="0" y="127099"/>
                </a:lnTo>
                <a:cubicBezTo>
                  <a:pt x="0" y="129626"/>
                  <a:pt x="1511" y="131918"/>
                  <a:pt x="3855" y="132881"/>
                </a:cubicBezTo>
                <a:cubicBezTo>
                  <a:pt x="6199" y="133845"/>
                  <a:pt x="8881" y="133298"/>
                  <a:pt x="10678" y="131527"/>
                </a:cubicBezTo>
                <a:lnTo>
                  <a:pt x="24170" y="118036"/>
                </a:lnTo>
                <a:cubicBezTo>
                  <a:pt x="35682" y="127594"/>
                  <a:pt x="50527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5" name="Text 33"/>
          <p:cNvSpPr/>
          <p:nvPr/>
        </p:nvSpPr>
        <p:spPr>
          <a:xfrm>
            <a:off x="7994015" y="1806575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13015" y="2149475"/>
            <a:ext cx="398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Rotary Positional Embeddings for better long-context modeling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4746" y="2770981"/>
            <a:ext cx="4151312" cy="808037"/>
          </a:xfrm>
          <a:custGeom>
            <a:avLst/>
            <a:gdLst/>
            <a:ahLst/>
            <a:cxnLst/>
            <a:rect l="l" t="t" r="r" b="b"/>
            <a:pathLst>
              <a:path w="4151312" h="808037">
                <a:moveTo>
                  <a:pt x="76198" y="0"/>
                </a:moveTo>
                <a:lnTo>
                  <a:pt x="4075115" y="0"/>
                </a:lnTo>
                <a:cubicBezTo>
                  <a:pt x="4117169" y="0"/>
                  <a:pt x="4151312" y="34143"/>
                  <a:pt x="4151312" y="76198"/>
                </a:cubicBezTo>
                <a:lnTo>
                  <a:pt x="4151312" y="731840"/>
                </a:lnTo>
                <a:cubicBezTo>
                  <a:pt x="4151312" y="773894"/>
                  <a:pt x="4117169" y="808037"/>
                  <a:pt x="4075115" y="808037"/>
                </a:cubicBezTo>
                <a:lnTo>
                  <a:pt x="76198" y="808037"/>
                </a:lnTo>
                <a:cubicBezTo>
                  <a:pt x="34143" y="808037"/>
                  <a:pt x="0" y="773894"/>
                  <a:pt x="0" y="731840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13015" y="2889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701121" y="2974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25003"/>
                </a:moveTo>
                <a:cubicBezTo>
                  <a:pt x="16669" y="20393"/>
                  <a:pt x="20393" y="16669"/>
                  <a:pt x="25003" y="16669"/>
                </a:cubicBezTo>
                <a:lnTo>
                  <a:pt x="66675" y="16669"/>
                </a:lnTo>
                <a:cubicBezTo>
                  <a:pt x="71285" y="16669"/>
                  <a:pt x="75009" y="20393"/>
                  <a:pt x="75009" y="25003"/>
                </a:cubicBezTo>
                <a:lnTo>
                  <a:pt x="75009" y="100013"/>
                </a:lnTo>
                <a:lnTo>
                  <a:pt x="100013" y="100013"/>
                </a:lnTo>
                <a:lnTo>
                  <a:pt x="100013" y="66675"/>
                </a:lnTo>
                <a:cubicBezTo>
                  <a:pt x="100013" y="62065"/>
                  <a:pt x="103737" y="58341"/>
                  <a:pt x="108347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116681" y="75009"/>
                </a:lnTo>
                <a:lnTo>
                  <a:pt x="116681" y="108347"/>
                </a:lnTo>
                <a:cubicBezTo>
                  <a:pt x="116681" y="112957"/>
                  <a:pt x="112957" y="116681"/>
                  <a:pt x="108347" y="116681"/>
                </a:cubicBezTo>
                <a:lnTo>
                  <a:pt x="66675" y="116681"/>
                </a:lnTo>
                <a:cubicBezTo>
                  <a:pt x="62065" y="116681"/>
                  <a:pt x="58341" y="112957"/>
                  <a:pt x="58341" y="108347"/>
                </a:cubicBezTo>
                <a:lnTo>
                  <a:pt x="58341" y="33337"/>
                </a:lnTo>
                <a:lnTo>
                  <a:pt x="33337" y="33337"/>
                </a:lnTo>
                <a:lnTo>
                  <a:pt x="33337" y="66675"/>
                </a:lnTo>
                <a:cubicBezTo>
                  <a:pt x="33337" y="71285"/>
                  <a:pt x="29613" y="75009"/>
                  <a:pt x="25003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ubicBezTo>
                  <a:pt x="0" y="62065"/>
                  <a:pt x="3724" y="58341"/>
                  <a:pt x="8334" y="58341"/>
                </a:cubicBezTo>
                <a:lnTo>
                  <a:pt x="16669" y="58341"/>
                </a:lnTo>
                <a:lnTo>
                  <a:pt x="16669" y="25003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7994015" y="29273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RMSNorm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13015" y="3270250"/>
            <a:ext cx="398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Normalization (our optimization target)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34409" y="3861594"/>
            <a:ext cx="4475162" cy="2122487"/>
          </a:xfrm>
          <a:custGeom>
            <a:avLst/>
            <a:gdLst/>
            <a:ahLst/>
            <a:cxnLst/>
            <a:rect l="l" t="t" r="r" b="b"/>
            <a:pathLst>
              <a:path w="4475162" h="2122487">
                <a:moveTo>
                  <a:pt x="114296" y="0"/>
                </a:moveTo>
                <a:lnTo>
                  <a:pt x="4360867" y="0"/>
                </a:lnTo>
                <a:cubicBezTo>
                  <a:pt x="4423990" y="0"/>
                  <a:pt x="4475162" y="51172"/>
                  <a:pt x="4475162" y="114296"/>
                </a:cubicBezTo>
                <a:lnTo>
                  <a:pt x="4475162" y="2008192"/>
                </a:lnTo>
                <a:cubicBezTo>
                  <a:pt x="4475162" y="2071315"/>
                  <a:pt x="4423990" y="2122487"/>
                  <a:pt x="4360867" y="2122487"/>
                </a:cubicBezTo>
                <a:lnTo>
                  <a:pt x="114296" y="2122487"/>
                </a:lnTo>
                <a:cubicBezTo>
                  <a:pt x="51172" y="2122487"/>
                  <a:pt x="0" y="2071315"/>
                  <a:pt x="0" y="2008192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4590" y="4056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4" name="Text 42"/>
          <p:cNvSpPr/>
          <p:nvPr/>
        </p:nvSpPr>
        <p:spPr>
          <a:xfrm>
            <a:off x="7728903" y="4017963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Optimize It?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90778" y="4398963"/>
            <a:ext cx="4238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size for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running locally on laptops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cloud API dependencies — enabling true edge AI deployment for Indic languages.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09828" y="52847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7" name="Text 45"/>
          <p:cNvSpPr/>
          <p:nvPr/>
        </p:nvSpPr>
        <p:spPr>
          <a:xfrm>
            <a:off x="7733665" y="525621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Privacy-preserving inference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09828" y="54752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9" name="Text 47"/>
          <p:cNvSpPr/>
          <p:nvPr/>
        </p:nvSpPr>
        <p:spPr>
          <a:xfrm>
            <a:off x="7733665" y="5446712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network latency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09828" y="56657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1" name="Text 49"/>
          <p:cNvSpPr/>
          <p:nvPr/>
        </p:nvSpPr>
        <p:spPr>
          <a:xfrm>
            <a:off x="7733665" y="5637212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 consumption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092" y="384208"/>
            <a:ext cx="496678" cy="496678"/>
          </a:xfrm>
          <a:custGeom>
            <a:avLst/>
            <a:gdLst/>
            <a:ahLst/>
            <a:cxnLst/>
            <a:rect l="l" t="t" r="r" b="b"/>
            <a:pathLst>
              <a:path w="496678" h="496678">
                <a:moveTo>
                  <a:pt x="108693" y="0"/>
                </a:moveTo>
                <a:lnTo>
                  <a:pt x="387985" y="0"/>
                </a:lnTo>
                <a:cubicBezTo>
                  <a:pt x="447974" y="0"/>
                  <a:pt x="496678" y="48704"/>
                  <a:pt x="496678" y="108693"/>
                </a:cubicBezTo>
                <a:lnTo>
                  <a:pt x="496678" y="387985"/>
                </a:lnTo>
                <a:cubicBezTo>
                  <a:pt x="496678" y="447974"/>
                  <a:pt x="447974" y="496678"/>
                  <a:pt x="387985" y="496678"/>
                </a:cubicBezTo>
                <a:lnTo>
                  <a:pt x="108693" y="496678"/>
                </a:lnTo>
                <a:cubicBezTo>
                  <a:pt x="48704" y="496678"/>
                  <a:pt x="0" y="447974"/>
                  <a:pt x="0" y="387985"/>
                </a:cubicBezTo>
                <a:lnTo>
                  <a:pt x="0" y="108693"/>
                </a:lnTo>
                <a:cubicBezTo>
                  <a:pt x="0" y="48704"/>
                  <a:pt x="48704" y="0"/>
                  <a:pt x="108693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20000"/>
                </a:srgbClr>
              </a:gs>
              <a:gs pos="100000">
                <a:srgbClr val="3FB950">
                  <a:alpha val="20000"/>
                </a:srgbClr>
              </a:gs>
            </a:gsLst>
            <a:lin ang="2700000" scaled="1"/>
          </a:gra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7245" y="525361"/>
            <a:ext cx="217391" cy="217391"/>
          </a:xfrm>
          <a:custGeom>
            <a:avLst/>
            <a:gdLst/>
            <a:ahLst/>
            <a:cxnLst/>
            <a:rect l="l" t="t" r="r" b="b"/>
            <a:pathLst>
              <a:path w="217391" h="217391">
                <a:moveTo>
                  <a:pt x="98717" y="2208"/>
                </a:moveTo>
                <a:cubicBezTo>
                  <a:pt x="105044" y="-722"/>
                  <a:pt x="112347" y="-722"/>
                  <a:pt x="118673" y="2208"/>
                </a:cubicBezTo>
                <a:lnTo>
                  <a:pt x="211489" y="45092"/>
                </a:lnTo>
                <a:cubicBezTo>
                  <a:pt x="215098" y="46748"/>
                  <a:pt x="217391" y="50357"/>
                  <a:pt x="217391" y="54348"/>
                </a:cubicBezTo>
                <a:cubicBezTo>
                  <a:pt x="217391" y="58339"/>
                  <a:pt x="215098" y="61948"/>
                  <a:pt x="211489" y="63604"/>
                </a:cubicBezTo>
                <a:lnTo>
                  <a:pt x="118673" y="106488"/>
                </a:lnTo>
                <a:cubicBezTo>
                  <a:pt x="112347" y="109417"/>
                  <a:pt x="105044" y="109417"/>
                  <a:pt x="98717" y="106488"/>
                </a:cubicBezTo>
                <a:lnTo>
                  <a:pt x="5902" y="63604"/>
                </a:lnTo>
                <a:cubicBezTo>
                  <a:pt x="2293" y="61905"/>
                  <a:pt x="0" y="58296"/>
                  <a:pt x="0" y="54348"/>
                </a:cubicBezTo>
                <a:cubicBezTo>
                  <a:pt x="0" y="50399"/>
                  <a:pt x="2293" y="46748"/>
                  <a:pt x="5902" y="45092"/>
                </a:cubicBezTo>
                <a:lnTo>
                  <a:pt x="98717" y="2208"/>
                </a:lnTo>
                <a:close/>
                <a:moveTo>
                  <a:pt x="20423" y="92731"/>
                </a:moveTo>
                <a:lnTo>
                  <a:pt x="90183" y="124957"/>
                </a:lnTo>
                <a:cubicBezTo>
                  <a:pt x="101944" y="130392"/>
                  <a:pt x="115489" y="130392"/>
                  <a:pt x="127250" y="124957"/>
                </a:cubicBezTo>
                <a:lnTo>
                  <a:pt x="197010" y="92731"/>
                </a:lnTo>
                <a:lnTo>
                  <a:pt x="211489" y="99439"/>
                </a:lnTo>
                <a:cubicBezTo>
                  <a:pt x="215098" y="101095"/>
                  <a:pt x="217391" y="104704"/>
                  <a:pt x="217391" y="108695"/>
                </a:cubicBezTo>
                <a:cubicBezTo>
                  <a:pt x="217391" y="112687"/>
                  <a:pt x="215098" y="116296"/>
                  <a:pt x="211489" y="117951"/>
                </a:cubicBezTo>
                <a:lnTo>
                  <a:pt x="118673" y="160835"/>
                </a:lnTo>
                <a:cubicBezTo>
                  <a:pt x="112347" y="163765"/>
                  <a:pt x="105044" y="163765"/>
                  <a:pt x="98717" y="160835"/>
                </a:cubicBezTo>
                <a:lnTo>
                  <a:pt x="5902" y="117951"/>
                </a:lnTo>
                <a:cubicBezTo>
                  <a:pt x="2293" y="116253"/>
                  <a:pt x="0" y="112644"/>
                  <a:pt x="0" y="108695"/>
                </a:cubicBezTo>
                <a:cubicBezTo>
                  <a:pt x="0" y="104747"/>
                  <a:pt x="2293" y="101095"/>
                  <a:pt x="5902" y="99439"/>
                </a:cubicBezTo>
                <a:lnTo>
                  <a:pt x="20380" y="92731"/>
                </a:lnTo>
                <a:close/>
                <a:moveTo>
                  <a:pt x="5902" y="153787"/>
                </a:moveTo>
                <a:lnTo>
                  <a:pt x="20380" y="147078"/>
                </a:lnTo>
                <a:lnTo>
                  <a:pt x="90141" y="179305"/>
                </a:lnTo>
                <a:cubicBezTo>
                  <a:pt x="101902" y="184740"/>
                  <a:pt x="115446" y="184740"/>
                  <a:pt x="127208" y="179305"/>
                </a:cubicBezTo>
                <a:lnTo>
                  <a:pt x="196968" y="147078"/>
                </a:lnTo>
                <a:lnTo>
                  <a:pt x="211447" y="153787"/>
                </a:lnTo>
                <a:cubicBezTo>
                  <a:pt x="215056" y="155443"/>
                  <a:pt x="217348" y="159052"/>
                  <a:pt x="217348" y="163043"/>
                </a:cubicBezTo>
                <a:cubicBezTo>
                  <a:pt x="217348" y="167034"/>
                  <a:pt x="215056" y="170643"/>
                  <a:pt x="211447" y="172299"/>
                </a:cubicBezTo>
                <a:lnTo>
                  <a:pt x="118631" y="215183"/>
                </a:lnTo>
                <a:cubicBezTo>
                  <a:pt x="112304" y="218113"/>
                  <a:pt x="105001" y="218113"/>
                  <a:pt x="98675" y="215183"/>
                </a:cubicBezTo>
                <a:lnTo>
                  <a:pt x="5902" y="172299"/>
                </a:lnTo>
                <a:cubicBezTo>
                  <a:pt x="2293" y="170601"/>
                  <a:pt x="0" y="166992"/>
                  <a:pt x="0" y="163043"/>
                </a:cubicBezTo>
                <a:cubicBezTo>
                  <a:pt x="0" y="159094"/>
                  <a:pt x="2293" y="155443"/>
                  <a:pt x="5902" y="15378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1014490" y="362318"/>
            <a:ext cx="3586948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b="1" spc="50" kern="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4490" y="543477"/>
            <a:ext cx="3686585" cy="362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8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6092" y="1054496"/>
            <a:ext cx="5650651" cy="2561890"/>
          </a:xfrm>
          <a:custGeom>
            <a:avLst/>
            <a:gdLst/>
            <a:ahLst/>
            <a:cxnLst/>
            <a:rect l="l" t="t" r="r" b="b"/>
            <a:pathLst>
              <a:path w="5650651" h="2561890">
                <a:moveTo>
                  <a:pt x="108701" y="0"/>
                </a:moveTo>
                <a:lnTo>
                  <a:pt x="5541950" y="0"/>
                </a:lnTo>
                <a:cubicBezTo>
                  <a:pt x="5601984" y="0"/>
                  <a:pt x="5650651" y="48667"/>
                  <a:pt x="5650651" y="108701"/>
                </a:cubicBezTo>
                <a:lnTo>
                  <a:pt x="5650651" y="2453189"/>
                </a:lnTo>
                <a:cubicBezTo>
                  <a:pt x="5650651" y="2513223"/>
                  <a:pt x="5601984" y="2561890"/>
                  <a:pt x="5541950" y="2561890"/>
                </a:cubicBezTo>
                <a:lnTo>
                  <a:pt x="108701" y="2561890"/>
                </a:lnTo>
                <a:cubicBezTo>
                  <a:pt x="48667" y="2561890"/>
                  <a:pt x="0" y="2513223"/>
                  <a:pt x="0" y="2453189"/>
                </a:cubicBezTo>
                <a:lnTo>
                  <a:pt x="0" y="108701"/>
                </a:lnTo>
                <a:cubicBezTo>
                  <a:pt x="0" y="48667"/>
                  <a:pt x="48667" y="0"/>
                  <a:pt x="1087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568" y="1225087"/>
            <a:ext cx="424214" cy="424214"/>
          </a:xfrm>
          <a:custGeom>
            <a:avLst/>
            <a:gdLst/>
            <a:ahLst/>
            <a:cxnLst/>
            <a:rect l="l" t="t" r="r" b="b"/>
            <a:pathLst>
              <a:path w="424214" h="424214">
                <a:moveTo>
                  <a:pt x="108696" y="0"/>
                </a:moveTo>
                <a:lnTo>
                  <a:pt x="315518" y="0"/>
                </a:lnTo>
                <a:cubicBezTo>
                  <a:pt x="375549" y="0"/>
                  <a:pt x="424214" y="48665"/>
                  <a:pt x="424214" y="108696"/>
                </a:cubicBezTo>
                <a:lnTo>
                  <a:pt x="424214" y="315518"/>
                </a:lnTo>
                <a:cubicBezTo>
                  <a:pt x="424214" y="375549"/>
                  <a:pt x="375549" y="424214"/>
                  <a:pt x="315518" y="424214"/>
                </a:cubicBezTo>
                <a:lnTo>
                  <a:pt x="108696" y="424214"/>
                </a:lnTo>
                <a:cubicBezTo>
                  <a:pt x="48665" y="424214"/>
                  <a:pt x="0" y="375549"/>
                  <a:pt x="0" y="315518"/>
                </a:cubicBezTo>
                <a:lnTo>
                  <a:pt x="0" y="108696"/>
                </a:lnTo>
                <a:cubicBezTo>
                  <a:pt x="0" y="48705"/>
                  <a:pt x="48705" y="0"/>
                  <a:pt x="108696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2927" y="1348124"/>
            <a:ext cx="158514" cy="181159"/>
          </a:xfrm>
          <a:custGeom>
            <a:avLst/>
            <a:gdLst/>
            <a:ahLst/>
            <a:cxnLst/>
            <a:rect l="l" t="t" r="r" b="b"/>
            <a:pathLst>
              <a:path w="158514" h="181159">
                <a:moveTo>
                  <a:pt x="119876" y="-3503"/>
                </a:moveTo>
                <a:cubicBezTo>
                  <a:pt x="124087" y="-460"/>
                  <a:pt x="125644" y="5060"/>
                  <a:pt x="123733" y="9872"/>
                </a:cubicBezTo>
                <a:lnTo>
                  <a:pt x="95993" y="79257"/>
                </a:lnTo>
                <a:lnTo>
                  <a:pt x="147192" y="79257"/>
                </a:lnTo>
                <a:cubicBezTo>
                  <a:pt x="151968" y="79257"/>
                  <a:pt x="156214" y="82229"/>
                  <a:pt x="157842" y="86723"/>
                </a:cubicBezTo>
                <a:cubicBezTo>
                  <a:pt x="159469" y="91216"/>
                  <a:pt x="158090" y="96241"/>
                  <a:pt x="154445" y="99284"/>
                </a:cubicBezTo>
                <a:lnTo>
                  <a:pt x="52543" y="184202"/>
                </a:lnTo>
                <a:cubicBezTo>
                  <a:pt x="48545" y="187528"/>
                  <a:pt x="42848" y="187705"/>
                  <a:pt x="38638" y="184662"/>
                </a:cubicBezTo>
                <a:cubicBezTo>
                  <a:pt x="34427" y="181619"/>
                  <a:pt x="32870" y="176099"/>
                  <a:pt x="34781" y="171287"/>
                </a:cubicBezTo>
                <a:lnTo>
                  <a:pt x="62521" y="101902"/>
                </a:lnTo>
                <a:lnTo>
                  <a:pt x="11322" y="101902"/>
                </a:lnTo>
                <a:cubicBezTo>
                  <a:pt x="6546" y="101902"/>
                  <a:pt x="2300" y="98930"/>
                  <a:pt x="672" y="94436"/>
                </a:cubicBezTo>
                <a:cubicBezTo>
                  <a:pt x="-955" y="89943"/>
                  <a:pt x="425" y="84918"/>
                  <a:pt x="4069" y="81875"/>
                </a:cubicBezTo>
                <a:lnTo>
                  <a:pt x="105971" y="-3043"/>
                </a:lnTo>
                <a:cubicBezTo>
                  <a:pt x="109969" y="-6369"/>
                  <a:pt x="115666" y="-6546"/>
                  <a:pt x="119876" y="-350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058270" y="1203197"/>
            <a:ext cx="1983691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Triton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8270" y="1493051"/>
            <a:ext cx="1938401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OpenAI's GPU Kernel Language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793" y="1782906"/>
            <a:ext cx="5425712" cy="47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GPU kernels in </a:t>
            </a:r>
            <a:pPr>
              <a:lnSpc>
                <a:spcPct val="140000"/>
              </a:lnSpc>
            </a:pPr>
            <a:r>
              <a:rPr lang="en-US" sz="114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automated memory coalescing, tiling, and scheduling optimizations.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8568" y="2366389"/>
            <a:ext cx="5351738" cy="1094502"/>
          </a:xfrm>
          <a:custGeom>
            <a:avLst/>
            <a:gdLst/>
            <a:ahLst/>
            <a:cxnLst/>
            <a:rect l="l" t="t" r="r" b="b"/>
            <a:pathLst>
              <a:path w="5351738" h="1094502">
                <a:moveTo>
                  <a:pt x="72467" y="0"/>
                </a:moveTo>
                <a:lnTo>
                  <a:pt x="5279271" y="0"/>
                </a:lnTo>
                <a:cubicBezTo>
                  <a:pt x="5319294" y="0"/>
                  <a:pt x="5351738" y="32445"/>
                  <a:pt x="5351738" y="72467"/>
                </a:cubicBezTo>
                <a:lnTo>
                  <a:pt x="5351738" y="1022035"/>
                </a:lnTo>
                <a:cubicBezTo>
                  <a:pt x="5351738" y="1062058"/>
                  <a:pt x="5319294" y="1094502"/>
                  <a:pt x="5279271" y="1094502"/>
                </a:cubicBezTo>
                <a:lnTo>
                  <a:pt x="72467" y="1094502"/>
                </a:lnTo>
                <a:cubicBezTo>
                  <a:pt x="32445" y="1094502"/>
                  <a:pt x="0" y="1062058"/>
                  <a:pt x="0" y="1022035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153" y="2509806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63406" y="126811"/>
                </a:moveTo>
                <a:cubicBezTo>
                  <a:pt x="98400" y="126811"/>
                  <a:pt x="126811" y="98400"/>
                  <a:pt x="126811" y="63406"/>
                </a:cubicBezTo>
                <a:cubicBezTo>
                  <a:pt x="126811" y="28411"/>
                  <a:pt x="98400" y="0"/>
                  <a:pt x="63406" y="0"/>
                </a:cubicBezTo>
                <a:cubicBezTo>
                  <a:pt x="28411" y="0"/>
                  <a:pt x="0" y="28411"/>
                  <a:pt x="0" y="63406"/>
                </a:cubicBezTo>
                <a:cubicBezTo>
                  <a:pt x="0" y="98400"/>
                  <a:pt x="28411" y="126811"/>
                  <a:pt x="63406" y="126811"/>
                </a:cubicBezTo>
                <a:close/>
                <a:moveTo>
                  <a:pt x="84310" y="52681"/>
                </a:moveTo>
                <a:lnTo>
                  <a:pt x="64495" y="84384"/>
                </a:lnTo>
                <a:cubicBezTo>
                  <a:pt x="63455" y="86043"/>
                  <a:pt x="61672" y="87084"/>
                  <a:pt x="59715" y="87183"/>
                </a:cubicBezTo>
                <a:cubicBezTo>
                  <a:pt x="57759" y="87282"/>
                  <a:pt x="55876" y="86390"/>
                  <a:pt x="54712" y="84805"/>
                </a:cubicBezTo>
                <a:lnTo>
                  <a:pt x="42824" y="68954"/>
                </a:lnTo>
                <a:cubicBezTo>
                  <a:pt x="40842" y="66328"/>
                  <a:pt x="41387" y="62613"/>
                  <a:pt x="44012" y="60632"/>
                </a:cubicBezTo>
                <a:cubicBezTo>
                  <a:pt x="46638" y="58650"/>
                  <a:pt x="50353" y="59195"/>
                  <a:pt x="52334" y="61821"/>
                </a:cubicBezTo>
                <a:lnTo>
                  <a:pt x="59022" y="70737"/>
                </a:lnTo>
                <a:lnTo>
                  <a:pt x="74229" y="46390"/>
                </a:lnTo>
                <a:cubicBezTo>
                  <a:pt x="75963" y="43616"/>
                  <a:pt x="79629" y="42749"/>
                  <a:pt x="82427" y="44508"/>
                </a:cubicBezTo>
                <a:cubicBezTo>
                  <a:pt x="85226" y="46266"/>
                  <a:pt x="86068" y="49907"/>
                  <a:pt x="84310" y="52706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845763" y="2478860"/>
            <a:ext cx="497547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1037" y="2732482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JIT compilation for target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1037" y="2949873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Automatic memory coalescing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1037" y="3167264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Tile-based programming model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1332" y="1054496"/>
            <a:ext cx="5650651" cy="2561890"/>
          </a:xfrm>
          <a:custGeom>
            <a:avLst/>
            <a:gdLst/>
            <a:ahLst/>
            <a:cxnLst/>
            <a:rect l="l" t="t" r="r" b="b"/>
            <a:pathLst>
              <a:path w="5650651" h="2561890">
                <a:moveTo>
                  <a:pt x="108701" y="0"/>
                </a:moveTo>
                <a:lnTo>
                  <a:pt x="5541950" y="0"/>
                </a:lnTo>
                <a:cubicBezTo>
                  <a:pt x="5601984" y="0"/>
                  <a:pt x="5650651" y="48667"/>
                  <a:pt x="5650651" y="108701"/>
                </a:cubicBezTo>
                <a:lnTo>
                  <a:pt x="5650651" y="2453189"/>
                </a:lnTo>
                <a:cubicBezTo>
                  <a:pt x="5650651" y="2513223"/>
                  <a:pt x="5601984" y="2561890"/>
                  <a:pt x="5541950" y="2561890"/>
                </a:cubicBezTo>
                <a:lnTo>
                  <a:pt x="108701" y="2561890"/>
                </a:lnTo>
                <a:cubicBezTo>
                  <a:pt x="48667" y="2561890"/>
                  <a:pt x="0" y="2513223"/>
                  <a:pt x="0" y="2453189"/>
                </a:cubicBezTo>
                <a:lnTo>
                  <a:pt x="0" y="108701"/>
                </a:lnTo>
                <a:cubicBezTo>
                  <a:pt x="0" y="48667"/>
                  <a:pt x="48667" y="0"/>
                  <a:pt x="1087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3807" y="1225087"/>
            <a:ext cx="424214" cy="424214"/>
          </a:xfrm>
          <a:custGeom>
            <a:avLst/>
            <a:gdLst/>
            <a:ahLst/>
            <a:cxnLst/>
            <a:rect l="l" t="t" r="r" b="b"/>
            <a:pathLst>
              <a:path w="424214" h="424214">
                <a:moveTo>
                  <a:pt x="108696" y="0"/>
                </a:moveTo>
                <a:lnTo>
                  <a:pt x="315518" y="0"/>
                </a:lnTo>
                <a:cubicBezTo>
                  <a:pt x="375549" y="0"/>
                  <a:pt x="424214" y="48665"/>
                  <a:pt x="424214" y="108696"/>
                </a:cubicBezTo>
                <a:lnTo>
                  <a:pt x="424214" y="315518"/>
                </a:lnTo>
                <a:cubicBezTo>
                  <a:pt x="424214" y="375549"/>
                  <a:pt x="375549" y="424214"/>
                  <a:pt x="315518" y="424214"/>
                </a:cubicBezTo>
                <a:lnTo>
                  <a:pt x="108696" y="424214"/>
                </a:lnTo>
                <a:cubicBezTo>
                  <a:pt x="48665" y="424214"/>
                  <a:pt x="0" y="375549"/>
                  <a:pt x="0" y="315518"/>
                </a:cubicBezTo>
                <a:lnTo>
                  <a:pt x="0" y="108696"/>
                </a:lnTo>
                <a:cubicBezTo>
                  <a:pt x="0" y="48705"/>
                  <a:pt x="48705" y="0"/>
                  <a:pt x="108696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845" y="1348124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62273" y="8492"/>
                </a:moveTo>
                <a:cubicBezTo>
                  <a:pt x="62273" y="3786"/>
                  <a:pt x="58487" y="0"/>
                  <a:pt x="53782" y="0"/>
                </a:cubicBezTo>
                <a:cubicBezTo>
                  <a:pt x="49076" y="0"/>
                  <a:pt x="45290" y="3786"/>
                  <a:pt x="45290" y="8492"/>
                </a:cubicBezTo>
                <a:lnTo>
                  <a:pt x="45290" y="22645"/>
                </a:lnTo>
                <a:cubicBezTo>
                  <a:pt x="32800" y="22645"/>
                  <a:pt x="22645" y="32800"/>
                  <a:pt x="22645" y="45290"/>
                </a:cubicBezTo>
                <a:lnTo>
                  <a:pt x="8492" y="45290"/>
                </a:lnTo>
                <a:cubicBezTo>
                  <a:pt x="3786" y="45290"/>
                  <a:pt x="0" y="49076"/>
                  <a:pt x="0" y="53782"/>
                </a:cubicBezTo>
                <a:cubicBezTo>
                  <a:pt x="0" y="58487"/>
                  <a:pt x="3786" y="62273"/>
                  <a:pt x="8492" y="62273"/>
                </a:cubicBezTo>
                <a:lnTo>
                  <a:pt x="22645" y="62273"/>
                </a:lnTo>
                <a:lnTo>
                  <a:pt x="22645" y="82088"/>
                </a:lnTo>
                <a:lnTo>
                  <a:pt x="8492" y="82088"/>
                </a:lnTo>
                <a:cubicBezTo>
                  <a:pt x="3786" y="82088"/>
                  <a:pt x="0" y="85874"/>
                  <a:pt x="0" y="90579"/>
                </a:cubicBezTo>
                <a:cubicBezTo>
                  <a:pt x="0" y="95285"/>
                  <a:pt x="3786" y="99071"/>
                  <a:pt x="8492" y="99071"/>
                </a:cubicBezTo>
                <a:lnTo>
                  <a:pt x="22645" y="99071"/>
                </a:lnTo>
                <a:lnTo>
                  <a:pt x="22645" y="118886"/>
                </a:lnTo>
                <a:lnTo>
                  <a:pt x="8492" y="118886"/>
                </a:lnTo>
                <a:cubicBezTo>
                  <a:pt x="3786" y="118886"/>
                  <a:pt x="0" y="122672"/>
                  <a:pt x="0" y="127377"/>
                </a:cubicBezTo>
                <a:cubicBezTo>
                  <a:pt x="0" y="132083"/>
                  <a:pt x="3786" y="135869"/>
                  <a:pt x="8492" y="135869"/>
                </a:cubicBezTo>
                <a:lnTo>
                  <a:pt x="22645" y="135869"/>
                </a:lnTo>
                <a:cubicBezTo>
                  <a:pt x="22645" y="148359"/>
                  <a:pt x="32800" y="158514"/>
                  <a:pt x="45290" y="158514"/>
                </a:cubicBezTo>
                <a:lnTo>
                  <a:pt x="45290" y="172667"/>
                </a:lnTo>
                <a:cubicBezTo>
                  <a:pt x="45290" y="177373"/>
                  <a:pt x="49076" y="181159"/>
                  <a:pt x="53782" y="181159"/>
                </a:cubicBezTo>
                <a:cubicBezTo>
                  <a:pt x="58487" y="181159"/>
                  <a:pt x="62273" y="177373"/>
                  <a:pt x="62273" y="172667"/>
                </a:cubicBezTo>
                <a:lnTo>
                  <a:pt x="62273" y="158514"/>
                </a:lnTo>
                <a:lnTo>
                  <a:pt x="82088" y="158514"/>
                </a:lnTo>
                <a:lnTo>
                  <a:pt x="82088" y="172667"/>
                </a:lnTo>
                <a:cubicBezTo>
                  <a:pt x="82088" y="177373"/>
                  <a:pt x="85874" y="181159"/>
                  <a:pt x="90579" y="181159"/>
                </a:cubicBezTo>
                <a:cubicBezTo>
                  <a:pt x="95285" y="181159"/>
                  <a:pt x="99071" y="177373"/>
                  <a:pt x="99071" y="172667"/>
                </a:cubicBezTo>
                <a:lnTo>
                  <a:pt x="99071" y="158514"/>
                </a:lnTo>
                <a:lnTo>
                  <a:pt x="118886" y="158514"/>
                </a:lnTo>
                <a:lnTo>
                  <a:pt x="118886" y="172667"/>
                </a:lnTo>
                <a:cubicBezTo>
                  <a:pt x="118886" y="177373"/>
                  <a:pt x="122672" y="181159"/>
                  <a:pt x="127377" y="181159"/>
                </a:cubicBezTo>
                <a:cubicBezTo>
                  <a:pt x="132083" y="181159"/>
                  <a:pt x="135869" y="177373"/>
                  <a:pt x="135869" y="172667"/>
                </a:cubicBezTo>
                <a:lnTo>
                  <a:pt x="135869" y="158514"/>
                </a:lnTo>
                <a:cubicBezTo>
                  <a:pt x="148359" y="158514"/>
                  <a:pt x="158514" y="148359"/>
                  <a:pt x="158514" y="135869"/>
                </a:cubicBezTo>
                <a:lnTo>
                  <a:pt x="172667" y="135869"/>
                </a:lnTo>
                <a:cubicBezTo>
                  <a:pt x="177373" y="135869"/>
                  <a:pt x="181159" y="132083"/>
                  <a:pt x="181159" y="127377"/>
                </a:cubicBezTo>
                <a:cubicBezTo>
                  <a:pt x="181159" y="122672"/>
                  <a:pt x="177373" y="118886"/>
                  <a:pt x="172667" y="118886"/>
                </a:cubicBezTo>
                <a:lnTo>
                  <a:pt x="158514" y="118886"/>
                </a:lnTo>
                <a:lnTo>
                  <a:pt x="158514" y="99071"/>
                </a:lnTo>
                <a:lnTo>
                  <a:pt x="172667" y="99071"/>
                </a:lnTo>
                <a:cubicBezTo>
                  <a:pt x="177373" y="99071"/>
                  <a:pt x="181159" y="95285"/>
                  <a:pt x="181159" y="90579"/>
                </a:cubicBezTo>
                <a:cubicBezTo>
                  <a:pt x="181159" y="85874"/>
                  <a:pt x="177373" y="82088"/>
                  <a:pt x="172667" y="82088"/>
                </a:cubicBezTo>
                <a:lnTo>
                  <a:pt x="158514" y="82088"/>
                </a:lnTo>
                <a:lnTo>
                  <a:pt x="158514" y="62273"/>
                </a:lnTo>
                <a:lnTo>
                  <a:pt x="172667" y="62273"/>
                </a:lnTo>
                <a:cubicBezTo>
                  <a:pt x="177373" y="62273"/>
                  <a:pt x="181159" y="58487"/>
                  <a:pt x="181159" y="53782"/>
                </a:cubicBezTo>
                <a:cubicBezTo>
                  <a:pt x="181159" y="49076"/>
                  <a:pt x="177373" y="45290"/>
                  <a:pt x="172667" y="45290"/>
                </a:cubicBezTo>
                <a:lnTo>
                  <a:pt x="158514" y="45290"/>
                </a:lnTo>
                <a:cubicBezTo>
                  <a:pt x="158514" y="32800"/>
                  <a:pt x="148359" y="22645"/>
                  <a:pt x="135869" y="22645"/>
                </a:cubicBezTo>
                <a:lnTo>
                  <a:pt x="135869" y="8492"/>
                </a:lnTo>
                <a:cubicBezTo>
                  <a:pt x="135869" y="3786"/>
                  <a:pt x="132083" y="0"/>
                  <a:pt x="127377" y="0"/>
                </a:cubicBezTo>
                <a:cubicBezTo>
                  <a:pt x="122672" y="0"/>
                  <a:pt x="118886" y="3786"/>
                  <a:pt x="118886" y="8492"/>
                </a:cubicBezTo>
                <a:lnTo>
                  <a:pt x="118886" y="22645"/>
                </a:lnTo>
                <a:lnTo>
                  <a:pt x="99071" y="22645"/>
                </a:lnTo>
                <a:lnTo>
                  <a:pt x="99071" y="8492"/>
                </a:lnTo>
                <a:cubicBezTo>
                  <a:pt x="99071" y="3786"/>
                  <a:pt x="95285" y="0"/>
                  <a:pt x="90579" y="0"/>
                </a:cubicBezTo>
                <a:cubicBezTo>
                  <a:pt x="85874" y="0"/>
                  <a:pt x="82088" y="3786"/>
                  <a:pt x="82088" y="8492"/>
                </a:cubicBezTo>
                <a:lnTo>
                  <a:pt x="82088" y="22645"/>
                </a:lnTo>
                <a:lnTo>
                  <a:pt x="62273" y="22645"/>
                </a:lnTo>
                <a:lnTo>
                  <a:pt x="62273" y="8492"/>
                </a:lnTo>
                <a:close/>
                <a:moveTo>
                  <a:pt x="56612" y="45290"/>
                </a:moveTo>
                <a:lnTo>
                  <a:pt x="124547" y="45290"/>
                </a:lnTo>
                <a:cubicBezTo>
                  <a:pt x="130810" y="45290"/>
                  <a:pt x="135869" y="50349"/>
                  <a:pt x="135869" y="56612"/>
                </a:cubicBezTo>
                <a:lnTo>
                  <a:pt x="135869" y="124547"/>
                </a:lnTo>
                <a:cubicBezTo>
                  <a:pt x="135869" y="130810"/>
                  <a:pt x="130810" y="135869"/>
                  <a:pt x="124547" y="135869"/>
                </a:cubicBezTo>
                <a:lnTo>
                  <a:pt x="56612" y="135869"/>
                </a:lnTo>
                <a:cubicBezTo>
                  <a:pt x="50349" y="135869"/>
                  <a:pt x="45290" y="130810"/>
                  <a:pt x="45290" y="124547"/>
                </a:cubicBezTo>
                <a:lnTo>
                  <a:pt x="45290" y="56612"/>
                </a:lnTo>
                <a:cubicBezTo>
                  <a:pt x="45290" y="50349"/>
                  <a:pt x="50349" y="45290"/>
                  <a:pt x="56612" y="45290"/>
                </a:cubicBezTo>
                <a:close/>
                <a:moveTo>
                  <a:pt x="62273" y="62273"/>
                </a:moveTo>
                <a:lnTo>
                  <a:pt x="62273" y="118886"/>
                </a:lnTo>
                <a:lnTo>
                  <a:pt x="118886" y="118886"/>
                </a:lnTo>
                <a:lnTo>
                  <a:pt x="118886" y="62273"/>
                </a:lnTo>
                <a:lnTo>
                  <a:pt x="62273" y="62273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63510" y="1203197"/>
            <a:ext cx="1594199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3510" y="1493051"/>
            <a:ext cx="154890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NVIDIA's Native Platform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0033" y="1782906"/>
            <a:ext cx="5425712" cy="47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</a:t>
            </a:r>
            <a:pPr>
              <a:lnSpc>
                <a:spcPct val="140000"/>
              </a:lnSpc>
            </a:pPr>
            <a:r>
              <a:rPr lang="en-US" sz="114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control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memory hierarchy (SRAM, Registers) and warp scheduling for maximum performance.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3807" y="2366389"/>
            <a:ext cx="5351738" cy="1094502"/>
          </a:xfrm>
          <a:custGeom>
            <a:avLst/>
            <a:gdLst/>
            <a:ahLst/>
            <a:cxnLst/>
            <a:rect l="l" t="t" r="r" b="b"/>
            <a:pathLst>
              <a:path w="5351738" h="1094502">
                <a:moveTo>
                  <a:pt x="72467" y="0"/>
                </a:moveTo>
                <a:lnTo>
                  <a:pt x="5279271" y="0"/>
                </a:lnTo>
                <a:cubicBezTo>
                  <a:pt x="5319294" y="0"/>
                  <a:pt x="5351738" y="32445"/>
                  <a:pt x="5351738" y="72467"/>
                </a:cubicBezTo>
                <a:lnTo>
                  <a:pt x="5351738" y="1022035"/>
                </a:lnTo>
                <a:cubicBezTo>
                  <a:pt x="5351738" y="1062058"/>
                  <a:pt x="5319294" y="1094502"/>
                  <a:pt x="5279271" y="1094502"/>
                </a:cubicBezTo>
                <a:lnTo>
                  <a:pt x="72467" y="1094502"/>
                </a:lnTo>
                <a:cubicBezTo>
                  <a:pt x="32445" y="1094502"/>
                  <a:pt x="0" y="1062058"/>
                  <a:pt x="0" y="1022035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4393" y="2509806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63406" y="126811"/>
                </a:moveTo>
                <a:cubicBezTo>
                  <a:pt x="98400" y="126811"/>
                  <a:pt x="126811" y="98400"/>
                  <a:pt x="126811" y="63406"/>
                </a:cubicBezTo>
                <a:cubicBezTo>
                  <a:pt x="126811" y="28411"/>
                  <a:pt x="98400" y="0"/>
                  <a:pt x="63406" y="0"/>
                </a:cubicBezTo>
                <a:cubicBezTo>
                  <a:pt x="28411" y="0"/>
                  <a:pt x="0" y="28411"/>
                  <a:pt x="0" y="63406"/>
                </a:cubicBezTo>
                <a:cubicBezTo>
                  <a:pt x="0" y="98400"/>
                  <a:pt x="28411" y="126811"/>
                  <a:pt x="63406" y="126811"/>
                </a:cubicBezTo>
                <a:close/>
                <a:moveTo>
                  <a:pt x="84310" y="52681"/>
                </a:moveTo>
                <a:lnTo>
                  <a:pt x="64495" y="84384"/>
                </a:lnTo>
                <a:cubicBezTo>
                  <a:pt x="63455" y="86043"/>
                  <a:pt x="61672" y="87084"/>
                  <a:pt x="59715" y="87183"/>
                </a:cubicBezTo>
                <a:cubicBezTo>
                  <a:pt x="57759" y="87282"/>
                  <a:pt x="55876" y="86390"/>
                  <a:pt x="54712" y="84805"/>
                </a:cubicBezTo>
                <a:lnTo>
                  <a:pt x="42824" y="68954"/>
                </a:lnTo>
                <a:cubicBezTo>
                  <a:pt x="40842" y="66328"/>
                  <a:pt x="41387" y="62613"/>
                  <a:pt x="44012" y="60632"/>
                </a:cubicBezTo>
                <a:cubicBezTo>
                  <a:pt x="46638" y="58650"/>
                  <a:pt x="50353" y="59195"/>
                  <a:pt x="52334" y="61821"/>
                </a:cubicBezTo>
                <a:lnTo>
                  <a:pt x="59022" y="70737"/>
                </a:lnTo>
                <a:lnTo>
                  <a:pt x="74229" y="46390"/>
                </a:lnTo>
                <a:cubicBezTo>
                  <a:pt x="75963" y="43616"/>
                  <a:pt x="79629" y="42749"/>
                  <a:pt x="82427" y="44508"/>
                </a:cubicBezTo>
                <a:cubicBezTo>
                  <a:pt x="85226" y="46266"/>
                  <a:pt x="86068" y="49907"/>
                  <a:pt x="84310" y="52706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51003" y="2478860"/>
            <a:ext cx="497547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6277" y="2732482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Explicit shared memory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6277" y="2949873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Warp-level primitives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36277" y="3167264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Inline PTX assembly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6092" y="3765842"/>
            <a:ext cx="5650651" cy="2570948"/>
          </a:xfrm>
          <a:custGeom>
            <a:avLst/>
            <a:gdLst/>
            <a:ahLst/>
            <a:cxnLst/>
            <a:rect l="l" t="t" r="r" b="b"/>
            <a:pathLst>
              <a:path w="5650651" h="2570948">
                <a:moveTo>
                  <a:pt x="108700" y="0"/>
                </a:moveTo>
                <a:lnTo>
                  <a:pt x="5541951" y="0"/>
                </a:lnTo>
                <a:cubicBezTo>
                  <a:pt x="5601984" y="0"/>
                  <a:pt x="5650651" y="48667"/>
                  <a:pt x="5650651" y="108700"/>
                </a:cubicBezTo>
                <a:lnTo>
                  <a:pt x="5650651" y="2462248"/>
                </a:lnTo>
                <a:cubicBezTo>
                  <a:pt x="5650651" y="2522281"/>
                  <a:pt x="5601984" y="2570948"/>
                  <a:pt x="5541951" y="2570948"/>
                </a:cubicBezTo>
                <a:lnTo>
                  <a:pt x="108700" y="2570948"/>
                </a:lnTo>
                <a:cubicBezTo>
                  <a:pt x="48667" y="2570948"/>
                  <a:pt x="0" y="2522281"/>
                  <a:pt x="0" y="2462248"/>
                </a:cubicBezTo>
                <a:lnTo>
                  <a:pt x="0" y="108700"/>
                </a:lnTo>
                <a:cubicBezTo>
                  <a:pt x="0" y="48667"/>
                  <a:pt x="48667" y="0"/>
                  <a:pt x="108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568" y="3936435"/>
            <a:ext cx="424214" cy="424214"/>
          </a:xfrm>
          <a:custGeom>
            <a:avLst/>
            <a:gdLst/>
            <a:ahLst/>
            <a:cxnLst/>
            <a:rect l="l" t="t" r="r" b="b"/>
            <a:pathLst>
              <a:path w="424214" h="424214">
                <a:moveTo>
                  <a:pt x="108696" y="0"/>
                </a:moveTo>
                <a:lnTo>
                  <a:pt x="315518" y="0"/>
                </a:lnTo>
                <a:cubicBezTo>
                  <a:pt x="375549" y="0"/>
                  <a:pt x="424214" y="48665"/>
                  <a:pt x="424214" y="108696"/>
                </a:cubicBezTo>
                <a:lnTo>
                  <a:pt x="424214" y="315518"/>
                </a:lnTo>
                <a:cubicBezTo>
                  <a:pt x="424214" y="375549"/>
                  <a:pt x="375549" y="424214"/>
                  <a:pt x="315518" y="424214"/>
                </a:cubicBezTo>
                <a:lnTo>
                  <a:pt x="108696" y="424214"/>
                </a:lnTo>
                <a:cubicBezTo>
                  <a:pt x="48665" y="424214"/>
                  <a:pt x="0" y="375549"/>
                  <a:pt x="0" y="315518"/>
                </a:cubicBezTo>
                <a:lnTo>
                  <a:pt x="0" y="108696"/>
                </a:lnTo>
                <a:cubicBezTo>
                  <a:pt x="0" y="48705"/>
                  <a:pt x="48705" y="0"/>
                  <a:pt x="108696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605" y="4059472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11322" y="11322"/>
                </a:moveTo>
                <a:cubicBezTo>
                  <a:pt x="17585" y="11322"/>
                  <a:pt x="22645" y="16382"/>
                  <a:pt x="22645" y="22645"/>
                </a:cubicBezTo>
                <a:lnTo>
                  <a:pt x="22645" y="141530"/>
                </a:lnTo>
                <a:cubicBezTo>
                  <a:pt x="22645" y="144644"/>
                  <a:pt x="25192" y="147192"/>
                  <a:pt x="28306" y="147192"/>
                </a:cubicBezTo>
                <a:lnTo>
                  <a:pt x="169837" y="147192"/>
                </a:lnTo>
                <a:cubicBezTo>
                  <a:pt x="176099" y="147192"/>
                  <a:pt x="181159" y="152251"/>
                  <a:pt x="181159" y="158514"/>
                </a:cubicBezTo>
                <a:cubicBezTo>
                  <a:pt x="181159" y="164777"/>
                  <a:pt x="176099" y="169837"/>
                  <a:pt x="169837" y="169837"/>
                </a:cubicBezTo>
                <a:lnTo>
                  <a:pt x="28306" y="169837"/>
                </a:lnTo>
                <a:cubicBezTo>
                  <a:pt x="12667" y="169837"/>
                  <a:pt x="0" y="157170"/>
                  <a:pt x="0" y="141530"/>
                </a:cubicBezTo>
                <a:lnTo>
                  <a:pt x="0" y="22645"/>
                </a:lnTo>
                <a:cubicBezTo>
                  <a:pt x="0" y="16382"/>
                  <a:pt x="5060" y="11322"/>
                  <a:pt x="11322" y="11322"/>
                </a:cubicBezTo>
                <a:close/>
                <a:moveTo>
                  <a:pt x="45290" y="33967"/>
                </a:moveTo>
                <a:cubicBezTo>
                  <a:pt x="45290" y="27705"/>
                  <a:pt x="50349" y="22645"/>
                  <a:pt x="56612" y="22645"/>
                </a:cubicBezTo>
                <a:lnTo>
                  <a:pt x="124547" y="22645"/>
                </a:lnTo>
                <a:cubicBezTo>
                  <a:pt x="130810" y="22645"/>
                  <a:pt x="135869" y="27705"/>
                  <a:pt x="135869" y="33967"/>
                </a:cubicBezTo>
                <a:cubicBezTo>
                  <a:pt x="135869" y="40230"/>
                  <a:pt x="130810" y="45290"/>
                  <a:pt x="124547" y="45290"/>
                </a:cubicBezTo>
                <a:lnTo>
                  <a:pt x="56612" y="45290"/>
                </a:lnTo>
                <a:cubicBezTo>
                  <a:pt x="50349" y="45290"/>
                  <a:pt x="45290" y="40230"/>
                  <a:pt x="45290" y="33967"/>
                </a:cubicBezTo>
                <a:close/>
                <a:moveTo>
                  <a:pt x="56612" y="62273"/>
                </a:moveTo>
                <a:lnTo>
                  <a:pt x="101902" y="62273"/>
                </a:lnTo>
                <a:cubicBezTo>
                  <a:pt x="108165" y="62273"/>
                  <a:pt x="113224" y="67333"/>
                  <a:pt x="113224" y="73596"/>
                </a:cubicBezTo>
                <a:cubicBezTo>
                  <a:pt x="113224" y="79859"/>
                  <a:pt x="108165" y="84918"/>
                  <a:pt x="101902" y="84918"/>
                </a:cubicBezTo>
                <a:lnTo>
                  <a:pt x="56612" y="84918"/>
                </a:lnTo>
                <a:cubicBezTo>
                  <a:pt x="50349" y="84918"/>
                  <a:pt x="45290" y="79859"/>
                  <a:pt x="45290" y="73596"/>
                </a:cubicBezTo>
                <a:cubicBezTo>
                  <a:pt x="45290" y="67333"/>
                  <a:pt x="50349" y="62273"/>
                  <a:pt x="56612" y="62273"/>
                </a:cubicBezTo>
                <a:close/>
                <a:moveTo>
                  <a:pt x="56612" y="101902"/>
                </a:moveTo>
                <a:lnTo>
                  <a:pt x="147192" y="101902"/>
                </a:lnTo>
                <a:cubicBezTo>
                  <a:pt x="153454" y="101902"/>
                  <a:pt x="158514" y="106962"/>
                  <a:pt x="158514" y="113224"/>
                </a:cubicBezTo>
                <a:cubicBezTo>
                  <a:pt x="158514" y="119487"/>
                  <a:pt x="153454" y="124547"/>
                  <a:pt x="147192" y="124547"/>
                </a:cubicBezTo>
                <a:lnTo>
                  <a:pt x="56612" y="124547"/>
                </a:lnTo>
                <a:cubicBezTo>
                  <a:pt x="50349" y="124547"/>
                  <a:pt x="45290" y="119487"/>
                  <a:pt x="45290" y="113224"/>
                </a:cubicBezTo>
                <a:cubicBezTo>
                  <a:pt x="45290" y="106962"/>
                  <a:pt x="50349" y="101902"/>
                  <a:pt x="56612" y="101902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58270" y="3914545"/>
            <a:ext cx="1874996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Nsight Compute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8270" y="4204399"/>
            <a:ext cx="1829706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Profiler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4793" y="4494253"/>
            <a:ext cx="5425712" cy="471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profiler for analyzing </a:t>
            </a:r>
            <a:pPr>
              <a:lnSpc>
                <a:spcPct val="140000"/>
              </a:lnSpc>
            </a:pPr>
            <a:r>
              <a:rPr lang="en-US" sz="114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low-level hardware metrics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instruction throughput, memory bandwidth, occupancy.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8568" y="5077736"/>
            <a:ext cx="5351738" cy="1094502"/>
          </a:xfrm>
          <a:custGeom>
            <a:avLst/>
            <a:gdLst/>
            <a:ahLst/>
            <a:cxnLst/>
            <a:rect l="l" t="t" r="r" b="b"/>
            <a:pathLst>
              <a:path w="5351738" h="1094502">
                <a:moveTo>
                  <a:pt x="72467" y="0"/>
                </a:moveTo>
                <a:lnTo>
                  <a:pt x="5279271" y="0"/>
                </a:lnTo>
                <a:cubicBezTo>
                  <a:pt x="5319294" y="0"/>
                  <a:pt x="5351738" y="32445"/>
                  <a:pt x="5351738" y="72467"/>
                </a:cubicBezTo>
                <a:lnTo>
                  <a:pt x="5351738" y="1022035"/>
                </a:lnTo>
                <a:cubicBezTo>
                  <a:pt x="5351738" y="1062058"/>
                  <a:pt x="5319294" y="1094502"/>
                  <a:pt x="5279271" y="1094502"/>
                </a:cubicBezTo>
                <a:lnTo>
                  <a:pt x="72467" y="1094502"/>
                </a:lnTo>
                <a:cubicBezTo>
                  <a:pt x="32445" y="1094502"/>
                  <a:pt x="0" y="1062058"/>
                  <a:pt x="0" y="1022035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153" y="5221154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63406" y="126811"/>
                </a:moveTo>
                <a:cubicBezTo>
                  <a:pt x="98400" y="126811"/>
                  <a:pt x="126811" y="98400"/>
                  <a:pt x="126811" y="63406"/>
                </a:cubicBezTo>
                <a:cubicBezTo>
                  <a:pt x="126811" y="28411"/>
                  <a:pt x="98400" y="0"/>
                  <a:pt x="63406" y="0"/>
                </a:cubicBezTo>
                <a:cubicBezTo>
                  <a:pt x="28411" y="0"/>
                  <a:pt x="0" y="28411"/>
                  <a:pt x="0" y="63406"/>
                </a:cubicBezTo>
                <a:cubicBezTo>
                  <a:pt x="0" y="98400"/>
                  <a:pt x="28411" y="126811"/>
                  <a:pt x="63406" y="126811"/>
                </a:cubicBezTo>
                <a:close/>
                <a:moveTo>
                  <a:pt x="84310" y="52681"/>
                </a:moveTo>
                <a:lnTo>
                  <a:pt x="64495" y="84384"/>
                </a:lnTo>
                <a:cubicBezTo>
                  <a:pt x="63455" y="86043"/>
                  <a:pt x="61672" y="87084"/>
                  <a:pt x="59715" y="87183"/>
                </a:cubicBezTo>
                <a:cubicBezTo>
                  <a:pt x="57759" y="87282"/>
                  <a:pt x="55876" y="86390"/>
                  <a:pt x="54712" y="84805"/>
                </a:cubicBezTo>
                <a:lnTo>
                  <a:pt x="42824" y="68954"/>
                </a:lnTo>
                <a:cubicBezTo>
                  <a:pt x="40842" y="66328"/>
                  <a:pt x="41387" y="62613"/>
                  <a:pt x="44012" y="60632"/>
                </a:cubicBezTo>
                <a:cubicBezTo>
                  <a:pt x="46638" y="58650"/>
                  <a:pt x="50353" y="59195"/>
                  <a:pt x="52334" y="61821"/>
                </a:cubicBezTo>
                <a:lnTo>
                  <a:pt x="59022" y="70737"/>
                </a:lnTo>
                <a:lnTo>
                  <a:pt x="74229" y="46390"/>
                </a:lnTo>
                <a:cubicBezTo>
                  <a:pt x="75963" y="43616"/>
                  <a:pt x="79629" y="42749"/>
                  <a:pt x="82427" y="44508"/>
                </a:cubicBezTo>
                <a:cubicBezTo>
                  <a:pt x="85226" y="46266"/>
                  <a:pt x="86068" y="49907"/>
                  <a:pt x="84310" y="52706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845763" y="5190205"/>
            <a:ext cx="497547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1037" y="5443828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DRAM &amp; L2 cache throughput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1037" y="5661218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SM occupancy &amp; warp stalls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1037" y="5878609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Instruction mix analysis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1332" y="3765842"/>
            <a:ext cx="5650651" cy="2570948"/>
          </a:xfrm>
          <a:custGeom>
            <a:avLst/>
            <a:gdLst/>
            <a:ahLst/>
            <a:cxnLst/>
            <a:rect l="l" t="t" r="r" b="b"/>
            <a:pathLst>
              <a:path w="5650651" h="2570948">
                <a:moveTo>
                  <a:pt x="108700" y="0"/>
                </a:moveTo>
                <a:lnTo>
                  <a:pt x="5541951" y="0"/>
                </a:lnTo>
                <a:cubicBezTo>
                  <a:pt x="5601984" y="0"/>
                  <a:pt x="5650651" y="48667"/>
                  <a:pt x="5650651" y="108700"/>
                </a:cubicBezTo>
                <a:lnTo>
                  <a:pt x="5650651" y="2462248"/>
                </a:lnTo>
                <a:cubicBezTo>
                  <a:pt x="5650651" y="2522281"/>
                  <a:pt x="5601984" y="2570948"/>
                  <a:pt x="5541951" y="2570948"/>
                </a:cubicBezTo>
                <a:lnTo>
                  <a:pt x="108700" y="2570948"/>
                </a:lnTo>
                <a:cubicBezTo>
                  <a:pt x="48667" y="2570948"/>
                  <a:pt x="0" y="2522281"/>
                  <a:pt x="0" y="2462248"/>
                </a:cubicBezTo>
                <a:lnTo>
                  <a:pt x="0" y="108700"/>
                </a:lnTo>
                <a:cubicBezTo>
                  <a:pt x="0" y="48667"/>
                  <a:pt x="48667" y="0"/>
                  <a:pt x="108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3807" y="3936435"/>
            <a:ext cx="424214" cy="424214"/>
          </a:xfrm>
          <a:custGeom>
            <a:avLst/>
            <a:gdLst/>
            <a:ahLst/>
            <a:cxnLst/>
            <a:rect l="l" t="t" r="r" b="b"/>
            <a:pathLst>
              <a:path w="424214" h="424214">
                <a:moveTo>
                  <a:pt x="108696" y="0"/>
                </a:moveTo>
                <a:lnTo>
                  <a:pt x="315518" y="0"/>
                </a:lnTo>
                <a:cubicBezTo>
                  <a:pt x="375549" y="0"/>
                  <a:pt x="424214" y="48665"/>
                  <a:pt x="424214" y="108696"/>
                </a:cubicBezTo>
                <a:lnTo>
                  <a:pt x="424214" y="315518"/>
                </a:lnTo>
                <a:cubicBezTo>
                  <a:pt x="424214" y="375549"/>
                  <a:pt x="375549" y="424214"/>
                  <a:pt x="315518" y="424214"/>
                </a:cubicBezTo>
                <a:lnTo>
                  <a:pt x="108696" y="424214"/>
                </a:lnTo>
                <a:cubicBezTo>
                  <a:pt x="48665" y="424214"/>
                  <a:pt x="0" y="375549"/>
                  <a:pt x="0" y="315518"/>
                </a:cubicBezTo>
                <a:lnTo>
                  <a:pt x="0" y="108696"/>
                </a:lnTo>
                <a:cubicBezTo>
                  <a:pt x="0" y="48705"/>
                  <a:pt x="48705" y="0"/>
                  <a:pt x="108696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58167" y="4059472"/>
            <a:ext cx="158514" cy="181159"/>
          </a:xfrm>
          <a:custGeom>
            <a:avLst/>
            <a:gdLst/>
            <a:ahLst/>
            <a:cxnLst/>
            <a:rect l="l" t="t" r="r" b="b"/>
            <a:pathLst>
              <a:path w="158514" h="181159">
                <a:moveTo>
                  <a:pt x="78160" y="43627"/>
                </a:moveTo>
                <a:cubicBezTo>
                  <a:pt x="78514" y="43804"/>
                  <a:pt x="78797" y="44228"/>
                  <a:pt x="79222" y="44228"/>
                </a:cubicBezTo>
                <a:cubicBezTo>
                  <a:pt x="79611" y="44228"/>
                  <a:pt x="80212" y="44087"/>
                  <a:pt x="80248" y="43698"/>
                </a:cubicBezTo>
                <a:cubicBezTo>
                  <a:pt x="80319" y="43202"/>
                  <a:pt x="79576" y="42884"/>
                  <a:pt x="79116" y="42671"/>
                </a:cubicBezTo>
                <a:cubicBezTo>
                  <a:pt x="78514" y="42424"/>
                  <a:pt x="77736" y="42318"/>
                  <a:pt x="77169" y="42636"/>
                </a:cubicBezTo>
                <a:cubicBezTo>
                  <a:pt x="77028" y="42707"/>
                  <a:pt x="76886" y="42884"/>
                  <a:pt x="76957" y="43025"/>
                </a:cubicBezTo>
                <a:cubicBezTo>
                  <a:pt x="77063" y="43485"/>
                  <a:pt x="77771" y="43414"/>
                  <a:pt x="78160" y="43627"/>
                </a:cubicBezTo>
                <a:close/>
                <a:moveTo>
                  <a:pt x="70411" y="44228"/>
                </a:moveTo>
                <a:cubicBezTo>
                  <a:pt x="70836" y="44228"/>
                  <a:pt x="71119" y="43804"/>
                  <a:pt x="71473" y="43627"/>
                </a:cubicBezTo>
                <a:cubicBezTo>
                  <a:pt x="71862" y="43414"/>
                  <a:pt x="72570" y="43485"/>
                  <a:pt x="72711" y="43061"/>
                </a:cubicBezTo>
                <a:cubicBezTo>
                  <a:pt x="72782" y="42919"/>
                  <a:pt x="72641" y="42742"/>
                  <a:pt x="72499" y="42671"/>
                </a:cubicBezTo>
                <a:cubicBezTo>
                  <a:pt x="71933" y="42353"/>
                  <a:pt x="71154" y="42459"/>
                  <a:pt x="70553" y="42707"/>
                </a:cubicBezTo>
                <a:cubicBezTo>
                  <a:pt x="70093" y="42919"/>
                  <a:pt x="69350" y="43238"/>
                  <a:pt x="69421" y="43733"/>
                </a:cubicBezTo>
                <a:cubicBezTo>
                  <a:pt x="69456" y="44087"/>
                  <a:pt x="70058" y="44264"/>
                  <a:pt x="70411" y="44228"/>
                </a:cubicBezTo>
                <a:close/>
                <a:moveTo>
                  <a:pt x="148607" y="142875"/>
                </a:moveTo>
                <a:cubicBezTo>
                  <a:pt x="147333" y="141460"/>
                  <a:pt x="146732" y="138771"/>
                  <a:pt x="146059" y="135905"/>
                </a:cubicBezTo>
                <a:cubicBezTo>
                  <a:pt x="145423" y="133039"/>
                  <a:pt x="144680" y="129960"/>
                  <a:pt x="142344" y="127979"/>
                </a:cubicBezTo>
                <a:cubicBezTo>
                  <a:pt x="141884" y="127590"/>
                  <a:pt x="141424" y="127236"/>
                  <a:pt x="140929" y="126953"/>
                </a:cubicBezTo>
                <a:cubicBezTo>
                  <a:pt x="140469" y="126670"/>
                  <a:pt x="139974" y="126422"/>
                  <a:pt x="139478" y="126245"/>
                </a:cubicBezTo>
                <a:cubicBezTo>
                  <a:pt x="142733" y="116586"/>
                  <a:pt x="141460" y="106962"/>
                  <a:pt x="138169" y="98258"/>
                </a:cubicBezTo>
                <a:cubicBezTo>
                  <a:pt x="134135" y="87607"/>
                  <a:pt x="127094" y="78302"/>
                  <a:pt x="121716" y="71933"/>
                </a:cubicBezTo>
                <a:cubicBezTo>
                  <a:pt x="115666" y="64326"/>
                  <a:pt x="109792" y="57108"/>
                  <a:pt x="109898" y="46457"/>
                </a:cubicBezTo>
                <a:cubicBezTo>
                  <a:pt x="110075" y="30217"/>
                  <a:pt x="111703" y="35"/>
                  <a:pt x="83078" y="0"/>
                </a:cubicBezTo>
                <a:cubicBezTo>
                  <a:pt x="46847" y="-71"/>
                  <a:pt x="55905" y="36586"/>
                  <a:pt x="55515" y="47837"/>
                </a:cubicBezTo>
                <a:cubicBezTo>
                  <a:pt x="54914" y="56117"/>
                  <a:pt x="53251" y="62627"/>
                  <a:pt x="47554" y="70730"/>
                </a:cubicBezTo>
                <a:cubicBezTo>
                  <a:pt x="40867" y="78691"/>
                  <a:pt x="31455" y="91535"/>
                  <a:pt x="26997" y="104945"/>
                </a:cubicBezTo>
                <a:cubicBezTo>
                  <a:pt x="24874" y="111278"/>
                  <a:pt x="23883" y="117718"/>
                  <a:pt x="24803" y="123804"/>
                </a:cubicBezTo>
                <a:cubicBezTo>
                  <a:pt x="22503" y="125856"/>
                  <a:pt x="20770" y="129005"/>
                  <a:pt x="18930" y="130951"/>
                </a:cubicBezTo>
                <a:cubicBezTo>
                  <a:pt x="17444" y="132473"/>
                  <a:pt x="15285" y="133039"/>
                  <a:pt x="12915" y="133888"/>
                </a:cubicBezTo>
                <a:cubicBezTo>
                  <a:pt x="10544" y="134737"/>
                  <a:pt x="7961" y="136011"/>
                  <a:pt x="6369" y="139018"/>
                </a:cubicBezTo>
                <a:cubicBezTo>
                  <a:pt x="5626" y="140398"/>
                  <a:pt x="5378" y="141884"/>
                  <a:pt x="5378" y="143406"/>
                </a:cubicBezTo>
                <a:cubicBezTo>
                  <a:pt x="5378" y="144786"/>
                  <a:pt x="5590" y="146201"/>
                  <a:pt x="5803" y="147581"/>
                </a:cubicBezTo>
                <a:cubicBezTo>
                  <a:pt x="6227" y="150447"/>
                  <a:pt x="6687" y="153136"/>
                  <a:pt x="6086" y="154940"/>
                </a:cubicBezTo>
                <a:cubicBezTo>
                  <a:pt x="4246" y="160036"/>
                  <a:pt x="3998" y="163574"/>
                  <a:pt x="5307" y="166157"/>
                </a:cubicBezTo>
                <a:cubicBezTo>
                  <a:pt x="6652" y="168740"/>
                  <a:pt x="9341" y="169872"/>
                  <a:pt x="12419" y="170509"/>
                </a:cubicBezTo>
                <a:cubicBezTo>
                  <a:pt x="18540" y="171783"/>
                  <a:pt x="26855" y="171464"/>
                  <a:pt x="33401" y="174932"/>
                </a:cubicBezTo>
                <a:cubicBezTo>
                  <a:pt x="40407" y="178611"/>
                  <a:pt x="47519" y="179921"/>
                  <a:pt x="53180" y="178611"/>
                </a:cubicBezTo>
                <a:cubicBezTo>
                  <a:pt x="57284" y="177691"/>
                  <a:pt x="60646" y="175215"/>
                  <a:pt x="62344" y="171464"/>
                </a:cubicBezTo>
                <a:cubicBezTo>
                  <a:pt x="66767" y="171429"/>
                  <a:pt x="71650" y="169553"/>
                  <a:pt x="79434" y="169129"/>
                </a:cubicBezTo>
                <a:cubicBezTo>
                  <a:pt x="84706" y="168704"/>
                  <a:pt x="91323" y="171004"/>
                  <a:pt x="98930" y="170580"/>
                </a:cubicBezTo>
                <a:cubicBezTo>
                  <a:pt x="99142" y="171393"/>
                  <a:pt x="99425" y="172207"/>
                  <a:pt x="99814" y="172950"/>
                </a:cubicBezTo>
                <a:lnTo>
                  <a:pt x="99814" y="172986"/>
                </a:lnTo>
                <a:cubicBezTo>
                  <a:pt x="102751" y="178895"/>
                  <a:pt x="108235" y="181584"/>
                  <a:pt x="114074" y="181124"/>
                </a:cubicBezTo>
                <a:cubicBezTo>
                  <a:pt x="119947" y="180664"/>
                  <a:pt x="126139" y="177232"/>
                  <a:pt x="131163" y="171252"/>
                </a:cubicBezTo>
                <a:cubicBezTo>
                  <a:pt x="135975" y="165449"/>
                  <a:pt x="143901" y="163043"/>
                  <a:pt x="149173" y="159859"/>
                </a:cubicBezTo>
                <a:cubicBezTo>
                  <a:pt x="151791" y="158266"/>
                  <a:pt x="153914" y="156285"/>
                  <a:pt x="154091" y="153384"/>
                </a:cubicBezTo>
                <a:cubicBezTo>
                  <a:pt x="154233" y="150482"/>
                  <a:pt x="152534" y="147262"/>
                  <a:pt x="148607" y="142875"/>
                </a:cubicBezTo>
                <a:close/>
                <a:moveTo>
                  <a:pt x="79186" y="30889"/>
                </a:moveTo>
                <a:cubicBezTo>
                  <a:pt x="82654" y="23034"/>
                  <a:pt x="91287" y="23176"/>
                  <a:pt x="94755" y="30747"/>
                </a:cubicBezTo>
                <a:cubicBezTo>
                  <a:pt x="97055" y="35772"/>
                  <a:pt x="96028" y="41681"/>
                  <a:pt x="93233" y="45042"/>
                </a:cubicBezTo>
                <a:cubicBezTo>
                  <a:pt x="92667" y="44759"/>
                  <a:pt x="91146" y="44122"/>
                  <a:pt x="88775" y="43308"/>
                </a:cubicBezTo>
                <a:cubicBezTo>
                  <a:pt x="89164" y="42884"/>
                  <a:pt x="89872" y="42353"/>
                  <a:pt x="90155" y="41681"/>
                </a:cubicBezTo>
                <a:cubicBezTo>
                  <a:pt x="91853" y="37506"/>
                  <a:pt x="90084" y="32127"/>
                  <a:pt x="86935" y="32021"/>
                </a:cubicBezTo>
                <a:cubicBezTo>
                  <a:pt x="84352" y="31844"/>
                  <a:pt x="82017" y="35843"/>
                  <a:pt x="82760" y="40159"/>
                </a:cubicBezTo>
                <a:cubicBezTo>
                  <a:pt x="81309" y="39452"/>
                  <a:pt x="79434" y="38921"/>
                  <a:pt x="78160" y="38602"/>
                </a:cubicBezTo>
                <a:cubicBezTo>
                  <a:pt x="77806" y="36161"/>
                  <a:pt x="78054" y="33437"/>
                  <a:pt x="79186" y="30889"/>
                </a:cubicBezTo>
                <a:close/>
                <a:moveTo>
                  <a:pt x="64786" y="26820"/>
                </a:moveTo>
                <a:cubicBezTo>
                  <a:pt x="68359" y="26820"/>
                  <a:pt x="72145" y="31844"/>
                  <a:pt x="71544" y="38673"/>
                </a:cubicBezTo>
                <a:cubicBezTo>
                  <a:pt x="70305" y="39027"/>
                  <a:pt x="69031" y="39558"/>
                  <a:pt x="67935" y="40301"/>
                </a:cubicBezTo>
                <a:cubicBezTo>
                  <a:pt x="68359" y="37152"/>
                  <a:pt x="66767" y="33189"/>
                  <a:pt x="64538" y="33366"/>
                </a:cubicBezTo>
                <a:cubicBezTo>
                  <a:pt x="61566" y="33613"/>
                  <a:pt x="61070" y="40867"/>
                  <a:pt x="63901" y="43308"/>
                </a:cubicBezTo>
                <a:cubicBezTo>
                  <a:pt x="64255" y="43591"/>
                  <a:pt x="64573" y="43238"/>
                  <a:pt x="61813" y="45254"/>
                </a:cubicBezTo>
                <a:cubicBezTo>
                  <a:pt x="56294" y="40089"/>
                  <a:pt x="58098" y="26820"/>
                  <a:pt x="64786" y="26820"/>
                </a:cubicBezTo>
                <a:close/>
                <a:moveTo>
                  <a:pt x="59974" y="48297"/>
                </a:moveTo>
                <a:cubicBezTo>
                  <a:pt x="62167" y="46670"/>
                  <a:pt x="64786" y="44759"/>
                  <a:pt x="64962" y="44582"/>
                </a:cubicBezTo>
                <a:cubicBezTo>
                  <a:pt x="66625" y="43025"/>
                  <a:pt x="69739" y="39558"/>
                  <a:pt x="74834" y="39558"/>
                </a:cubicBezTo>
                <a:cubicBezTo>
                  <a:pt x="77346" y="39558"/>
                  <a:pt x="80354" y="40372"/>
                  <a:pt x="83998" y="42707"/>
                </a:cubicBezTo>
                <a:cubicBezTo>
                  <a:pt x="86227" y="44158"/>
                  <a:pt x="87997" y="44264"/>
                  <a:pt x="91995" y="45997"/>
                </a:cubicBezTo>
                <a:cubicBezTo>
                  <a:pt x="94967" y="47236"/>
                  <a:pt x="96842" y="49430"/>
                  <a:pt x="95710" y="52437"/>
                </a:cubicBezTo>
                <a:cubicBezTo>
                  <a:pt x="94790" y="54949"/>
                  <a:pt x="91818" y="57532"/>
                  <a:pt x="87678" y="58841"/>
                </a:cubicBezTo>
                <a:cubicBezTo>
                  <a:pt x="83751" y="60115"/>
                  <a:pt x="80672" y="64503"/>
                  <a:pt x="74162" y="64113"/>
                </a:cubicBezTo>
                <a:cubicBezTo>
                  <a:pt x="72782" y="64043"/>
                  <a:pt x="71685" y="63759"/>
                  <a:pt x="70765" y="63370"/>
                </a:cubicBezTo>
                <a:cubicBezTo>
                  <a:pt x="67935" y="62132"/>
                  <a:pt x="66449" y="59690"/>
                  <a:pt x="63689" y="58063"/>
                </a:cubicBezTo>
                <a:cubicBezTo>
                  <a:pt x="60646" y="56365"/>
                  <a:pt x="59018" y="54383"/>
                  <a:pt x="58487" y="52649"/>
                </a:cubicBezTo>
                <a:cubicBezTo>
                  <a:pt x="57992" y="50916"/>
                  <a:pt x="58487" y="49465"/>
                  <a:pt x="59974" y="48297"/>
                </a:cubicBezTo>
                <a:close/>
                <a:moveTo>
                  <a:pt x="61141" y="166475"/>
                </a:moveTo>
                <a:cubicBezTo>
                  <a:pt x="60186" y="178895"/>
                  <a:pt x="45608" y="178647"/>
                  <a:pt x="34498" y="172844"/>
                </a:cubicBezTo>
                <a:cubicBezTo>
                  <a:pt x="23919" y="167254"/>
                  <a:pt x="10226" y="170544"/>
                  <a:pt x="7430" y="165095"/>
                </a:cubicBezTo>
                <a:cubicBezTo>
                  <a:pt x="6581" y="163432"/>
                  <a:pt x="6581" y="160602"/>
                  <a:pt x="8350" y="155754"/>
                </a:cubicBezTo>
                <a:lnTo>
                  <a:pt x="8350" y="155684"/>
                </a:lnTo>
                <a:cubicBezTo>
                  <a:pt x="9199" y="152994"/>
                  <a:pt x="8563" y="150022"/>
                  <a:pt x="8138" y="147227"/>
                </a:cubicBezTo>
                <a:cubicBezTo>
                  <a:pt x="7713" y="144467"/>
                  <a:pt x="7501" y="141920"/>
                  <a:pt x="8456" y="140151"/>
                </a:cubicBezTo>
                <a:cubicBezTo>
                  <a:pt x="9695" y="137780"/>
                  <a:pt x="11464" y="136931"/>
                  <a:pt x="13693" y="136152"/>
                </a:cubicBezTo>
                <a:cubicBezTo>
                  <a:pt x="17337" y="134843"/>
                  <a:pt x="17868" y="134949"/>
                  <a:pt x="20628" y="132649"/>
                </a:cubicBezTo>
                <a:cubicBezTo>
                  <a:pt x="22574" y="130633"/>
                  <a:pt x="23989" y="128085"/>
                  <a:pt x="25688" y="126281"/>
                </a:cubicBezTo>
                <a:cubicBezTo>
                  <a:pt x="27492" y="124335"/>
                  <a:pt x="29226" y="123415"/>
                  <a:pt x="31951" y="123839"/>
                </a:cubicBezTo>
                <a:cubicBezTo>
                  <a:pt x="34816" y="124264"/>
                  <a:pt x="37293" y="126245"/>
                  <a:pt x="39699" y="129500"/>
                </a:cubicBezTo>
                <a:lnTo>
                  <a:pt x="46634" y="142097"/>
                </a:lnTo>
                <a:cubicBezTo>
                  <a:pt x="49996" y="149138"/>
                  <a:pt x="61884" y="159222"/>
                  <a:pt x="61141" y="166475"/>
                </a:cubicBezTo>
                <a:close/>
                <a:moveTo>
                  <a:pt x="60646" y="157311"/>
                </a:moveTo>
                <a:cubicBezTo>
                  <a:pt x="59195" y="154976"/>
                  <a:pt x="57249" y="152499"/>
                  <a:pt x="55551" y="150376"/>
                </a:cubicBezTo>
                <a:cubicBezTo>
                  <a:pt x="58063" y="150376"/>
                  <a:pt x="60575" y="149598"/>
                  <a:pt x="61460" y="147227"/>
                </a:cubicBezTo>
                <a:cubicBezTo>
                  <a:pt x="62273" y="145033"/>
                  <a:pt x="61460" y="141955"/>
                  <a:pt x="58841" y="138417"/>
                </a:cubicBezTo>
                <a:cubicBezTo>
                  <a:pt x="54065" y="131977"/>
                  <a:pt x="45290" y="126917"/>
                  <a:pt x="45290" y="126917"/>
                </a:cubicBezTo>
                <a:cubicBezTo>
                  <a:pt x="40513" y="123945"/>
                  <a:pt x="37824" y="120301"/>
                  <a:pt x="36586" y="116338"/>
                </a:cubicBezTo>
                <a:cubicBezTo>
                  <a:pt x="35347" y="112375"/>
                  <a:pt x="35524" y="108094"/>
                  <a:pt x="36479" y="103883"/>
                </a:cubicBezTo>
                <a:cubicBezTo>
                  <a:pt x="38319" y="95781"/>
                  <a:pt x="43061" y="87890"/>
                  <a:pt x="46104" y="82937"/>
                </a:cubicBezTo>
                <a:cubicBezTo>
                  <a:pt x="46917" y="82335"/>
                  <a:pt x="46387" y="84069"/>
                  <a:pt x="43025" y="90296"/>
                </a:cubicBezTo>
                <a:cubicBezTo>
                  <a:pt x="40018" y="95993"/>
                  <a:pt x="34392" y="109155"/>
                  <a:pt x="42105" y="119452"/>
                </a:cubicBezTo>
                <a:cubicBezTo>
                  <a:pt x="42318" y="112128"/>
                  <a:pt x="44051" y="104662"/>
                  <a:pt x="46988" y="97691"/>
                </a:cubicBezTo>
                <a:cubicBezTo>
                  <a:pt x="51234" y="87997"/>
                  <a:pt x="60186" y="71190"/>
                  <a:pt x="60893" y="57815"/>
                </a:cubicBezTo>
                <a:cubicBezTo>
                  <a:pt x="61283" y="58098"/>
                  <a:pt x="62521" y="58947"/>
                  <a:pt x="63087" y="59266"/>
                </a:cubicBezTo>
                <a:cubicBezTo>
                  <a:pt x="64715" y="60221"/>
                  <a:pt x="65953" y="61637"/>
                  <a:pt x="67545" y="62910"/>
                </a:cubicBezTo>
                <a:cubicBezTo>
                  <a:pt x="71933" y="66449"/>
                  <a:pt x="77629" y="66165"/>
                  <a:pt x="82548" y="63335"/>
                </a:cubicBezTo>
                <a:cubicBezTo>
                  <a:pt x="84741" y="62096"/>
                  <a:pt x="86510" y="60681"/>
                  <a:pt x="88173" y="60150"/>
                </a:cubicBezTo>
                <a:cubicBezTo>
                  <a:pt x="91676" y="59054"/>
                  <a:pt x="94472" y="57108"/>
                  <a:pt x="96064" y="54843"/>
                </a:cubicBezTo>
                <a:cubicBezTo>
                  <a:pt x="98788" y="65599"/>
                  <a:pt x="105157" y="81132"/>
                  <a:pt x="109226" y="88704"/>
                </a:cubicBezTo>
                <a:cubicBezTo>
                  <a:pt x="111384" y="92738"/>
                  <a:pt x="115701" y="101265"/>
                  <a:pt x="117576" y="111561"/>
                </a:cubicBezTo>
                <a:cubicBezTo>
                  <a:pt x="118744" y="111526"/>
                  <a:pt x="120053" y="111703"/>
                  <a:pt x="121433" y="112057"/>
                </a:cubicBezTo>
                <a:cubicBezTo>
                  <a:pt x="126316" y="99425"/>
                  <a:pt x="117293" y="85803"/>
                  <a:pt x="113189" y="82017"/>
                </a:cubicBezTo>
                <a:cubicBezTo>
                  <a:pt x="111526" y="80389"/>
                  <a:pt x="111455" y="79682"/>
                  <a:pt x="112269" y="79717"/>
                </a:cubicBezTo>
                <a:cubicBezTo>
                  <a:pt x="116727" y="83680"/>
                  <a:pt x="122601" y="91641"/>
                  <a:pt x="124724" y="100593"/>
                </a:cubicBezTo>
                <a:cubicBezTo>
                  <a:pt x="125714" y="104697"/>
                  <a:pt x="125891" y="108978"/>
                  <a:pt x="124865" y="113224"/>
                </a:cubicBezTo>
                <a:cubicBezTo>
                  <a:pt x="130668" y="115630"/>
                  <a:pt x="137568" y="119558"/>
                  <a:pt x="135728" y="125538"/>
                </a:cubicBezTo>
                <a:cubicBezTo>
                  <a:pt x="134949" y="125502"/>
                  <a:pt x="134595" y="125538"/>
                  <a:pt x="134242" y="125538"/>
                </a:cubicBezTo>
                <a:cubicBezTo>
                  <a:pt x="135374" y="121964"/>
                  <a:pt x="132862" y="119310"/>
                  <a:pt x="126174" y="116303"/>
                </a:cubicBezTo>
                <a:cubicBezTo>
                  <a:pt x="119239" y="113260"/>
                  <a:pt x="113437" y="113260"/>
                  <a:pt x="112623" y="120725"/>
                </a:cubicBezTo>
                <a:cubicBezTo>
                  <a:pt x="108342" y="122212"/>
                  <a:pt x="106148" y="125927"/>
                  <a:pt x="105051" y="130385"/>
                </a:cubicBezTo>
                <a:cubicBezTo>
                  <a:pt x="104060" y="134348"/>
                  <a:pt x="103777" y="139124"/>
                  <a:pt x="103494" y="144503"/>
                </a:cubicBezTo>
                <a:cubicBezTo>
                  <a:pt x="103317" y="147227"/>
                  <a:pt x="102220" y="150871"/>
                  <a:pt x="101088" y="154764"/>
                </a:cubicBezTo>
                <a:cubicBezTo>
                  <a:pt x="89730" y="162866"/>
                  <a:pt x="73950" y="166404"/>
                  <a:pt x="60646" y="157311"/>
                </a:cubicBezTo>
                <a:close/>
                <a:moveTo>
                  <a:pt x="151721" y="153242"/>
                </a:moveTo>
                <a:cubicBezTo>
                  <a:pt x="151402" y="159186"/>
                  <a:pt x="137143" y="160283"/>
                  <a:pt x="129359" y="169695"/>
                </a:cubicBezTo>
                <a:cubicBezTo>
                  <a:pt x="124688" y="175250"/>
                  <a:pt x="118956" y="178328"/>
                  <a:pt x="113932" y="178718"/>
                </a:cubicBezTo>
                <a:cubicBezTo>
                  <a:pt x="108908" y="179107"/>
                  <a:pt x="104556" y="177019"/>
                  <a:pt x="102008" y="171889"/>
                </a:cubicBezTo>
                <a:cubicBezTo>
                  <a:pt x="100345" y="167961"/>
                  <a:pt x="101159" y="163715"/>
                  <a:pt x="102397" y="159045"/>
                </a:cubicBezTo>
                <a:cubicBezTo>
                  <a:pt x="103706" y="154021"/>
                  <a:pt x="105652" y="148855"/>
                  <a:pt x="105900" y="144680"/>
                </a:cubicBezTo>
                <a:cubicBezTo>
                  <a:pt x="106183" y="139301"/>
                  <a:pt x="106502" y="134595"/>
                  <a:pt x="107386" y="130986"/>
                </a:cubicBezTo>
                <a:cubicBezTo>
                  <a:pt x="108306" y="127342"/>
                  <a:pt x="109721" y="124901"/>
                  <a:pt x="112234" y="123521"/>
                </a:cubicBezTo>
                <a:cubicBezTo>
                  <a:pt x="112340" y="123450"/>
                  <a:pt x="112481" y="123415"/>
                  <a:pt x="112587" y="123344"/>
                </a:cubicBezTo>
                <a:cubicBezTo>
                  <a:pt x="112871" y="128014"/>
                  <a:pt x="115170" y="132756"/>
                  <a:pt x="119239" y="133782"/>
                </a:cubicBezTo>
                <a:cubicBezTo>
                  <a:pt x="123698" y="134949"/>
                  <a:pt x="130102" y="131128"/>
                  <a:pt x="132826" y="128014"/>
                </a:cubicBezTo>
                <a:cubicBezTo>
                  <a:pt x="136011" y="127908"/>
                  <a:pt x="138381" y="127696"/>
                  <a:pt x="140823" y="129819"/>
                </a:cubicBezTo>
                <a:cubicBezTo>
                  <a:pt x="144326" y="132826"/>
                  <a:pt x="143335" y="140540"/>
                  <a:pt x="146873" y="144538"/>
                </a:cubicBezTo>
                <a:cubicBezTo>
                  <a:pt x="150624" y="148642"/>
                  <a:pt x="151827" y="151438"/>
                  <a:pt x="151721" y="153242"/>
                </a:cubicBezTo>
                <a:close/>
                <a:moveTo>
                  <a:pt x="61353" y="52614"/>
                </a:moveTo>
                <a:cubicBezTo>
                  <a:pt x="62061" y="53286"/>
                  <a:pt x="63016" y="54206"/>
                  <a:pt x="64184" y="55126"/>
                </a:cubicBezTo>
                <a:cubicBezTo>
                  <a:pt x="66519" y="56966"/>
                  <a:pt x="69775" y="58877"/>
                  <a:pt x="73844" y="58877"/>
                </a:cubicBezTo>
                <a:cubicBezTo>
                  <a:pt x="77948" y="58877"/>
                  <a:pt x="81805" y="56789"/>
                  <a:pt x="85095" y="55055"/>
                </a:cubicBezTo>
                <a:cubicBezTo>
                  <a:pt x="86829" y="54135"/>
                  <a:pt x="88952" y="52579"/>
                  <a:pt x="90332" y="51376"/>
                </a:cubicBezTo>
                <a:cubicBezTo>
                  <a:pt x="91712" y="50173"/>
                  <a:pt x="92419" y="49146"/>
                  <a:pt x="91429" y="49040"/>
                </a:cubicBezTo>
                <a:cubicBezTo>
                  <a:pt x="90438" y="48934"/>
                  <a:pt x="90509" y="49960"/>
                  <a:pt x="89306" y="50845"/>
                </a:cubicBezTo>
                <a:cubicBezTo>
                  <a:pt x="87749" y="51977"/>
                  <a:pt x="85874" y="53463"/>
                  <a:pt x="84388" y="54312"/>
                </a:cubicBezTo>
                <a:cubicBezTo>
                  <a:pt x="81769" y="55798"/>
                  <a:pt x="77488" y="57921"/>
                  <a:pt x="73808" y="57921"/>
                </a:cubicBezTo>
                <a:cubicBezTo>
                  <a:pt x="70128" y="57921"/>
                  <a:pt x="67192" y="56223"/>
                  <a:pt x="64998" y="54489"/>
                </a:cubicBezTo>
                <a:cubicBezTo>
                  <a:pt x="63901" y="53605"/>
                  <a:pt x="62981" y="52720"/>
                  <a:pt x="62273" y="52048"/>
                </a:cubicBezTo>
                <a:cubicBezTo>
                  <a:pt x="61743" y="51552"/>
                  <a:pt x="61601" y="50420"/>
                  <a:pt x="60752" y="50314"/>
                </a:cubicBezTo>
                <a:cubicBezTo>
                  <a:pt x="60257" y="50279"/>
                  <a:pt x="60115" y="51623"/>
                  <a:pt x="61353" y="52614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5" name="Text 43"/>
          <p:cNvSpPr/>
          <p:nvPr/>
        </p:nvSpPr>
        <p:spPr>
          <a:xfrm>
            <a:off x="6863510" y="3914545"/>
            <a:ext cx="1802532" cy="28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2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 Linux &amp; uv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63510" y="4204399"/>
            <a:ext cx="1757242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 Environment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20033" y="4494253"/>
            <a:ext cx="5425712" cy="48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</a:t>
            </a:r>
            <a:pPr>
              <a:lnSpc>
                <a:spcPct val="140000"/>
              </a:lnSpc>
            </a:pPr>
            <a:r>
              <a:rPr lang="en-US" sz="114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Hyprland setup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</a:t>
            </a:r>
            <a:pPr>
              <a:lnSpc>
                <a:spcPct val="140000"/>
              </a:lnSpc>
            </a:pPr>
            <a:r>
              <a:rPr lang="en-US" sz="114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ultra-fast, isolated Python dependency management.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3807" y="5089059"/>
            <a:ext cx="5351738" cy="1094502"/>
          </a:xfrm>
          <a:custGeom>
            <a:avLst/>
            <a:gdLst/>
            <a:ahLst/>
            <a:cxnLst/>
            <a:rect l="l" t="t" r="r" b="b"/>
            <a:pathLst>
              <a:path w="5351738" h="1094502">
                <a:moveTo>
                  <a:pt x="72467" y="0"/>
                </a:moveTo>
                <a:lnTo>
                  <a:pt x="5279271" y="0"/>
                </a:lnTo>
                <a:cubicBezTo>
                  <a:pt x="5319294" y="0"/>
                  <a:pt x="5351738" y="32445"/>
                  <a:pt x="5351738" y="72467"/>
                </a:cubicBezTo>
                <a:lnTo>
                  <a:pt x="5351738" y="1022035"/>
                </a:lnTo>
                <a:cubicBezTo>
                  <a:pt x="5351738" y="1062058"/>
                  <a:pt x="5319294" y="1094502"/>
                  <a:pt x="5279271" y="1094502"/>
                </a:cubicBezTo>
                <a:lnTo>
                  <a:pt x="72467" y="1094502"/>
                </a:lnTo>
                <a:cubicBezTo>
                  <a:pt x="32445" y="1094502"/>
                  <a:pt x="0" y="1062058"/>
                  <a:pt x="0" y="1022035"/>
                </a:cubicBezTo>
                <a:lnTo>
                  <a:pt x="0" y="72467"/>
                </a:lnTo>
                <a:cubicBezTo>
                  <a:pt x="0" y="32471"/>
                  <a:pt x="32471" y="0"/>
                  <a:pt x="7246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54393" y="5232476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>
                <a:moveTo>
                  <a:pt x="63406" y="126811"/>
                </a:moveTo>
                <a:cubicBezTo>
                  <a:pt x="98400" y="126811"/>
                  <a:pt x="126811" y="98400"/>
                  <a:pt x="126811" y="63406"/>
                </a:cubicBezTo>
                <a:cubicBezTo>
                  <a:pt x="126811" y="28411"/>
                  <a:pt x="98400" y="0"/>
                  <a:pt x="63406" y="0"/>
                </a:cubicBezTo>
                <a:cubicBezTo>
                  <a:pt x="28411" y="0"/>
                  <a:pt x="0" y="28411"/>
                  <a:pt x="0" y="63406"/>
                </a:cubicBezTo>
                <a:cubicBezTo>
                  <a:pt x="0" y="98400"/>
                  <a:pt x="28411" y="126811"/>
                  <a:pt x="63406" y="126811"/>
                </a:cubicBezTo>
                <a:close/>
                <a:moveTo>
                  <a:pt x="84310" y="52681"/>
                </a:moveTo>
                <a:lnTo>
                  <a:pt x="64495" y="84384"/>
                </a:lnTo>
                <a:cubicBezTo>
                  <a:pt x="63455" y="86043"/>
                  <a:pt x="61672" y="87084"/>
                  <a:pt x="59715" y="87183"/>
                </a:cubicBezTo>
                <a:cubicBezTo>
                  <a:pt x="57759" y="87282"/>
                  <a:pt x="55876" y="86390"/>
                  <a:pt x="54712" y="84805"/>
                </a:cubicBezTo>
                <a:lnTo>
                  <a:pt x="42824" y="68954"/>
                </a:lnTo>
                <a:cubicBezTo>
                  <a:pt x="40842" y="66328"/>
                  <a:pt x="41387" y="62613"/>
                  <a:pt x="44012" y="60632"/>
                </a:cubicBezTo>
                <a:cubicBezTo>
                  <a:pt x="46638" y="58650"/>
                  <a:pt x="50353" y="59195"/>
                  <a:pt x="52334" y="61821"/>
                </a:cubicBezTo>
                <a:lnTo>
                  <a:pt x="59022" y="70737"/>
                </a:lnTo>
                <a:lnTo>
                  <a:pt x="74229" y="46390"/>
                </a:lnTo>
                <a:cubicBezTo>
                  <a:pt x="75963" y="43616"/>
                  <a:pt x="79629" y="42749"/>
                  <a:pt x="82427" y="44508"/>
                </a:cubicBezTo>
                <a:cubicBezTo>
                  <a:pt x="85226" y="46266"/>
                  <a:pt x="86068" y="49907"/>
                  <a:pt x="84310" y="52706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0" name="Text 48"/>
          <p:cNvSpPr/>
          <p:nvPr/>
        </p:nvSpPr>
        <p:spPr>
          <a:xfrm>
            <a:off x="6651003" y="5201527"/>
            <a:ext cx="4975479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36277" y="5455150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Sub-second environment creation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36277" y="5672541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PyTorch 2.6 + CUDA 12.4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36277" y="5889932"/>
            <a:ext cx="5190205" cy="18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Reproducible builds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20000"/>
                </a:srgbClr>
              </a:gs>
              <a:gs pos="100000">
                <a:srgbClr val="D2A8FF">
                  <a:alpha val="20000"/>
                </a:srgbClr>
              </a:gs>
            </a:gsLst>
            <a:lin ang="2700000" scaled="1"/>
          </a:gra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715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Target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725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Understanding the Bottleneck: RMSNorm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5627687" cy="2465387"/>
          </a:xfrm>
          <a:custGeom>
            <a:avLst/>
            <a:gdLst/>
            <a:ahLst/>
            <a:cxnLst/>
            <a:rect l="l" t="t" r="r" b="b"/>
            <a:pathLst>
              <a:path w="5627687" h="2465387">
                <a:moveTo>
                  <a:pt x="114295" y="0"/>
                </a:moveTo>
                <a:lnTo>
                  <a:pt x="5513392" y="0"/>
                </a:lnTo>
                <a:cubicBezTo>
                  <a:pt x="5576516" y="0"/>
                  <a:pt x="5627687" y="51172"/>
                  <a:pt x="5627687" y="114295"/>
                </a:cubicBezTo>
                <a:lnTo>
                  <a:pt x="5627687" y="2351092"/>
                </a:lnTo>
                <a:cubicBezTo>
                  <a:pt x="5627687" y="2414216"/>
                  <a:pt x="5576516" y="2465387"/>
                  <a:pt x="5513392" y="2465387"/>
                </a:cubicBezTo>
                <a:lnTo>
                  <a:pt x="114295" y="2465387"/>
                </a:lnTo>
                <a:cubicBezTo>
                  <a:pt x="51172" y="2465387"/>
                  <a:pt x="0" y="2414216"/>
                  <a:pt x="0" y="2351092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150" y="13033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79462" y="1265237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Operation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1337" y="1646237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RMSNorm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(Root Mean Square Normalization) is a normalization layer applied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8A6FF"/>
                </a:solidFill>
                <a:highlight>
                  <a:srgbClr val="58A6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every attention block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transformer architecture.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5306" y="2259805"/>
            <a:ext cx="5313362" cy="1150937"/>
          </a:xfrm>
          <a:custGeom>
            <a:avLst/>
            <a:gdLst/>
            <a:ahLst/>
            <a:cxnLst/>
            <a:rect l="l" t="t" r="r" b="b"/>
            <a:pathLst>
              <a:path w="5313362" h="1150937">
                <a:moveTo>
                  <a:pt x="76204" y="0"/>
                </a:moveTo>
                <a:lnTo>
                  <a:pt x="5237159" y="0"/>
                </a:lnTo>
                <a:cubicBezTo>
                  <a:pt x="5279245" y="0"/>
                  <a:pt x="5313362" y="34118"/>
                  <a:pt x="5313362" y="76204"/>
                </a:cubicBezTo>
                <a:lnTo>
                  <a:pt x="5313362" y="1074734"/>
                </a:lnTo>
                <a:cubicBezTo>
                  <a:pt x="5313362" y="1116820"/>
                  <a:pt x="5279245" y="1150937"/>
                  <a:pt x="5237159" y="1150937"/>
                </a:cubicBezTo>
                <a:lnTo>
                  <a:pt x="76204" y="1150937"/>
                </a:lnTo>
                <a:cubicBezTo>
                  <a:pt x="34118" y="1150937"/>
                  <a:pt x="0" y="1116820"/>
                  <a:pt x="0" y="107473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575" y="2378076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Pragna-1B: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3575" y="2644776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Applied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times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forward pass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3575" y="2873376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Processes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2,048 hidden dimensions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3575" y="3101976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Critical path for inference latency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969" y="3693318"/>
            <a:ext cx="5627687" cy="2579687"/>
          </a:xfrm>
          <a:custGeom>
            <a:avLst/>
            <a:gdLst/>
            <a:ahLst/>
            <a:cxnLst/>
            <a:rect l="l" t="t" r="r" b="b"/>
            <a:pathLst>
              <a:path w="5627687" h="2579687">
                <a:moveTo>
                  <a:pt x="114306" y="0"/>
                </a:moveTo>
                <a:lnTo>
                  <a:pt x="5513382" y="0"/>
                </a:lnTo>
                <a:cubicBezTo>
                  <a:pt x="5576511" y="0"/>
                  <a:pt x="5627687" y="51177"/>
                  <a:pt x="5627687" y="114306"/>
                </a:cubicBezTo>
                <a:lnTo>
                  <a:pt x="5627687" y="2465382"/>
                </a:lnTo>
                <a:cubicBezTo>
                  <a:pt x="5627687" y="2528511"/>
                  <a:pt x="5576511" y="2579687"/>
                  <a:pt x="5513382" y="2579687"/>
                </a:cubicBezTo>
                <a:lnTo>
                  <a:pt x="114306" y="2579687"/>
                </a:lnTo>
                <a:cubicBezTo>
                  <a:pt x="51177" y="2579687"/>
                  <a:pt x="0" y="2528511"/>
                  <a:pt x="0" y="2465382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5150" y="38877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779462" y="3849688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It's Memory Bound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37" y="4230688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GPU spends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B72"/>
                </a:solidFill>
                <a:highlight>
                  <a:srgbClr val="FF7B7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time moving data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(reading X, writing Y) than performing actual mathematical computations.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5306" y="4844257"/>
            <a:ext cx="5313362" cy="1265237"/>
          </a:xfrm>
          <a:custGeom>
            <a:avLst/>
            <a:gdLst/>
            <a:ahLst/>
            <a:cxnLst/>
            <a:rect l="l" t="t" r="r" b="b"/>
            <a:pathLst>
              <a:path w="5313362" h="1265237">
                <a:moveTo>
                  <a:pt x="76205" y="0"/>
                </a:moveTo>
                <a:lnTo>
                  <a:pt x="5237157" y="0"/>
                </a:lnTo>
                <a:cubicBezTo>
                  <a:pt x="5279244" y="0"/>
                  <a:pt x="5313362" y="34118"/>
                  <a:pt x="5313362" y="76205"/>
                </a:cubicBezTo>
                <a:lnTo>
                  <a:pt x="5313362" y="1189032"/>
                </a:lnTo>
                <a:cubicBezTo>
                  <a:pt x="5313362" y="1231119"/>
                  <a:pt x="5279244" y="1265237"/>
                  <a:pt x="5237157" y="1265237"/>
                </a:cubicBezTo>
                <a:lnTo>
                  <a:pt x="76205" y="1265237"/>
                </a:lnTo>
                <a:cubicBezTo>
                  <a:pt x="34118" y="1265237"/>
                  <a:pt x="0" y="1231119"/>
                  <a:pt x="0" y="1189032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575" y="500062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Operations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88280" y="4962525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~85%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3575" y="5305425"/>
            <a:ext cx="5076825" cy="114300"/>
          </a:xfrm>
          <a:custGeom>
            <a:avLst/>
            <a:gdLst/>
            <a:ahLst/>
            <a:cxnLst/>
            <a:rect l="l" t="t" r="r" b="b"/>
            <a:pathLst>
              <a:path w="5076825" h="114300">
                <a:moveTo>
                  <a:pt x="57150" y="0"/>
                </a:moveTo>
                <a:lnTo>
                  <a:pt x="5019675" y="0"/>
                </a:lnTo>
                <a:cubicBezTo>
                  <a:pt x="5051217" y="0"/>
                  <a:pt x="5076825" y="25608"/>
                  <a:pt x="5076825" y="57150"/>
                </a:cubicBezTo>
                <a:lnTo>
                  <a:pt x="5076825" y="57150"/>
                </a:lnTo>
                <a:cubicBezTo>
                  <a:pt x="5076825" y="88692"/>
                  <a:pt x="5051217" y="114300"/>
                  <a:pt x="5019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63575" y="5305425"/>
            <a:ext cx="4314825" cy="114300"/>
          </a:xfrm>
          <a:custGeom>
            <a:avLst/>
            <a:gdLst/>
            <a:ahLst/>
            <a:cxnLst/>
            <a:rect l="l" t="t" r="r" b="b"/>
            <a:pathLst>
              <a:path w="4314825" h="114300">
                <a:moveTo>
                  <a:pt x="57150" y="0"/>
                </a:moveTo>
                <a:lnTo>
                  <a:pt x="4257675" y="0"/>
                </a:lnTo>
                <a:cubicBezTo>
                  <a:pt x="4289217" y="0"/>
                  <a:pt x="4314825" y="25608"/>
                  <a:pt x="4314825" y="57150"/>
                </a:cubicBezTo>
                <a:lnTo>
                  <a:pt x="4314825" y="57150"/>
                </a:lnTo>
                <a:cubicBezTo>
                  <a:pt x="4314825" y="88692"/>
                  <a:pt x="4289217" y="114300"/>
                  <a:pt x="4257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24" name="Text 22"/>
          <p:cNvSpPr/>
          <p:nvPr/>
        </p:nvSpPr>
        <p:spPr>
          <a:xfrm>
            <a:off x="663575" y="557212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Operations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8280" y="5534025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~15%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3575" y="5876925"/>
            <a:ext cx="5076825" cy="114300"/>
          </a:xfrm>
          <a:custGeom>
            <a:avLst/>
            <a:gdLst/>
            <a:ahLst/>
            <a:cxnLst/>
            <a:rect l="l" t="t" r="r" b="b"/>
            <a:pathLst>
              <a:path w="5076825" h="114300">
                <a:moveTo>
                  <a:pt x="57150" y="0"/>
                </a:moveTo>
                <a:lnTo>
                  <a:pt x="5019675" y="0"/>
                </a:lnTo>
                <a:cubicBezTo>
                  <a:pt x="5051217" y="0"/>
                  <a:pt x="5076825" y="25608"/>
                  <a:pt x="5076825" y="57150"/>
                </a:cubicBezTo>
                <a:lnTo>
                  <a:pt x="5076825" y="57150"/>
                </a:lnTo>
                <a:cubicBezTo>
                  <a:pt x="5076825" y="88692"/>
                  <a:pt x="5051217" y="114300"/>
                  <a:pt x="5019675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63575" y="5876925"/>
            <a:ext cx="762000" cy="114300"/>
          </a:xfrm>
          <a:custGeom>
            <a:avLst/>
            <a:gdLst/>
            <a:ahLst/>
            <a:cxnLst/>
            <a:rect l="l" t="t" r="r" b="b"/>
            <a:pathLst>
              <a:path w="762000" h="114300">
                <a:moveTo>
                  <a:pt x="57150" y="0"/>
                </a:moveTo>
                <a:lnTo>
                  <a:pt x="704850" y="0"/>
                </a:lnTo>
                <a:cubicBezTo>
                  <a:pt x="736392" y="0"/>
                  <a:pt x="762000" y="25608"/>
                  <a:pt x="762000" y="57150"/>
                </a:cubicBezTo>
                <a:lnTo>
                  <a:pt x="762000" y="57150"/>
                </a:lnTo>
                <a:cubicBezTo>
                  <a:pt x="762000" y="88692"/>
                  <a:pt x="736392" y="114300"/>
                  <a:pt x="7048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8" name="Shape 26"/>
          <p:cNvSpPr/>
          <p:nvPr/>
        </p:nvSpPr>
        <p:spPr>
          <a:xfrm>
            <a:off x="6176169" y="1108869"/>
            <a:ext cx="5627687" cy="2493962"/>
          </a:xfrm>
          <a:custGeom>
            <a:avLst/>
            <a:gdLst/>
            <a:ahLst/>
            <a:cxnLst/>
            <a:rect l="l" t="t" r="r" b="b"/>
            <a:pathLst>
              <a:path w="5627687" h="2493962">
                <a:moveTo>
                  <a:pt x="114298" y="0"/>
                </a:moveTo>
                <a:lnTo>
                  <a:pt x="5513389" y="0"/>
                </a:lnTo>
                <a:cubicBezTo>
                  <a:pt x="5576514" y="0"/>
                  <a:pt x="5627687" y="51173"/>
                  <a:pt x="5627687" y="114298"/>
                </a:cubicBezTo>
                <a:lnTo>
                  <a:pt x="5627687" y="2379664"/>
                </a:lnTo>
                <a:cubicBezTo>
                  <a:pt x="5627687" y="2442789"/>
                  <a:pt x="5576514" y="2493962"/>
                  <a:pt x="5513389" y="2493962"/>
                </a:cubicBezTo>
                <a:lnTo>
                  <a:pt x="114298" y="2493962"/>
                </a:lnTo>
                <a:cubicBezTo>
                  <a:pt x="51173" y="2493962"/>
                  <a:pt x="0" y="2442789"/>
                  <a:pt x="0" y="2379664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4444" y="13033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5147" y="29059"/>
                </a:moveTo>
                <a:cubicBezTo>
                  <a:pt x="108124" y="18901"/>
                  <a:pt x="117425" y="11906"/>
                  <a:pt x="127992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27992" y="35719"/>
                </a:lnTo>
                <a:lnTo>
                  <a:pt x="88813" y="170036"/>
                </a:lnTo>
                <a:cubicBezTo>
                  <a:pt x="87474" y="174613"/>
                  <a:pt x="83567" y="177924"/>
                  <a:pt x="78842" y="178519"/>
                </a:cubicBezTo>
                <a:cubicBezTo>
                  <a:pt x="74116" y="179115"/>
                  <a:pt x="69503" y="176808"/>
                  <a:pt x="67121" y="172715"/>
                </a:cubicBezTo>
                <a:lnTo>
                  <a:pt x="28873" y="107156"/>
                </a:ln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8873" y="83344"/>
                </a:lnTo>
                <a:cubicBezTo>
                  <a:pt x="37356" y="83344"/>
                  <a:pt x="45169" y="87846"/>
                  <a:pt x="49448" y="95176"/>
                </a:cubicBezTo>
                <a:lnTo>
                  <a:pt x="73707" y="136773"/>
                </a:lnTo>
                <a:lnTo>
                  <a:pt x="105110" y="29059"/>
                </a:lnTo>
                <a:close/>
                <a:moveTo>
                  <a:pt x="146372" y="86841"/>
                </a:moveTo>
                <a:cubicBezTo>
                  <a:pt x="151023" y="82190"/>
                  <a:pt x="158576" y="82190"/>
                  <a:pt x="163227" y="86841"/>
                </a:cubicBezTo>
                <a:lnTo>
                  <a:pt x="178631" y="102245"/>
                </a:lnTo>
                <a:lnTo>
                  <a:pt x="194035" y="86841"/>
                </a:lnTo>
                <a:cubicBezTo>
                  <a:pt x="198686" y="82190"/>
                  <a:pt x="206239" y="82190"/>
                  <a:pt x="210889" y="86841"/>
                </a:cubicBezTo>
                <a:cubicBezTo>
                  <a:pt x="215540" y="91492"/>
                  <a:pt x="215540" y="99045"/>
                  <a:pt x="210889" y="103696"/>
                </a:cubicBezTo>
                <a:lnTo>
                  <a:pt x="195486" y="119100"/>
                </a:lnTo>
                <a:lnTo>
                  <a:pt x="210889" y="134503"/>
                </a:lnTo>
                <a:cubicBezTo>
                  <a:pt x="215540" y="139154"/>
                  <a:pt x="215540" y="146707"/>
                  <a:pt x="210889" y="151358"/>
                </a:cubicBezTo>
                <a:cubicBezTo>
                  <a:pt x="206239" y="156009"/>
                  <a:pt x="198686" y="156009"/>
                  <a:pt x="194035" y="151358"/>
                </a:cubicBezTo>
                <a:lnTo>
                  <a:pt x="178631" y="135954"/>
                </a:lnTo>
                <a:lnTo>
                  <a:pt x="163227" y="151358"/>
                </a:lnTo>
                <a:cubicBezTo>
                  <a:pt x="158576" y="156009"/>
                  <a:pt x="151023" y="156009"/>
                  <a:pt x="146372" y="151358"/>
                </a:cubicBezTo>
                <a:cubicBezTo>
                  <a:pt x="141722" y="146707"/>
                  <a:pt x="141722" y="139154"/>
                  <a:pt x="146372" y="134503"/>
                </a:cubicBezTo>
                <a:lnTo>
                  <a:pt x="161776" y="119100"/>
                </a:lnTo>
                <a:lnTo>
                  <a:pt x="146372" y="103696"/>
                </a:lnTo>
                <a:cubicBezTo>
                  <a:pt x="141722" y="99045"/>
                  <a:pt x="141722" y="91492"/>
                  <a:pt x="146372" y="86841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70662" y="1265237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Mathematics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6506" y="1650205"/>
            <a:ext cx="5313362" cy="1169987"/>
          </a:xfrm>
          <a:custGeom>
            <a:avLst/>
            <a:gdLst/>
            <a:ahLst/>
            <a:cxnLst/>
            <a:rect l="l" t="t" r="r" b="b"/>
            <a:pathLst>
              <a:path w="5313362" h="1169987">
                <a:moveTo>
                  <a:pt x="76201" y="0"/>
                </a:moveTo>
                <a:lnTo>
                  <a:pt x="5237161" y="0"/>
                </a:lnTo>
                <a:cubicBezTo>
                  <a:pt x="5279246" y="0"/>
                  <a:pt x="5313362" y="34116"/>
                  <a:pt x="5313362" y="76201"/>
                </a:cubicBezTo>
                <a:lnTo>
                  <a:pt x="5313362" y="1093786"/>
                </a:lnTo>
                <a:cubicBezTo>
                  <a:pt x="5313362" y="1135871"/>
                  <a:pt x="5279246" y="1169987"/>
                  <a:pt x="5237161" y="1169987"/>
                </a:cubicBezTo>
                <a:lnTo>
                  <a:pt x="76201" y="1169987"/>
                </a:lnTo>
                <a:cubicBezTo>
                  <a:pt x="34145" y="1169987"/>
                  <a:pt x="0" y="1135843"/>
                  <a:pt x="0" y="1093786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5250" y="1806576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RMSNorm Formula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96844" y="2153445"/>
            <a:ext cx="4989512" cy="503237"/>
          </a:xfrm>
          <a:custGeom>
            <a:avLst/>
            <a:gdLst/>
            <a:ahLst/>
            <a:cxnLst/>
            <a:rect l="l" t="t" r="r" b="b"/>
            <a:pathLst>
              <a:path w="4989512" h="503237">
                <a:moveTo>
                  <a:pt x="76200" y="0"/>
                </a:moveTo>
                <a:lnTo>
                  <a:pt x="4913312" y="0"/>
                </a:lnTo>
                <a:cubicBezTo>
                  <a:pt x="4955396" y="0"/>
                  <a:pt x="4989512" y="34116"/>
                  <a:pt x="4989512" y="76200"/>
                </a:cubicBezTo>
                <a:lnTo>
                  <a:pt x="4989512" y="427037"/>
                </a:lnTo>
                <a:cubicBezTo>
                  <a:pt x="4989512" y="469121"/>
                  <a:pt x="4955396" y="503237"/>
                  <a:pt x="4913312" y="503237"/>
                </a:cubicBezTo>
                <a:lnTo>
                  <a:pt x="76200" y="503237"/>
                </a:lnTo>
                <a:cubicBezTo>
                  <a:pt x="34116" y="503237"/>
                  <a:pt x="0" y="469121"/>
                  <a:pt x="0" y="427037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2250" y="2271713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 = 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 √(mean(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x²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 + ε) × γ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6506" y="2939257"/>
            <a:ext cx="1712912" cy="503237"/>
          </a:xfrm>
          <a:custGeom>
            <a:avLst/>
            <a:gdLst/>
            <a:ahLst/>
            <a:cxnLst/>
            <a:rect l="l" t="t" r="r" b="b"/>
            <a:pathLst>
              <a:path w="1712912" h="503237">
                <a:moveTo>
                  <a:pt x="76200" y="0"/>
                </a:moveTo>
                <a:lnTo>
                  <a:pt x="1636712" y="0"/>
                </a:lnTo>
                <a:cubicBezTo>
                  <a:pt x="1678796" y="0"/>
                  <a:pt x="1712912" y="34116"/>
                  <a:pt x="1712912" y="76200"/>
                </a:cubicBezTo>
                <a:lnTo>
                  <a:pt x="1712912" y="427037"/>
                </a:lnTo>
                <a:cubicBezTo>
                  <a:pt x="1712912" y="469121"/>
                  <a:pt x="1678796" y="503237"/>
                  <a:pt x="1636712" y="503237"/>
                </a:cubicBezTo>
                <a:lnTo>
                  <a:pt x="76200" y="503237"/>
                </a:lnTo>
                <a:cubicBezTo>
                  <a:pt x="34116" y="503237"/>
                  <a:pt x="0" y="469121"/>
                  <a:pt x="0" y="427037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3338" y="30194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8100" y="32099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tensor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34668" y="2939257"/>
            <a:ext cx="1712912" cy="503237"/>
          </a:xfrm>
          <a:custGeom>
            <a:avLst/>
            <a:gdLst/>
            <a:ahLst/>
            <a:cxnLst/>
            <a:rect l="l" t="t" r="r" b="b"/>
            <a:pathLst>
              <a:path w="1712912" h="503237">
                <a:moveTo>
                  <a:pt x="76200" y="0"/>
                </a:moveTo>
                <a:lnTo>
                  <a:pt x="1636712" y="0"/>
                </a:lnTo>
                <a:cubicBezTo>
                  <a:pt x="1678796" y="0"/>
                  <a:pt x="1712912" y="34116"/>
                  <a:pt x="1712912" y="76200"/>
                </a:cubicBezTo>
                <a:lnTo>
                  <a:pt x="1712912" y="427037"/>
                </a:lnTo>
                <a:cubicBezTo>
                  <a:pt x="1712912" y="469121"/>
                  <a:pt x="1678796" y="503237"/>
                  <a:pt x="1636712" y="503237"/>
                </a:cubicBezTo>
                <a:lnTo>
                  <a:pt x="76200" y="503237"/>
                </a:lnTo>
                <a:cubicBezTo>
                  <a:pt x="34116" y="503237"/>
                  <a:pt x="0" y="469121"/>
                  <a:pt x="0" y="427037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1499" y="30194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86261" y="32099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constant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32829" y="2939257"/>
            <a:ext cx="1712912" cy="503237"/>
          </a:xfrm>
          <a:custGeom>
            <a:avLst/>
            <a:gdLst/>
            <a:ahLst/>
            <a:cxnLst/>
            <a:rect l="l" t="t" r="r" b="b"/>
            <a:pathLst>
              <a:path w="1712912" h="503237">
                <a:moveTo>
                  <a:pt x="76200" y="0"/>
                </a:moveTo>
                <a:lnTo>
                  <a:pt x="1636712" y="0"/>
                </a:lnTo>
                <a:cubicBezTo>
                  <a:pt x="1678796" y="0"/>
                  <a:pt x="1712912" y="34116"/>
                  <a:pt x="1712912" y="76200"/>
                </a:cubicBezTo>
                <a:lnTo>
                  <a:pt x="1712912" y="427037"/>
                </a:lnTo>
                <a:cubicBezTo>
                  <a:pt x="1712912" y="469121"/>
                  <a:pt x="1678796" y="503237"/>
                  <a:pt x="1636712" y="503237"/>
                </a:cubicBezTo>
                <a:lnTo>
                  <a:pt x="76200" y="503237"/>
                </a:lnTo>
                <a:cubicBezTo>
                  <a:pt x="34116" y="503237"/>
                  <a:pt x="0" y="469121"/>
                  <a:pt x="0" y="427037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79661" y="30194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γ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84423" y="32099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Learnable scale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6169" y="3725070"/>
            <a:ext cx="5627687" cy="2465387"/>
          </a:xfrm>
          <a:custGeom>
            <a:avLst/>
            <a:gdLst/>
            <a:ahLst/>
            <a:cxnLst/>
            <a:rect l="l" t="t" r="r" b="b"/>
            <a:pathLst>
              <a:path w="5627687" h="2465387">
                <a:moveTo>
                  <a:pt x="114295" y="0"/>
                </a:moveTo>
                <a:lnTo>
                  <a:pt x="5513392" y="0"/>
                </a:lnTo>
                <a:cubicBezTo>
                  <a:pt x="5576516" y="0"/>
                  <a:pt x="5627687" y="51172"/>
                  <a:pt x="5627687" y="114295"/>
                </a:cubicBezTo>
                <a:lnTo>
                  <a:pt x="5627687" y="2351092"/>
                </a:lnTo>
                <a:cubicBezTo>
                  <a:pt x="5627687" y="2414216"/>
                  <a:pt x="5576516" y="2465387"/>
                  <a:pt x="5513392" y="2465387"/>
                </a:cubicBezTo>
                <a:lnTo>
                  <a:pt x="114295" y="2465387"/>
                </a:lnTo>
                <a:cubicBezTo>
                  <a:pt x="51172" y="2465387"/>
                  <a:pt x="0" y="2414216"/>
                  <a:pt x="0" y="2351092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6350" y="39195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6" name="Text 44"/>
          <p:cNvSpPr/>
          <p:nvPr/>
        </p:nvSpPr>
        <p:spPr>
          <a:xfrm>
            <a:off x="6570662" y="3881438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32537" y="4262438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Fusion: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read, compute, and write operations into 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8A6FF"/>
                </a:solidFill>
                <a:highlight>
                  <a:srgbClr val="58A6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GPU kernel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eliminate redundant VRAM round-trips.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6506" y="4876006"/>
            <a:ext cx="5313362" cy="1150937"/>
          </a:xfrm>
          <a:custGeom>
            <a:avLst/>
            <a:gdLst/>
            <a:ahLst/>
            <a:cxnLst/>
            <a:rect l="l" t="t" r="r" b="b"/>
            <a:pathLst>
              <a:path w="5313362" h="1150937">
                <a:moveTo>
                  <a:pt x="76204" y="0"/>
                </a:moveTo>
                <a:lnTo>
                  <a:pt x="5237159" y="0"/>
                </a:lnTo>
                <a:cubicBezTo>
                  <a:pt x="5279245" y="0"/>
                  <a:pt x="5313362" y="34118"/>
                  <a:pt x="5313362" y="76204"/>
                </a:cubicBezTo>
                <a:lnTo>
                  <a:pt x="5313362" y="1074734"/>
                </a:lnTo>
                <a:cubicBezTo>
                  <a:pt x="5313362" y="1116820"/>
                  <a:pt x="5279245" y="1150937"/>
                  <a:pt x="5237159" y="1150937"/>
                </a:cubicBezTo>
                <a:lnTo>
                  <a:pt x="76204" y="1150937"/>
                </a:lnTo>
                <a:cubicBezTo>
                  <a:pt x="34118" y="1150937"/>
                  <a:pt x="0" y="1116820"/>
                  <a:pt x="0" y="107473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6200" y="4994274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Naive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54775" y="5184774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38098" y="0"/>
                </a:moveTo>
                <a:lnTo>
                  <a:pt x="2286002" y="0"/>
                </a:lnTo>
                <a:cubicBezTo>
                  <a:pt x="2307043" y="0"/>
                  <a:pt x="2324100" y="17057"/>
                  <a:pt x="2324100" y="38098"/>
                </a:cubicBezTo>
                <a:lnTo>
                  <a:pt x="2324100" y="419102"/>
                </a:lnTo>
                <a:cubicBezTo>
                  <a:pt x="2324100" y="440143"/>
                  <a:pt x="2307043" y="457200"/>
                  <a:pt x="2286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502400" y="5260974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→ Compute → Write → Read → Compute → Write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15400" y="52419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53" name="Text 51"/>
          <p:cNvSpPr/>
          <p:nvPr/>
        </p:nvSpPr>
        <p:spPr>
          <a:xfrm>
            <a:off x="9172575" y="4994274"/>
            <a:ext cx="2381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201150" y="5184774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38098" y="0"/>
                </a:moveTo>
                <a:lnTo>
                  <a:pt x="2286002" y="0"/>
                </a:lnTo>
                <a:cubicBezTo>
                  <a:pt x="2307043" y="0"/>
                  <a:pt x="2324100" y="17057"/>
                  <a:pt x="2324100" y="38098"/>
                </a:cubicBezTo>
                <a:lnTo>
                  <a:pt x="2324100" y="419102"/>
                </a:lnTo>
                <a:cubicBezTo>
                  <a:pt x="2324100" y="440143"/>
                  <a:pt x="2307043" y="457200"/>
                  <a:pt x="2286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248775" y="5260974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→ Compute → Write (Single Pass)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749778" y="575071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7" name="Text 55"/>
          <p:cNvSpPr/>
          <p:nvPr/>
        </p:nvSpPr>
        <p:spPr>
          <a:xfrm>
            <a:off x="6621463" y="5718174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2-3x memory bandwidth reduction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4825" y="5524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581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Setup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5915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Methodology: Environment Setup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7561262" cy="2884487"/>
          </a:xfrm>
          <a:custGeom>
            <a:avLst/>
            <a:gdLst/>
            <a:ahLst/>
            <a:cxnLst/>
            <a:rect l="l" t="t" r="r" b="b"/>
            <a:pathLst>
              <a:path w="7561262" h="2884487">
                <a:moveTo>
                  <a:pt x="114312" y="0"/>
                </a:moveTo>
                <a:lnTo>
                  <a:pt x="7446950" y="0"/>
                </a:lnTo>
                <a:cubicBezTo>
                  <a:pt x="7510083" y="0"/>
                  <a:pt x="7561262" y="51179"/>
                  <a:pt x="7561262" y="114312"/>
                </a:cubicBezTo>
                <a:lnTo>
                  <a:pt x="7561262" y="2770175"/>
                </a:lnTo>
                <a:cubicBezTo>
                  <a:pt x="7561262" y="2833308"/>
                  <a:pt x="7510083" y="2884487"/>
                  <a:pt x="7446950" y="2884487"/>
                </a:cubicBezTo>
                <a:lnTo>
                  <a:pt x="114312" y="2884487"/>
                </a:lnTo>
                <a:cubicBezTo>
                  <a:pt x="51179" y="2884487"/>
                  <a:pt x="0" y="2833308"/>
                  <a:pt x="0" y="2770175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306" y="1288255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594" y="14176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2190" y="45876"/>
                </a:moveTo>
                <a:cubicBezTo>
                  <a:pt x="82562" y="46062"/>
                  <a:pt x="82860" y="46509"/>
                  <a:pt x="83307" y="46509"/>
                </a:cubicBezTo>
                <a:cubicBezTo>
                  <a:pt x="83716" y="46509"/>
                  <a:pt x="84348" y="46360"/>
                  <a:pt x="84386" y="45951"/>
                </a:cubicBezTo>
                <a:cubicBezTo>
                  <a:pt x="84460" y="45430"/>
                  <a:pt x="83679" y="45095"/>
                  <a:pt x="83195" y="44872"/>
                </a:cubicBezTo>
                <a:cubicBezTo>
                  <a:pt x="82562" y="44611"/>
                  <a:pt x="81744" y="44500"/>
                  <a:pt x="81149" y="44834"/>
                </a:cubicBezTo>
                <a:cubicBezTo>
                  <a:pt x="81000" y="44909"/>
                  <a:pt x="80851" y="45095"/>
                  <a:pt x="80925" y="45244"/>
                </a:cubicBezTo>
                <a:cubicBezTo>
                  <a:pt x="81037" y="45727"/>
                  <a:pt x="81781" y="45653"/>
                  <a:pt x="82190" y="45876"/>
                </a:cubicBezTo>
                <a:close/>
                <a:moveTo>
                  <a:pt x="74042" y="46509"/>
                </a:moveTo>
                <a:cubicBezTo>
                  <a:pt x="74488" y="46509"/>
                  <a:pt x="74786" y="46062"/>
                  <a:pt x="75158" y="45876"/>
                </a:cubicBezTo>
                <a:cubicBezTo>
                  <a:pt x="75567" y="45653"/>
                  <a:pt x="76312" y="45727"/>
                  <a:pt x="76460" y="45281"/>
                </a:cubicBezTo>
                <a:cubicBezTo>
                  <a:pt x="76535" y="45132"/>
                  <a:pt x="76386" y="44946"/>
                  <a:pt x="76237" y="44872"/>
                </a:cubicBezTo>
                <a:cubicBezTo>
                  <a:pt x="75642" y="44537"/>
                  <a:pt x="74823" y="44648"/>
                  <a:pt x="74191" y="44909"/>
                </a:cubicBezTo>
                <a:cubicBezTo>
                  <a:pt x="73707" y="45132"/>
                  <a:pt x="72926" y="45467"/>
                  <a:pt x="73000" y="45988"/>
                </a:cubicBezTo>
                <a:cubicBezTo>
                  <a:pt x="73037" y="46360"/>
                  <a:pt x="73670" y="46546"/>
                  <a:pt x="74042" y="46509"/>
                </a:cubicBezTo>
                <a:close/>
                <a:moveTo>
                  <a:pt x="156270" y="150242"/>
                </a:moveTo>
                <a:cubicBezTo>
                  <a:pt x="154930" y="148754"/>
                  <a:pt x="154298" y="145926"/>
                  <a:pt x="153591" y="142912"/>
                </a:cubicBezTo>
                <a:cubicBezTo>
                  <a:pt x="152921" y="139898"/>
                  <a:pt x="152140" y="136661"/>
                  <a:pt x="149684" y="134578"/>
                </a:cubicBezTo>
                <a:cubicBezTo>
                  <a:pt x="149200" y="134169"/>
                  <a:pt x="148717" y="133796"/>
                  <a:pt x="148196" y="133499"/>
                </a:cubicBezTo>
                <a:cubicBezTo>
                  <a:pt x="147712" y="133201"/>
                  <a:pt x="147191" y="132941"/>
                  <a:pt x="146670" y="132755"/>
                </a:cubicBezTo>
                <a:cubicBezTo>
                  <a:pt x="150093" y="122597"/>
                  <a:pt x="148754" y="112477"/>
                  <a:pt x="145293" y="103324"/>
                </a:cubicBezTo>
                <a:cubicBezTo>
                  <a:pt x="141052" y="92125"/>
                  <a:pt x="133648" y="82339"/>
                  <a:pt x="127992" y="75642"/>
                </a:cubicBezTo>
                <a:cubicBezTo>
                  <a:pt x="121630" y="67642"/>
                  <a:pt x="115453" y="60052"/>
                  <a:pt x="115565" y="48853"/>
                </a:cubicBezTo>
                <a:cubicBezTo>
                  <a:pt x="115751" y="31775"/>
                  <a:pt x="117463" y="37"/>
                  <a:pt x="87362" y="0"/>
                </a:cubicBezTo>
                <a:cubicBezTo>
                  <a:pt x="49262" y="-74"/>
                  <a:pt x="58787" y="38472"/>
                  <a:pt x="58378" y="50304"/>
                </a:cubicBezTo>
                <a:cubicBezTo>
                  <a:pt x="57745" y="59010"/>
                  <a:pt x="55997" y="65856"/>
                  <a:pt x="50006" y="74377"/>
                </a:cubicBezTo>
                <a:cubicBezTo>
                  <a:pt x="42974" y="82748"/>
                  <a:pt x="33077" y="96255"/>
                  <a:pt x="28389" y="110356"/>
                </a:cubicBezTo>
                <a:cubicBezTo>
                  <a:pt x="26157" y="117016"/>
                  <a:pt x="25115" y="123788"/>
                  <a:pt x="26082" y="130187"/>
                </a:cubicBezTo>
                <a:cubicBezTo>
                  <a:pt x="23664" y="132345"/>
                  <a:pt x="21841" y="135657"/>
                  <a:pt x="19906" y="137703"/>
                </a:cubicBezTo>
                <a:cubicBezTo>
                  <a:pt x="18343" y="139303"/>
                  <a:pt x="16073" y="139898"/>
                  <a:pt x="13581" y="140791"/>
                </a:cubicBezTo>
                <a:cubicBezTo>
                  <a:pt x="11088" y="141684"/>
                  <a:pt x="8372" y="143024"/>
                  <a:pt x="6697" y="146186"/>
                </a:cubicBezTo>
                <a:cubicBezTo>
                  <a:pt x="5916" y="147638"/>
                  <a:pt x="5655" y="149200"/>
                  <a:pt x="5655" y="150800"/>
                </a:cubicBezTo>
                <a:cubicBezTo>
                  <a:pt x="5655" y="152251"/>
                  <a:pt x="5879" y="153739"/>
                  <a:pt x="6102" y="155191"/>
                </a:cubicBezTo>
                <a:cubicBezTo>
                  <a:pt x="6548" y="158204"/>
                  <a:pt x="7032" y="161032"/>
                  <a:pt x="6400" y="162930"/>
                </a:cubicBezTo>
                <a:cubicBezTo>
                  <a:pt x="4465" y="168287"/>
                  <a:pt x="4204" y="172008"/>
                  <a:pt x="5581" y="174724"/>
                </a:cubicBezTo>
                <a:cubicBezTo>
                  <a:pt x="6995" y="177440"/>
                  <a:pt x="9823" y="178631"/>
                  <a:pt x="13060" y="179301"/>
                </a:cubicBezTo>
                <a:cubicBezTo>
                  <a:pt x="19496" y="180640"/>
                  <a:pt x="28240" y="180305"/>
                  <a:pt x="35123" y="183952"/>
                </a:cubicBezTo>
                <a:cubicBezTo>
                  <a:pt x="42490" y="187821"/>
                  <a:pt x="49969" y="189198"/>
                  <a:pt x="55922" y="187821"/>
                </a:cubicBezTo>
                <a:cubicBezTo>
                  <a:pt x="60238" y="186854"/>
                  <a:pt x="63773" y="184249"/>
                  <a:pt x="65559" y="180305"/>
                </a:cubicBezTo>
                <a:cubicBezTo>
                  <a:pt x="70210" y="180268"/>
                  <a:pt x="75344" y="178296"/>
                  <a:pt x="83530" y="177850"/>
                </a:cubicBezTo>
                <a:cubicBezTo>
                  <a:pt x="89074" y="177403"/>
                  <a:pt x="96031" y="179822"/>
                  <a:pt x="104031" y="179375"/>
                </a:cubicBezTo>
                <a:cubicBezTo>
                  <a:pt x="104254" y="180231"/>
                  <a:pt x="104552" y="181087"/>
                  <a:pt x="104961" y="181868"/>
                </a:cubicBezTo>
                <a:lnTo>
                  <a:pt x="104961" y="181905"/>
                </a:lnTo>
                <a:cubicBezTo>
                  <a:pt x="108049" y="188119"/>
                  <a:pt x="113816" y="190946"/>
                  <a:pt x="119955" y="190463"/>
                </a:cubicBezTo>
                <a:cubicBezTo>
                  <a:pt x="126132" y="189979"/>
                  <a:pt x="132643" y="186370"/>
                  <a:pt x="137926" y="180082"/>
                </a:cubicBezTo>
                <a:cubicBezTo>
                  <a:pt x="142987" y="173980"/>
                  <a:pt x="151321" y="171450"/>
                  <a:pt x="156865" y="168101"/>
                </a:cubicBezTo>
                <a:cubicBezTo>
                  <a:pt x="159618" y="166427"/>
                  <a:pt x="161851" y="164343"/>
                  <a:pt x="162037" y="161292"/>
                </a:cubicBezTo>
                <a:cubicBezTo>
                  <a:pt x="162185" y="158242"/>
                  <a:pt x="160400" y="154856"/>
                  <a:pt x="156270" y="150242"/>
                </a:cubicBezTo>
                <a:close/>
                <a:moveTo>
                  <a:pt x="83269" y="32482"/>
                </a:moveTo>
                <a:cubicBezTo>
                  <a:pt x="86916" y="24222"/>
                  <a:pt x="95994" y="24371"/>
                  <a:pt x="99640" y="32333"/>
                </a:cubicBezTo>
                <a:cubicBezTo>
                  <a:pt x="102059" y="37616"/>
                  <a:pt x="100980" y="43830"/>
                  <a:pt x="98041" y="47365"/>
                </a:cubicBezTo>
                <a:cubicBezTo>
                  <a:pt x="97445" y="47067"/>
                  <a:pt x="95845" y="46397"/>
                  <a:pt x="93352" y="45541"/>
                </a:cubicBezTo>
                <a:cubicBezTo>
                  <a:pt x="93762" y="45095"/>
                  <a:pt x="94506" y="44537"/>
                  <a:pt x="94804" y="43830"/>
                </a:cubicBezTo>
                <a:cubicBezTo>
                  <a:pt x="96589" y="39439"/>
                  <a:pt x="94729" y="33784"/>
                  <a:pt x="91418" y="33672"/>
                </a:cubicBezTo>
                <a:cubicBezTo>
                  <a:pt x="88702" y="33486"/>
                  <a:pt x="86246" y="37691"/>
                  <a:pt x="87027" y="42230"/>
                </a:cubicBezTo>
                <a:cubicBezTo>
                  <a:pt x="85502" y="41486"/>
                  <a:pt x="83530" y="40928"/>
                  <a:pt x="82190" y="40593"/>
                </a:cubicBezTo>
                <a:cubicBezTo>
                  <a:pt x="81818" y="38026"/>
                  <a:pt x="82079" y="35161"/>
                  <a:pt x="83269" y="32482"/>
                </a:cubicBezTo>
                <a:close/>
                <a:moveTo>
                  <a:pt x="68126" y="28203"/>
                </a:moveTo>
                <a:cubicBezTo>
                  <a:pt x="71884" y="28203"/>
                  <a:pt x="75865" y="33486"/>
                  <a:pt x="75233" y="40667"/>
                </a:cubicBezTo>
                <a:cubicBezTo>
                  <a:pt x="73930" y="41039"/>
                  <a:pt x="72591" y="41597"/>
                  <a:pt x="71438" y="42379"/>
                </a:cubicBezTo>
                <a:cubicBezTo>
                  <a:pt x="71884" y="39067"/>
                  <a:pt x="70210" y="34900"/>
                  <a:pt x="67866" y="35086"/>
                </a:cubicBezTo>
                <a:cubicBezTo>
                  <a:pt x="64740" y="35347"/>
                  <a:pt x="64219" y="42974"/>
                  <a:pt x="67196" y="45541"/>
                </a:cubicBezTo>
                <a:cubicBezTo>
                  <a:pt x="67568" y="45839"/>
                  <a:pt x="67903" y="45467"/>
                  <a:pt x="65001" y="47588"/>
                </a:cubicBezTo>
                <a:cubicBezTo>
                  <a:pt x="59196" y="42156"/>
                  <a:pt x="61094" y="28203"/>
                  <a:pt x="68126" y="28203"/>
                </a:cubicBezTo>
                <a:close/>
                <a:moveTo>
                  <a:pt x="63066" y="50788"/>
                </a:moveTo>
                <a:cubicBezTo>
                  <a:pt x="65373" y="49076"/>
                  <a:pt x="68126" y="47067"/>
                  <a:pt x="68312" y="46881"/>
                </a:cubicBezTo>
                <a:cubicBezTo>
                  <a:pt x="70061" y="45244"/>
                  <a:pt x="73335" y="41597"/>
                  <a:pt x="78693" y="41597"/>
                </a:cubicBezTo>
                <a:cubicBezTo>
                  <a:pt x="81335" y="41597"/>
                  <a:pt x="84497" y="42453"/>
                  <a:pt x="88329" y="44909"/>
                </a:cubicBezTo>
                <a:cubicBezTo>
                  <a:pt x="90674" y="46434"/>
                  <a:pt x="92534" y="46546"/>
                  <a:pt x="96738" y="48369"/>
                </a:cubicBezTo>
                <a:cubicBezTo>
                  <a:pt x="99864" y="49671"/>
                  <a:pt x="101836" y="51978"/>
                  <a:pt x="100645" y="55141"/>
                </a:cubicBezTo>
                <a:cubicBezTo>
                  <a:pt x="99678" y="57783"/>
                  <a:pt x="96552" y="60499"/>
                  <a:pt x="92199" y="61875"/>
                </a:cubicBezTo>
                <a:cubicBezTo>
                  <a:pt x="88069" y="63215"/>
                  <a:pt x="84832" y="67828"/>
                  <a:pt x="77986" y="67419"/>
                </a:cubicBezTo>
                <a:cubicBezTo>
                  <a:pt x="76535" y="67345"/>
                  <a:pt x="75381" y="67047"/>
                  <a:pt x="74414" y="66638"/>
                </a:cubicBezTo>
                <a:cubicBezTo>
                  <a:pt x="71438" y="65336"/>
                  <a:pt x="69875" y="62768"/>
                  <a:pt x="66973" y="61057"/>
                </a:cubicBezTo>
                <a:cubicBezTo>
                  <a:pt x="63773" y="59271"/>
                  <a:pt x="62061" y="57187"/>
                  <a:pt x="61503" y="55364"/>
                </a:cubicBezTo>
                <a:cubicBezTo>
                  <a:pt x="60982" y="53541"/>
                  <a:pt x="61503" y="52015"/>
                  <a:pt x="63066" y="50788"/>
                </a:cubicBezTo>
                <a:close/>
                <a:moveTo>
                  <a:pt x="64294" y="175059"/>
                </a:moveTo>
                <a:cubicBezTo>
                  <a:pt x="63289" y="188119"/>
                  <a:pt x="47960" y="187858"/>
                  <a:pt x="36277" y="181756"/>
                </a:cubicBezTo>
                <a:cubicBezTo>
                  <a:pt x="25152" y="175878"/>
                  <a:pt x="10753" y="179338"/>
                  <a:pt x="7813" y="173608"/>
                </a:cubicBezTo>
                <a:cubicBezTo>
                  <a:pt x="6921" y="171859"/>
                  <a:pt x="6921" y="168883"/>
                  <a:pt x="8781" y="163785"/>
                </a:cubicBezTo>
                <a:lnTo>
                  <a:pt x="8781" y="163711"/>
                </a:lnTo>
                <a:cubicBezTo>
                  <a:pt x="9674" y="160883"/>
                  <a:pt x="9004" y="157758"/>
                  <a:pt x="8558" y="154818"/>
                </a:cubicBezTo>
                <a:cubicBezTo>
                  <a:pt x="8111" y="151916"/>
                  <a:pt x="7888" y="149237"/>
                  <a:pt x="8892" y="147377"/>
                </a:cubicBezTo>
                <a:cubicBezTo>
                  <a:pt x="10195" y="144884"/>
                  <a:pt x="12055" y="143991"/>
                  <a:pt x="14399" y="143173"/>
                </a:cubicBezTo>
                <a:cubicBezTo>
                  <a:pt x="18231" y="141796"/>
                  <a:pt x="18790" y="141908"/>
                  <a:pt x="21692" y="139489"/>
                </a:cubicBezTo>
                <a:cubicBezTo>
                  <a:pt x="23738" y="137368"/>
                  <a:pt x="25226" y="134689"/>
                  <a:pt x="27012" y="132792"/>
                </a:cubicBezTo>
                <a:cubicBezTo>
                  <a:pt x="28910" y="130746"/>
                  <a:pt x="30733" y="129778"/>
                  <a:pt x="33598" y="130225"/>
                </a:cubicBezTo>
                <a:cubicBezTo>
                  <a:pt x="36612" y="130671"/>
                  <a:pt x="39216" y="132755"/>
                  <a:pt x="41746" y="136178"/>
                </a:cubicBezTo>
                <a:lnTo>
                  <a:pt x="49039" y="149423"/>
                </a:lnTo>
                <a:cubicBezTo>
                  <a:pt x="52574" y="156828"/>
                  <a:pt x="65075" y="167432"/>
                  <a:pt x="64294" y="175059"/>
                </a:cubicBezTo>
                <a:close/>
                <a:moveTo>
                  <a:pt x="63773" y="165422"/>
                </a:moveTo>
                <a:cubicBezTo>
                  <a:pt x="62247" y="162967"/>
                  <a:pt x="60201" y="160362"/>
                  <a:pt x="58415" y="158130"/>
                </a:cubicBezTo>
                <a:cubicBezTo>
                  <a:pt x="61057" y="158130"/>
                  <a:pt x="63698" y="157311"/>
                  <a:pt x="64629" y="154818"/>
                </a:cubicBezTo>
                <a:cubicBezTo>
                  <a:pt x="65484" y="152512"/>
                  <a:pt x="64629" y="149275"/>
                  <a:pt x="61875" y="145554"/>
                </a:cubicBezTo>
                <a:cubicBezTo>
                  <a:pt x="56852" y="138782"/>
                  <a:pt x="47625" y="133462"/>
                  <a:pt x="47625" y="133462"/>
                </a:cubicBezTo>
                <a:cubicBezTo>
                  <a:pt x="42602" y="130336"/>
                  <a:pt x="39774" y="126504"/>
                  <a:pt x="38472" y="122337"/>
                </a:cubicBezTo>
                <a:cubicBezTo>
                  <a:pt x="37170" y="118170"/>
                  <a:pt x="37356" y="113667"/>
                  <a:pt x="38360" y="109240"/>
                </a:cubicBezTo>
                <a:cubicBezTo>
                  <a:pt x="40295" y="100719"/>
                  <a:pt x="45281" y="92422"/>
                  <a:pt x="48481" y="87213"/>
                </a:cubicBezTo>
                <a:cubicBezTo>
                  <a:pt x="49337" y="86581"/>
                  <a:pt x="48778" y="88404"/>
                  <a:pt x="45244" y="94952"/>
                </a:cubicBezTo>
                <a:cubicBezTo>
                  <a:pt x="42081" y="100943"/>
                  <a:pt x="36165" y="114784"/>
                  <a:pt x="44276" y="125611"/>
                </a:cubicBezTo>
                <a:cubicBezTo>
                  <a:pt x="44500" y="117909"/>
                  <a:pt x="46323" y="110058"/>
                  <a:pt x="49411" y="102729"/>
                </a:cubicBezTo>
                <a:cubicBezTo>
                  <a:pt x="53876" y="92534"/>
                  <a:pt x="63289" y="74861"/>
                  <a:pt x="64033" y="60796"/>
                </a:cubicBezTo>
                <a:cubicBezTo>
                  <a:pt x="64443" y="61094"/>
                  <a:pt x="65745" y="61987"/>
                  <a:pt x="66340" y="62322"/>
                </a:cubicBezTo>
                <a:cubicBezTo>
                  <a:pt x="68052" y="63326"/>
                  <a:pt x="69354" y="64815"/>
                  <a:pt x="71028" y="66154"/>
                </a:cubicBezTo>
                <a:cubicBezTo>
                  <a:pt x="75642" y="69875"/>
                  <a:pt x="81632" y="69577"/>
                  <a:pt x="86804" y="66601"/>
                </a:cubicBezTo>
                <a:cubicBezTo>
                  <a:pt x="89111" y="65298"/>
                  <a:pt x="90971" y="63810"/>
                  <a:pt x="92720" y="63252"/>
                </a:cubicBezTo>
                <a:cubicBezTo>
                  <a:pt x="96403" y="62099"/>
                  <a:pt x="99343" y="60052"/>
                  <a:pt x="101017" y="57671"/>
                </a:cubicBezTo>
                <a:cubicBezTo>
                  <a:pt x="103882" y="68982"/>
                  <a:pt x="110579" y="85316"/>
                  <a:pt x="114858" y="93278"/>
                </a:cubicBezTo>
                <a:cubicBezTo>
                  <a:pt x="117128" y="97520"/>
                  <a:pt x="121667" y="106487"/>
                  <a:pt x="123639" y="117314"/>
                </a:cubicBezTo>
                <a:cubicBezTo>
                  <a:pt x="124867" y="117277"/>
                  <a:pt x="126243" y="117463"/>
                  <a:pt x="127695" y="117835"/>
                </a:cubicBezTo>
                <a:cubicBezTo>
                  <a:pt x="132829" y="104552"/>
                  <a:pt x="123341" y="90227"/>
                  <a:pt x="119025" y="86246"/>
                </a:cubicBezTo>
                <a:cubicBezTo>
                  <a:pt x="117277" y="84534"/>
                  <a:pt x="117202" y="83790"/>
                  <a:pt x="118058" y="83827"/>
                </a:cubicBezTo>
                <a:cubicBezTo>
                  <a:pt x="122746" y="87995"/>
                  <a:pt x="128922" y="96366"/>
                  <a:pt x="131155" y="105780"/>
                </a:cubicBezTo>
                <a:cubicBezTo>
                  <a:pt x="132197" y="110096"/>
                  <a:pt x="132383" y="114598"/>
                  <a:pt x="131304" y="119063"/>
                </a:cubicBezTo>
                <a:cubicBezTo>
                  <a:pt x="137406" y="121593"/>
                  <a:pt x="144661" y="125723"/>
                  <a:pt x="142726" y="132011"/>
                </a:cubicBezTo>
                <a:cubicBezTo>
                  <a:pt x="141908" y="131973"/>
                  <a:pt x="141536" y="132011"/>
                  <a:pt x="141163" y="132011"/>
                </a:cubicBezTo>
                <a:cubicBezTo>
                  <a:pt x="142354" y="128253"/>
                  <a:pt x="139712" y="125462"/>
                  <a:pt x="132680" y="122300"/>
                </a:cubicBezTo>
                <a:cubicBezTo>
                  <a:pt x="125388" y="119100"/>
                  <a:pt x="119286" y="119100"/>
                  <a:pt x="118430" y="126950"/>
                </a:cubicBezTo>
                <a:cubicBezTo>
                  <a:pt x="113928" y="128513"/>
                  <a:pt x="111621" y="132420"/>
                  <a:pt x="110468" y="137108"/>
                </a:cubicBezTo>
                <a:cubicBezTo>
                  <a:pt x="109426" y="141275"/>
                  <a:pt x="109128" y="146298"/>
                  <a:pt x="108831" y="151954"/>
                </a:cubicBezTo>
                <a:cubicBezTo>
                  <a:pt x="108645" y="154818"/>
                  <a:pt x="107491" y="158651"/>
                  <a:pt x="106300" y="162744"/>
                </a:cubicBezTo>
                <a:cubicBezTo>
                  <a:pt x="94357" y="171264"/>
                  <a:pt x="77763" y="174985"/>
                  <a:pt x="63773" y="165422"/>
                </a:cubicBezTo>
                <a:close/>
                <a:moveTo>
                  <a:pt x="159544" y="161144"/>
                </a:moveTo>
                <a:cubicBezTo>
                  <a:pt x="159209" y="167394"/>
                  <a:pt x="144214" y="168548"/>
                  <a:pt x="136029" y="178445"/>
                </a:cubicBezTo>
                <a:cubicBezTo>
                  <a:pt x="131118" y="184286"/>
                  <a:pt x="125090" y="187523"/>
                  <a:pt x="119807" y="187933"/>
                </a:cubicBezTo>
                <a:cubicBezTo>
                  <a:pt x="114523" y="188342"/>
                  <a:pt x="109947" y="186147"/>
                  <a:pt x="107268" y="180752"/>
                </a:cubicBezTo>
                <a:cubicBezTo>
                  <a:pt x="105519" y="176622"/>
                  <a:pt x="106375" y="172157"/>
                  <a:pt x="107677" y="167246"/>
                </a:cubicBezTo>
                <a:cubicBezTo>
                  <a:pt x="109054" y="161962"/>
                  <a:pt x="111100" y="156530"/>
                  <a:pt x="111361" y="152140"/>
                </a:cubicBezTo>
                <a:cubicBezTo>
                  <a:pt x="111658" y="146484"/>
                  <a:pt x="111993" y="141536"/>
                  <a:pt x="112923" y="137740"/>
                </a:cubicBezTo>
                <a:cubicBezTo>
                  <a:pt x="113891" y="133908"/>
                  <a:pt x="115379" y="131341"/>
                  <a:pt x="118021" y="129890"/>
                </a:cubicBezTo>
                <a:cubicBezTo>
                  <a:pt x="118132" y="129815"/>
                  <a:pt x="118281" y="129778"/>
                  <a:pt x="118393" y="129704"/>
                </a:cubicBezTo>
                <a:cubicBezTo>
                  <a:pt x="118690" y="134615"/>
                  <a:pt x="121109" y="139601"/>
                  <a:pt x="125388" y="140680"/>
                </a:cubicBezTo>
                <a:cubicBezTo>
                  <a:pt x="130076" y="141908"/>
                  <a:pt x="136810" y="137889"/>
                  <a:pt x="139675" y="134615"/>
                </a:cubicBezTo>
                <a:cubicBezTo>
                  <a:pt x="143024" y="134503"/>
                  <a:pt x="145517" y="134280"/>
                  <a:pt x="148084" y="136513"/>
                </a:cubicBezTo>
                <a:cubicBezTo>
                  <a:pt x="151767" y="139675"/>
                  <a:pt x="150726" y="147786"/>
                  <a:pt x="154446" y="151991"/>
                </a:cubicBezTo>
                <a:cubicBezTo>
                  <a:pt x="158390" y="156307"/>
                  <a:pt x="159655" y="159246"/>
                  <a:pt x="159544" y="161144"/>
                </a:cubicBezTo>
                <a:close/>
                <a:moveTo>
                  <a:pt x="64517" y="55327"/>
                </a:moveTo>
                <a:cubicBezTo>
                  <a:pt x="65261" y="56034"/>
                  <a:pt x="66266" y="57001"/>
                  <a:pt x="67494" y="57969"/>
                </a:cubicBezTo>
                <a:cubicBezTo>
                  <a:pt x="69949" y="59903"/>
                  <a:pt x="73372" y="61912"/>
                  <a:pt x="77651" y="61912"/>
                </a:cubicBezTo>
                <a:cubicBezTo>
                  <a:pt x="81967" y="61912"/>
                  <a:pt x="86023" y="59717"/>
                  <a:pt x="89483" y="57894"/>
                </a:cubicBezTo>
                <a:cubicBezTo>
                  <a:pt x="91306" y="56927"/>
                  <a:pt x="93538" y="55290"/>
                  <a:pt x="94990" y="54025"/>
                </a:cubicBezTo>
                <a:cubicBezTo>
                  <a:pt x="96441" y="52760"/>
                  <a:pt x="97185" y="51681"/>
                  <a:pt x="96143" y="51569"/>
                </a:cubicBezTo>
                <a:cubicBezTo>
                  <a:pt x="95101" y="51457"/>
                  <a:pt x="95176" y="52536"/>
                  <a:pt x="93911" y="53467"/>
                </a:cubicBezTo>
                <a:cubicBezTo>
                  <a:pt x="92273" y="54657"/>
                  <a:pt x="90301" y="56220"/>
                  <a:pt x="88739" y="57113"/>
                </a:cubicBezTo>
                <a:cubicBezTo>
                  <a:pt x="85985" y="58675"/>
                  <a:pt x="81483" y="60908"/>
                  <a:pt x="77614" y="60908"/>
                </a:cubicBezTo>
                <a:cubicBezTo>
                  <a:pt x="73744" y="60908"/>
                  <a:pt x="70656" y="59122"/>
                  <a:pt x="68349" y="57299"/>
                </a:cubicBezTo>
                <a:cubicBezTo>
                  <a:pt x="67196" y="56369"/>
                  <a:pt x="66229" y="55438"/>
                  <a:pt x="65484" y="54732"/>
                </a:cubicBezTo>
                <a:cubicBezTo>
                  <a:pt x="64926" y="54211"/>
                  <a:pt x="64777" y="53020"/>
                  <a:pt x="63884" y="52908"/>
                </a:cubicBezTo>
                <a:cubicBezTo>
                  <a:pt x="63364" y="52871"/>
                  <a:pt x="63215" y="54285"/>
                  <a:pt x="64517" y="553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112837" y="126523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2837" y="1570037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 Linux with Custom Hyprland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5306" y="1878805"/>
            <a:ext cx="3560762" cy="922337"/>
          </a:xfrm>
          <a:custGeom>
            <a:avLst/>
            <a:gdLst/>
            <a:ahLst/>
            <a:cxnLst/>
            <a:rect l="l" t="t" r="r" b="b"/>
            <a:pathLst>
              <a:path w="3560762" h="922337">
                <a:moveTo>
                  <a:pt x="76204" y="0"/>
                </a:moveTo>
                <a:lnTo>
                  <a:pt x="3484559" y="0"/>
                </a:lnTo>
                <a:cubicBezTo>
                  <a:pt x="3526645" y="0"/>
                  <a:pt x="3560762" y="34117"/>
                  <a:pt x="3560762" y="76204"/>
                </a:cubicBezTo>
                <a:lnTo>
                  <a:pt x="3560762" y="846134"/>
                </a:lnTo>
                <a:cubicBezTo>
                  <a:pt x="3560762" y="888220"/>
                  <a:pt x="3526645" y="922337"/>
                  <a:pt x="3484559" y="922337"/>
                </a:cubicBezTo>
                <a:lnTo>
                  <a:pt x="76204" y="922337"/>
                </a:lnTo>
                <a:cubicBezTo>
                  <a:pt x="34117" y="922337"/>
                  <a:pt x="0" y="888220"/>
                  <a:pt x="0" y="84613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625" y="20296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91678"/>
                </a:lnTo>
                <a:cubicBezTo>
                  <a:pt x="0" y="100872"/>
                  <a:pt x="7475" y="108347"/>
                  <a:pt x="16669" y="108347"/>
                </a:cubicBezTo>
                <a:lnTo>
                  <a:pt x="54173" y="108347"/>
                </a:lnTo>
                <a:lnTo>
                  <a:pt x="50006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102096" y="133350"/>
                </a:lnTo>
                <a:cubicBezTo>
                  <a:pt x="105560" y="133350"/>
                  <a:pt x="108347" y="130563"/>
                  <a:pt x="108347" y="127099"/>
                </a:cubicBezTo>
                <a:cubicBezTo>
                  <a:pt x="108347" y="123635"/>
                  <a:pt x="105560" y="120848"/>
                  <a:pt x="102096" y="120848"/>
                </a:cubicBezTo>
                <a:lnTo>
                  <a:pt x="83344" y="120848"/>
                </a:lnTo>
                <a:lnTo>
                  <a:pt x="79177" y="108347"/>
                </a:lnTo>
                <a:lnTo>
                  <a:pt x="116681" y="108347"/>
                </a:lnTo>
                <a:cubicBezTo>
                  <a:pt x="125875" y="108347"/>
                  <a:pt x="133350" y="100872"/>
                  <a:pt x="133350" y="91678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25003" y="25003"/>
                </a:move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lnTo>
                  <a:pt x="116681" y="75009"/>
                </a:lnTo>
                <a:cubicBezTo>
                  <a:pt x="116681" y="79619"/>
                  <a:pt x="112957" y="83344"/>
                  <a:pt x="108347" y="83344"/>
                </a:cubicBezTo>
                <a:lnTo>
                  <a:pt x="25003" y="83344"/>
                </a:lnTo>
                <a:cubicBezTo>
                  <a:pt x="20393" y="83344"/>
                  <a:pt x="16669" y="79619"/>
                  <a:pt x="16669" y="75009"/>
                </a:cubicBezTo>
                <a:lnTo>
                  <a:pt x="16669" y="33337"/>
                </a:lnTo>
                <a:cubicBezTo>
                  <a:pt x="16669" y="28728"/>
                  <a:pt x="20393" y="25003"/>
                  <a:pt x="25003" y="25003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13" name="Text 11"/>
          <p:cNvSpPr/>
          <p:nvPr/>
        </p:nvSpPr>
        <p:spPr>
          <a:xfrm>
            <a:off x="892175" y="1997076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Environment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3575" y="226377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Hyprland (Wayland)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3575" y="2530473"/>
            <a:ext cx="3381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Tiling window manager for productivity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6719" y="1878805"/>
            <a:ext cx="3560762" cy="922337"/>
          </a:xfrm>
          <a:custGeom>
            <a:avLst/>
            <a:gdLst/>
            <a:ahLst/>
            <a:cxnLst/>
            <a:rect l="l" t="t" r="r" b="b"/>
            <a:pathLst>
              <a:path w="3560762" h="922337">
                <a:moveTo>
                  <a:pt x="76204" y="0"/>
                </a:moveTo>
                <a:lnTo>
                  <a:pt x="3484559" y="0"/>
                </a:lnTo>
                <a:cubicBezTo>
                  <a:pt x="3526645" y="0"/>
                  <a:pt x="3560762" y="34117"/>
                  <a:pt x="3560762" y="76204"/>
                </a:cubicBezTo>
                <a:lnTo>
                  <a:pt x="3560762" y="846134"/>
                </a:lnTo>
                <a:cubicBezTo>
                  <a:pt x="3560762" y="888220"/>
                  <a:pt x="3526645" y="922337"/>
                  <a:pt x="3484559" y="922337"/>
                </a:cubicBezTo>
                <a:lnTo>
                  <a:pt x="76204" y="922337"/>
                </a:lnTo>
                <a:cubicBezTo>
                  <a:pt x="34117" y="922337"/>
                  <a:pt x="0" y="888220"/>
                  <a:pt x="0" y="84613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4038" y="202961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30889"/>
                </a:moveTo>
                <a:cubicBezTo>
                  <a:pt x="-807" y="27634"/>
                  <a:pt x="-807" y="22347"/>
                  <a:pt x="2448" y="19091"/>
                </a:cubicBezTo>
                <a:cubicBezTo>
                  <a:pt x="5704" y="15835"/>
                  <a:pt x="10991" y="15835"/>
                  <a:pt x="14247" y="19091"/>
                </a:cubicBezTo>
                <a:lnTo>
                  <a:pt x="55918" y="60763"/>
                </a:lnTo>
                <a:cubicBezTo>
                  <a:pt x="59174" y="64018"/>
                  <a:pt x="59174" y="69306"/>
                  <a:pt x="55918" y="72561"/>
                </a:cubicBezTo>
                <a:lnTo>
                  <a:pt x="14247" y="114233"/>
                </a:lnTo>
                <a:cubicBezTo>
                  <a:pt x="10991" y="117489"/>
                  <a:pt x="5704" y="117489"/>
                  <a:pt x="2448" y="114233"/>
                </a:cubicBezTo>
                <a:cubicBezTo>
                  <a:pt x="-807" y="110977"/>
                  <a:pt x="-807" y="105690"/>
                  <a:pt x="2448" y="102435"/>
                </a:cubicBezTo>
                <a:lnTo>
                  <a:pt x="38208" y="66675"/>
                </a:lnTo>
                <a:lnTo>
                  <a:pt x="2448" y="30889"/>
                </a:ln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3588" y="1997076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4988" y="2263773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Zsh + Oh-My-Zsh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4988" y="2530473"/>
            <a:ext cx="3381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plugins &amp; theming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5306" y="2923381"/>
            <a:ext cx="7237412" cy="731837"/>
          </a:xfrm>
          <a:custGeom>
            <a:avLst/>
            <a:gdLst/>
            <a:ahLst/>
            <a:cxnLst/>
            <a:rect l="l" t="t" r="r" b="b"/>
            <a:pathLst>
              <a:path w="7237412" h="731837">
                <a:moveTo>
                  <a:pt x="76199" y="0"/>
                </a:moveTo>
                <a:lnTo>
                  <a:pt x="7161214" y="0"/>
                </a:lnTo>
                <a:cubicBezTo>
                  <a:pt x="7203297" y="0"/>
                  <a:pt x="7237412" y="34115"/>
                  <a:pt x="7237412" y="76199"/>
                </a:cubicBezTo>
                <a:lnTo>
                  <a:pt x="7237412" y="655639"/>
                </a:lnTo>
                <a:cubicBezTo>
                  <a:pt x="7237412" y="697722"/>
                  <a:pt x="7203297" y="731837"/>
                  <a:pt x="7161214" y="731837"/>
                </a:cubicBezTo>
                <a:lnTo>
                  <a:pt x="76199" y="731837"/>
                </a:lnTo>
                <a:cubicBezTo>
                  <a:pt x="34144" y="731837"/>
                  <a:pt x="0" y="697694"/>
                  <a:pt x="0" y="6556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291" y="307419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23" name="Text 21"/>
          <p:cNvSpPr/>
          <p:nvPr/>
        </p:nvSpPr>
        <p:spPr>
          <a:xfrm>
            <a:off x="892175" y="3041652"/>
            <a:ext cx="683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3575" y="3308352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63575" y="3308352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neovim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14132" y="3308352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14132" y="3308352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tmux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24038" y="3308352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824038" y="3308352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263616" y="3308352"/>
            <a:ext cx="1000125" cy="228600"/>
          </a:xfrm>
          <a:custGeom>
            <a:avLst/>
            <a:gdLst/>
            <a:ahLst/>
            <a:cxnLst/>
            <a:rect l="l" t="t" r="r" b="b"/>
            <a:pathLst>
              <a:path w="1000125" h="228600">
                <a:moveTo>
                  <a:pt x="38101" y="0"/>
                </a:moveTo>
                <a:lnTo>
                  <a:pt x="962024" y="0"/>
                </a:lnTo>
                <a:cubicBezTo>
                  <a:pt x="983067" y="0"/>
                  <a:pt x="1000125" y="17058"/>
                  <a:pt x="1000125" y="38101"/>
                </a:cubicBezTo>
                <a:lnTo>
                  <a:pt x="1000125" y="190499"/>
                </a:lnTo>
                <a:cubicBezTo>
                  <a:pt x="1000125" y="211542"/>
                  <a:pt x="983067" y="228600"/>
                  <a:pt x="962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263616" y="3308352"/>
            <a:ext cx="1057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cuda-toolkit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6131" y="3308352"/>
            <a:ext cx="1133475" cy="228600"/>
          </a:xfrm>
          <a:custGeom>
            <a:avLst/>
            <a:gdLst/>
            <a:ahLst/>
            <a:cxnLst/>
            <a:rect l="l" t="t" r="r" b="b"/>
            <a:pathLst>
              <a:path w="1133475" h="228600">
                <a:moveTo>
                  <a:pt x="38101" y="0"/>
                </a:moveTo>
                <a:lnTo>
                  <a:pt x="1095374" y="0"/>
                </a:lnTo>
                <a:cubicBezTo>
                  <a:pt x="1116417" y="0"/>
                  <a:pt x="1133475" y="17058"/>
                  <a:pt x="1133475" y="38101"/>
                </a:cubicBezTo>
                <a:lnTo>
                  <a:pt x="1133475" y="190499"/>
                </a:lnTo>
                <a:cubicBezTo>
                  <a:pt x="1133475" y="211542"/>
                  <a:pt x="1116417" y="228600"/>
                  <a:pt x="1095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36131" y="3308352"/>
            <a:ext cx="1190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nsight-compute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6569" y="1108869"/>
            <a:ext cx="3703637" cy="2884487"/>
          </a:xfrm>
          <a:custGeom>
            <a:avLst/>
            <a:gdLst/>
            <a:ahLst/>
            <a:cxnLst/>
            <a:rect l="l" t="t" r="r" b="b"/>
            <a:pathLst>
              <a:path w="3703637" h="2884487">
                <a:moveTo>
                  <a:pt x="114312" y="0"/>
                </a:moveTo>
                <a:lnTo>
                  <a:pt x="3589325" y="0"/>
                </a:lnTo>
                <a:cubicBezTo>
                  <a:pt x="3652458" y="0"/>
                  <a:pt x="3703637" y="51179"/>
                  <a:pt x="3703637" y="114312"/>
                </a:cubicBezTo>
                <a:lnTo>
                  <a:pt x="3703637" y="2770175"/>
                </a:lnTo>
                <a:cubicBezTo>
                  <a:pt x="3703637" y="2833308"/>
                  <a:pt x="3652458" y="2884487"/>
                  <a:pt x="3589325" y="2884487"/>
                </a:cubicBezTo>
                <a:lnTo>
                  <a:pt x="114312" y="2884487"/>
                </a:lnTo>
                <a:cubicBezTo>
                  <a:pt x="51179" y="2884487"/>
                  <a:pt x="0" y="2833308"/>
                  <a:pt x="0" y="2770175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6906" y="1288255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08194" y="141763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7" name="Text 35"/>
          <p:cNvSpPr/>
          <p:nvPr/>
        </p:nvSpPr>
        <p:spPr>
          <a:xfrm>
            <a:off x="8834438" y="1265237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uv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34438" y="1570037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Package Manager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62938" y="1874837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Ultra-fast, isolated Python environment management written in Rust.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6906" y="2488408"/>
            <a:ext cx="3379787" cy="1341437"/>
          </a:xfrm>
          <a:custGeom>
            <a:avLst/>
            <a:gdLst/>
            <a:ahLst/>
            <a:cxnLst/>
            <a:rect l="l" t="t" r="r" b="b"/>
            <a:pathLst>
              <a:path w="3379787" h="1341437">
                <a:moveTo>
                  <a:pt x="76194" y="0"/>
                </a:moveTo>
                <a:lnTo>
                  <a:pt x="3303594" y="0"/>
                </a:lnTo>
                <a:cubicBezTo>
                  <a:pt x="3345674" y="0"/>
                  <a:pt x="3379787" y="34113"/>
                  <a:pt x="3379787" y="76194"/>
                </a:cubicBezTo>
                <a:lnTo>
                  <a:pt x="3379787" y="1265244"/>
                </a:lnTo>
                <a:cubicBezTo>
                  <a:pt x="3379787" y="1307324"/>
                  <a:pt x="3345674" y="1341437"/>
                  <a:pt x="3303594" y="1341437"/>
                </a:cubicBezTo>
                <a:lnTo>
                  <a:pt x="76194" y="1341437"/>
                </a:lnTo>
                <a:cubicBezTo>
                  <a:pt x="34113" y="1341437"/>
                  <a:pt x="0" y="1307324"/>
                  <a:pt x="0" y="1265244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4225" y="26392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42" name="Text 40"/>
          <p:cNvSpPr/>
          <p:nvPr/>
        </p:nvSpPr>
        <p:spPr>
          <a:xfrm>
            <a:off x="8613775" y="2606673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85175" y="291147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Creation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46167" y="2873373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5175" y="3254373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 Install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80114" y="3216273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5-10x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85175" y="3559173"/>
            <a:ext cx="3200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pip/conda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969" y="4150520"/>
            <a:ext cx="11418887" cy="2008187"/>
          </a:xfrm>
          <a:custGeom>
            <a:avLst/>
            <a:gdLst/>
            <a:ahLst/>
            <a:cxnLst/>
            <a:rect l="l" t="t" r="r" b="b"/>
            <a:pathLst>
              <a:path w="11418887" h="2008187">
                <a:moveTo>
                  <a:pt x="114306" y="0"/>
                </a:moveTo>
                <a:lnTo>
                  <a:pt x="11304581" y="0"/>
                </a:lnTo>
                <a:cubicBezTo>
                  <a:pt x="11367711" y="0"/>
                  <a:pt x="11418887" y="51177"/>
                  <a:pt x="11418887" y="114306"/>
                </a:cubicBezTo>
                <a:lnTo>
                  <a:pt x="11418887" y="1893881"/>
                </a:lnTo>
                <a:cubicBezTo>
                  <a:pt x="11418887" y="1957011"/>
                  <a:pt x="11367711" y="2008187"/>
                  <a:pt x="11304581" y="2008187"/>
                </a:cubicBezTo>
                <a:lnTo>
                  <a:pt x="114306" y="2008187"/>
                </a:lnTo>
                <a:cubicBezTo>
                  <a:pt x="51177" y="2008187"/>
                  <a:pt x="0" y="1957011"/>
                  <a:pt x="0" y="1893881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9912" y="434498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50" name="Text 48"/>
          <p:cNvSpPr/>
          <p:nvPr/>
        </p:nvSpPr>
        <p:spPr>
          <a:xfrm>
            <a:off x="827087" y="4306886"/>
            <a:ext cx="1093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Overcome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45306" y="4729955"/>
            <a:ext cx="3589337" cy="1265237"/>
          </a:xfrm>
          <a:custGeom>
            <a:avLst/>
            <a:gdLst/>
            <a:ahLst/>
            <a:cxnLst/>
            <a:rect l="l" t="t" r="r" b="b"/>
            <a:pathLst>
              <a:path w="3589337" h="1265237">
                <a:moveTo>
                  <a:pt x="76205" y="0"/>
                </a:moveTo>
                <a:lnTo>
                  <a:pt x="3513132" y="0"/>
                </a:lnTo>
                <a:cubicBezTo>
                  <a:pt x="3555219" y="0"/>
                  <a:pt x="3589337" y="34118"/>
                  <a:pt x="3589337" y="76205"/>
                </a:cubicBezTo>
                <a:lnTo>
                  <a:pt x="3589337" y="1189032"/>
                </a:lnTo>
                <a:cubicBezTo>
                  <a:pt x="3589337" y="1231119"/>
                  <a:pt x="3555219" y="1265237"/>
                  <a:pt x="3513132" y="1265237"/>
                </a:cubicBezTo>
                <a:lnTo>
                  <a:pt x="76205" y="1265237"/>
                </a:lnTo>
                <a:cubicBezTo>
                  <a:pt x="34118" y="1265237"/>
                  <a:pt x="0" y="1231119"/>
                  <a:pt x="0" y="1189032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3575" y="4848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1681" y="4933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7511" y="91678"/>
                </a:moveTo>
                <a:cubicBezTo>
                  <a:pt x="112827" y="91678"/>
                  <a:pt x="133350" y="71155"/>
                  <a:pt x="133350" y="45839"/>
                </a:cubicBezTo>
                <a:cubicBezTo>
                  <a:pt x="133350" y="20523"/>
                  <a:pt x="112827" y="0"/>
                  <a:pt x="87511" y="0"/>
                </a:cubicBezTo>
                <a:cubicBezTo>
                  <a:pt x="62195" y="0"/>
                  <a:pt x="41672" y="20523"/>
                  <a:pt x="41672" y="45839"/>
                </a:cubicBezTo>
                <a:cubicBezTo>
                  <a:pt x="41672" y="50709"/>
                  <a:pt x="42427" y="55424"/>
                  <a:pt x="43834" y="59825"/>
                </a:cubicBezTo>
                <a:lnTo>
                  <a:pt x="1823" y="101836"/>
                </a:lnTo>
                <a:cubicBezTo>
                  <a:pt x="651" y="103008"/>
                  <a:pt x="0" y="104596"/>
                  <a:pt x="0" y="106263"/>
                </a:cubicBezTo>
                <a:lnTo>
                  <a:pt x="0" y="127099"/>
                </a:lnTo>
                <a:cubicBezTo>
                  <a:pt x="0" y="130563"/>
                  <a:pt x="2787" y="133350"/>
                  <a:pt x="6251" y="133350"/>
                </a:cubicBezTo>
                <a:lnTo>
                  <a:pt x="27087" y="133350"/>
                </a:lnTo>
                <a:cubicBezTo>
                  <a:pt x="30551" y="133350"/>
                  <a:pt x="33337" y="130563"/>
                  <a:pt x="33337" y="127099"/>
                </a:cubicBezTo>
                <a:lnTo>
                  <a:pt x="33337" y="116681"/>
                </a:lnTo>
                <a:lnTo>
                  <a:pt x="43755" y="116681"/>
                </a:lnTo>
                <a:cubicBezTo>
                  <a:pt x="47219" y="116681"/>
                  <a:pt x="50006" y="113894"/>
                  <a:pt x="50006" y="110430"/>
                </a:cubicBezTo>
                <a:lnTo>
                  <a:pt x="50006" y="100013"/>
                </a:lnTo>
                <a:lnTo>
                  <a:pt x="60424" y="100013"/>
                </a:lnTo>
                <a:cubicBezTo>
                  <a:pt x="62091" y="100013"/>
                  <a:pt x="63680" y="99361"/>
                  <a:pt x="64852" y="98189"/>
                </a:cubicBezTo>
                <a:lnTo>
                  <a:pt x="73525" y="89516"/>
                </a:lnTo>
                <a:cubicBezTo>
                  <a:pt x="77926" y="90923"/>
                  <a:pt x="82641" y="91678"/>
                  <a:pt x="87511" y="91678"/>
                </a:cubicBezTo>
                <a:close/>
                <a:moveTo>
                  <a:pt x="97929" y="25003"/>
                </a:moveTo>
                <a:cubicBezTo>
                  <a:pt x="103679" y="25003"/>
                  <a:pt x="108347" y="29671"/>
                  <a:pt x="108347" y="35421"/>
                </a:cubicBezTo>
                <a:cubicBezTo>
                  <a:pt x="108347" y="41171"/>
                  <a:pt x="103679" y="45839"/>
                  <a:pt x="97929" y="45839"/>
                </a:cubicBezTo>
                <a:cubicBezTo>
                  <a:pt x="92179" y="45839"/>
                  <a:pt x="87511" y="41171"/>
                  <a:pt x="87511" y="35421"/>
                </a:cubicBezTo>
                <a:cubicBezTo>
                  <a:pt x="87511" y="29671"/>
                  <a:pt x="92179" y="25003"/>
                  <a:pt x="97929" y="25003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54" name="Text 52"/>
          <p:cNvSpPr/>
          <p:nvPr/>
        </p:nvSpPr>
        <p:spPr>
          <a:xfrm>
            <a:off x="1044575" y="4886325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HF Authentication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3575" y="522922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huggingface-cli permission errors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3575" y="549592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Export HF_TOKEN environment variable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99268" y="4729955"/>
            <a:ext cx="3589337" cy="1265237"/>
          </a:xfrm>
          <a:custGeom>
            <a:avLst/>
            <a:gdLst/>
            <a:ahLst/>
            <a:cxnLst/>
            <a:rect l="l" t="t" r="r" b="b"/>
            <a:pathLst>
              <a:path w="3589337" h="1265237">
                <a:moveTo>
                  <a:pt x="76205" y="0"/>
                </a:moveTo>
                <a:lnTo>
                  <a:pt x="3513132" y="0"/>
                </a:lnTo>
                <a:cubicBezTo>
                  <a:pt x="3555219" y="0"/>
                  <a:pt x="3589337" y="34118"/>
                  <a:pt x="3589337" y="76205"/>
                </a:cubicBezTo>
                <a:lnTo>
                  <a:pt x="3589337" y="1189032"/>
                </a:lnTo>
                <a:cubicBezTo>
                  <a:pt x="3589337" y="1231119"/>
                  <a:pt x="3555219" y="1265237"/>
                  <a:pt x="3513132" y="1265237"/>
                </a:cubicBezTo>
                <a:lnTo>
                  <a:pt x="76205" y="1265237"/>
                </a:lnTo>
                <a:cubicBezTo>
                  <a:pt x="34118" y="1265237"/>
                  <a:pt x="0" y="1231119"/>
                  <a:pt x="0" y="1189032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17536" y="4848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522311" y="49339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60" name="Text 58"/>
          <p:cNvSpPr/>
          <p:nvPr/>
        </p:nvSpPr>
        <p:spPr>
          <a:xfrm>
            <a:off x="4798536" y="4886325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Profiling Permissions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17536" y="522922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"Permission Denied" for ncu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17536" y="5495925"/>
            <a:ext cx="3419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RmProfilingAdminOnly=0 in driver params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53229" y="4729955"/>
            <a:ext cx="3589337" cy="1265237"/>
          </a:xfrm>
          <a:custGeom>
            <a:avLst/>
            <a:gdLst/>
            <a:ahLst/>
            <a:cxnLst/>
            <a:rect l="l" t="t" r="r" b="b"/>
            <a:pathLst>
              <a:path w="3589337" h="1265237">
                <a:moveTo>
                  <a:pt x="76205" y="0"/>
                </a:moveTo>
                <a:lnTo>
                  <a:pt x="3513132" y="0"/>
                </a:lnTo>
                <a:cubicBezTo>
                  <a:pt x="3555219" y="0"/>
                  <a:pt x="3589337" y="34118"/>
                  <a:pt x="3589337" y="76205"/>
                </a:cubicBezTo>
                <a:lnTo>
                  <a:pt x="3589337" y="1189032"/>
                </a:lnTo>
                <a:cubicBezTo>
                  <a:pt x="3589337" y="1231119"/>
                  <a:pt x="3555219" y="1265237"/>
                  <a:pt x="3513132" y="1265237"/>
                </a:cubicBezTo>
                <a:lnTo>
                  <a:pt x="76205" y="1265237"/>
                </a:lnTo>
                <a:cubicBezTo>
                  <a:pt x="34118" y="1265237"/>
                  <a:pt x="0" y="1231119"/>
                  <a:pt x="0" y="1189032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71498" y="4848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267938" y="4933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96210" y="33337"/>
                </a:moveTo>
                <a:lnTo>
                  <a:pt x="87277" y="20836"/>
                </a:lnTo>
                <a:lnTo>
                  <a:pt x="29431" y="20836"/>
                </a:lnTo>
                <a:lnTo>
                  <a:pt x="20497" y="33337"/>
                </a:lnTo>
                <a:lnTo>
                  <a:pt x="96210" y="33337"/>
                </a:lnTo>
                <a:close/>
                <a:moveTo>
                  <a:pt x="0" y="38677"/>
                </a:moveTo>
                <a:cubicBezTo>
                  <a:pt x="0" y="35213"/>
                  <a:pt x="1094" y="31827"/>
                  <a:pt x="3099" y="28988"/>
                </a:cubicBezTo>
                <a:lnTo>
                  <a:pt x="15861" y="11147"/>
                </a:lnTo>
                <a:cubicBezTo>
                  <a:pt x="18987" y="6772"/>
                  <a:pt x="24039" y="4167"/>
                  <a:pt x="29405" y="4167"/>
                </a:cubicBezTo>
                <a:lnTo>
                  <a:pt x="87250" y="4167"/>
                </a:lnTo>
                <a:cubicBezTo>
                  <a:pt x="92642" y="4167"/>
                  <a:pt x="97695" y="6772"/>
                  <a:pt x="100820" y="11147"/>
                </a:cubicBezTo>
                <a:lnTo>
                  <a:pt x="113556" y="28988"/>
                </a:lnTo>
                <a:cubicBezTo>
                  <a:pt x="115587" y="31827"/>
                  <a:pt x="116655" y="35213"/>
                  <a:pt x="116655" y="3867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867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66" name="Text 64"/>
          <p:cNvSpPr/>
          <p:nvPr/>
        </p:nvSpPr>
        <p:spPr>
          <a:xfrm>
            <a:off x="8552498" y="488632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Dependency Hell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171498" y="522922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PyTorch 2.6 + CUDA 12.4 conflicts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171498" y="5495925"/>
            <a:ext cx="3419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Isolated uv environments with lock files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20000"/>
                </a:srgbClr>
              </a:gs>
              <a:gs pos="100000">
                <a:srgbClr val="D2A8FF">
                  <a:alpha val="20000"/>
                </a:srgbClr>
              </a:gs>
            </a:gsLst>
            <a:lin ang="2700000" scaled="1"/>
          </a:gra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9113" y="552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837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847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Methodology: The Triton Kernel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6789737" cy="5008562"/>
          </a:xfrm>
          <a:custGeom>
            <a:avLst/>
            <a:gdLst/>
            <a:ahLst/>
            <a:cxnLst/>
            <a:rect l="l" t="t" r="r" b="b"/>
            <a:pathLst>
              <a:path w="6789737" h="5008562">
                <a:moveTo>
                  <a:pt x="114295" y="0"/>
                </a:moveTo>
                <a:lnTo>
                  <a:pt x="6675442" y="0"/>
                </a:lnTo>
                <a:cubicBezTo>
                  <a:pt x="6738566" y="0"/>
                  <a:pt x="6789737" y="51172"/>
                  <a:pt x="6789737" y="114295"/>
                </a:cubicBezTo>
                <a:lnTo>
                  <a:pt x="6789737" y="4894267"/>
                </a:lnTo>
                <a:cubicBezTo>
                  <a:pt x="6789737" y="4957391"/>
                  <a:pt x="6738566" y="5008562"/>
                  <a:pt x="6675442" y="5008562"/>
                </a:cubicBezTo>
                <a:lnTo>
                  <a:pt x="114295" y="5008562"/>
                </a:lnTo>
                <a:cubicBezTo>
                  <a:pt x="51172" y="5008562"/>
                  <a:pt x="0" y="4957391"/>
                  <a:pt x="0" y="4894267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937" y="1112839"/>
            <a:ext cx="6781800" cy="346869"/>
          </a:xfrm>
          <a:custGeom>
            <a:avLst/>
            <a:gdLst/>
            <a:ahLst/>
            <a:cxnLst/>
            <a:rect l="l" t="t" r="r" b="b"/>
            <a:pathLst>
              <a:path w="6781800" h="346869">
                <a:moveTo>
                  <a:pt x="0" y="0"/>
                </a:moveTo>
                <a:lnTo>
                  <a:pt x="6781800" y="0"/>
                </a:lnTo>
                <a:lnTo>
                  <a:pt x="6781800" y="346869"/>
                </a:lnTo>
                <a:lnTo>
                  <a:pt x="0" y="346869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8" name="Shape 6"/>
          <p:cNvSpPr/>
          <p:nvPr/>
        </p:nvSpPr>
        <p:spPr>
          <a:xfrm>
            <a:off x="388937" y="1459708"/>
            <a:ext cx="6781800" cy="7937"/>
          </a:xfrm>
          <a:custGeom>
            <a:avLst/>
            <a:gdLst/>
            <a:ahLst/>
            <a:cxnLst/>
            <a:rect l="l" t="t" r="r" b="b"/>
            <a:pathLst>
              <a:path w="6781800" h="7937">
                <a:moveTo>
                  <a:pt x="0" y="0"/>
                </a:moveTo>
                <a:lnTo>
                  <a:pt x="6781800" y="0"/>
                </a:lnTo>
                <a:lnTo>
                  <a:pt x="6781800" y="7937"/>
                </a:lnTo>
                <a:lnTo>
                  <a:pt x="0" y="7937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9" name="Shape 7"/>
          <p:cNvSpPr/>
          <p:nvPr/>
        </p:nvSpPr>
        <p:spPr>
          <a:xfrm>
            <a:off x="541337" y="122713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837" y="122713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0883E"/>
          </a:solidFill>
          <a:ln/>
        </p:spPr>
      </p:sp>
      <p:sp>
        <p:nvSpPr>
          <p:cNvPr id="11" name="Shape 9"/>
          <p:cNvSpPr/>
          <p:nvPr/>
        </p:nvSpPr>
        <p:spPr>
          <a:xfrm>
            <a:off x="922337" y="122713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5540375" y="1189039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rms_norm_triton.py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37" y="1616073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Triton RMSNorm Kernel Implementation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37" y="1832767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triton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337" y="2049461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triton.language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1337" y="2291079"/>
            <a:ext cx="9694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@triton.jit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337" y="2482848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rms_norm_kernel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737" y="2699542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x_ptr, output_ptr, weight_ptr,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737" y="2916236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stride, N, eps,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3737" y="3132930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BLOCK_SIZE: tl.constexpr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37" y="3349623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737" y="3566317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Get program ID (row index)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737" y="3783011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row_idx = tl.program_id(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9C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737" y="3999705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Compute memory offsets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3737" y="4216398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x_ptr += row_idx * stride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737" y="4433092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output_ptr += row_idx * stride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737" y="4649786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Load input with masking for safety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737" y="4866480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cols = tl.arange(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9C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BLOCK_SIZE)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3737" y="5083173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mask = cols &lt; 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3737" y="5299867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= tl.load(x_ptr + cols, mask=mask, other=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79C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3737" y="5516561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On-chip reduction: compute variance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737" y="5733255"/>
            <a:ext cx="6391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x_sq = x * x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4409" y="1108869"/>
            <a:ext cx="4475162" cy="3579812"/>
          </a:xfrm>
          <a:custGeom>
            <a:avLst/>
            <a:gdLst/>
            <a:ahLst/>
            <a:cxnLst/>
            <a:rect l="l" t="t" r="r" b="b"/>
            <a:pathLst>
              <a:path w="4475162" h="3579812">
                <a:moveTo>
                  <a:pt x="114303" y="0"/>
                </a:moveTo>
                <a:lnTo>
                  <a:pt x="4360859" y="0"/>
                </a:lnTo>
                <a:cubicBezTo>
                  <a:pt x="4423987" y="0"/>
                  <a:pt x="4475162" y="51175"/>
                  <a:pt x="4475162" y="114303"/>
                </a:cubicBezTo>
                <a:lnTo>
                  <a:pt x="4475162" y="3465509"/>
                </a:lnTo>
                <a:cubicBezTo>
                  <a:pt x="4475162" y="3528637"/>
                  <a:pt x="4423987" y="3579812"/>
                  <a:pt x="4360859" y="3579812"/>
                </a:cubicBezTo>
                <a:lnTo>
                  <a:pt x="114303" y="3579812"/>
                </a:lnTo>
                <a:cubicBezTo>
                  <a:pt x="51175" y="3579812"/>
                  <a:pt x="0" y="3528637"/>
                  <a:pt x="0" y="3465509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02684" y="130333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28903" y="1265239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4746" y="1650208"/>
            <a:ext cx="4151312" cy="1008062"/>
          </a:xfrm>
          <a:custGeom>
            <a:avLst/>
            <a:gdLst/>
            <a:ahLst/>
            <a:cxnLst/>
            <a:rect l="l" t="t" r="r" b="b"/>
            <a:pathLst>
              <a:path w="4151312" h="1008062">
                <a:moveTo>
                  <a:pt x="76199" y="0"/>
                </a:moveTo>
                <a:lnTo>
                  <a:pt x="4075113" y="0"/>
                </a:lnTo>
                <a:cubicBezTo>
                  <a:pt x="4117197" y="0"/>
                  <a:pt x="4151312" y="34116"/>
                  <a:pt x="4151312" y="76199"/>
                </a:cubicBezTo>
                <a:lnTo>
                  <a:pt x="4151312" y="931863"/>
                </a:lnTo>
                <a:cubicBezTo>
                  <a:pt x="4151312" y="973947"/>
                  <a:pt x="4117197" y="1008062"/>
                  <a:pt x="4075113" y="1008062"/>
                </a:cubicBezTo>
                <a:lnTo>
                  <a:pt x="76199" y="1008062"/>
                </a:lnTo>
                <a:cubicBezTo>
                  <a:pt x="34116" y="1008062"/>
                  <a:pt x="0" y="973947"/>
                  <a:pt x="0" y="931863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3015" y="176847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701121" y="18541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7994015" y="180657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Memory Access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13015" y="2149473"/>
            <a:ext cx="39814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tl.load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masking to handle arbitrary tensor sizes safely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4746" y="2778920"/>
            <a:ext cx="4151312" cy="817562"/>
          </a:xfrm>
          <a:custGeom>
            <a:avLst/>
            <a:gdLst/>
            <a:ahLst/>
            <a:cxnLst/>
            <a:rect l="l" t="t" r="r" b="b"/>
            <a:pathLst>
              <a:path w="4151312" h="817562">
                <a:moveTo>
                  <a:pt x="76197" y="0"/>
                </a:moveTo>
                <a:lnTo>
                  <a:pt x="4075116" y="0"/>
                </a:lnTo>
                <a:cubicBezTo>
                  <a:pt x="4117198" y="0"/>
                  <a:pt x="4151312" y="34114"/>
                  <a:pt x="4151312" y="76197"/>
                </a:cubicBezTo>
                <a:lnTo>
                  <a:pt x="4151312" y="741366"/>
                </a:lnTo>
                <a:cubicBezTo>
                  <a:pt x="4151312" y="783448"/>
                  <a:pt x="4117198" y="817562"/>
                  <a:pt x="4075116" y="817562"/>
                </a:cubicBezTo>
                <a:lnTo>
                  <a:pt x="76197" y="817562"/>
                </a:lnTo>
                <a:cubicBezTo>
                  <a:pt x="34114" y="817562"/>
                  <a:pt x="0" y="783448"/>
                  <a:pt x="0" y="741366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3015" y="28971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701121" y="298291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44" name="Text 42"/>
          <p:cNvSpPr/>
          <p:nvPr/>
        </p:nvSpPr>
        <p:spPr>
          <a:xfrm>
            <a:off x="7994015" y="2935286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On-Chip Reduction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13015" y="3278186"/>
            <a:ext cx="3981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tl.sum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calculates variance without global memory writes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94746" y="3717133"/>
            <a:ext cx="4151312" cy="808037"/>
          </a:xfrm>
          <a:custGeom>
            <a:avLst/>
            <a:gdLst/>
            <a:ahLst/>
            <a:cxnLst/>
            <a:rect l="l" t="t" r="r" b="b"/>
            <a:pathLst>
              <a:path w="4151312" h="808037">
                <a:moveTo>
                  <a:pt x="76198" y="0"/>
                </a:moveTo>
                <a:lnTo>
                  <a:pt x="4075115" y="0"/>
                </a:lnTo>
                <a:cubicBezTo>
                  <a:pt x="4117169" y="0"/>
                  <a:pt x="4151312" y="34143"/>
                  <a:pt x="4151312" y="76198"/>
                </a:cubicBezTo>
                <a:lnTo>
                  <a:pt x="4151312" y="731840"/>
                </a:lnTo>
                <a:cubicBezTo>
                  <a:pt x="4151312" y="773894"/>
                  <a:pt x="4117169" y="808037"/>
                  <a:pt x="4075115" y="808037"/>
                </a:cubicBezTo>
                <a:lnTo>
                  <a:pt x="76198" y="808037"/>
                </a:lnTo>
                <a:cubicBezTo>
                  <a:pt x="34143" y="808037"/>
                  <a:pt x="0" y="773894"/>
                  <a:pt x="0" y="731840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3015" y="383539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84452" y="3921123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7994015" y="3873498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JIT Compilation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13015" y="4216398"/>
            <a:ext cx="398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Auto-tuned for RTX 2050 SM 8.6 architecture at runtime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34409" y="4807745"/>
            <a:ext cx="4475162" cy="1303337"/>
          </a:xfrm>
          <a:custGeom>
            <a:avLst/>
            <a:gdLst/>
            <a:ahLst/>
            <a:cxnLst/>
            <a:rect l="l" t="t" r="r" b="b"/>
            <a:pathLst>
              <a:path w="4475162" h="1303337">
                <a:moveTo>
                  <a:pt x="114303" y="0"/>
                </a:moveTo>
                <a:lnTo>
                  <a:pt x="4360860" y="0"/>
                </a:lnTo>
                <a:cubicBezTo>
                  <a:pt x="4423987" y="0"/>
                  <a:pt x="4475162" y="51175"/>
                  <a:pt x="4475162" y="114303"/>
                </a:cubicBezTo>
                <a:lnTo>
                  <a:pt x="4475162" y="1189035"/>
                </a:lnTo>
                <a:cubicBezTo>
                  <a:pt x="4475162" y="1252162"/>
                  <a:pt x="4423987" y="1303337"/>
                  <a:pt x="4360860" y="1303337"/>
                </a:cubicBezTo>
                <a:lnTo>
                  <a:pt x="114303" y="1303337"/>
                </a:lnTo>
                <a:cubicBezTo>
                  <a:pt x="51175" y="1303337"/>
                  <a:pt x="0" y="1252162"/>
                  <a:pt x="0" y="1189035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36021" y="501173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3" name="Text 51"/>
          <p:cNvSpPr/>
          <p:nvPr/>
        </p:nvSpPr>
        <p:spPr>
          <a:xfrm>
            <a:off x="7709853" y="4964111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Optimization Insight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90778" y="5307011"/>
            <a:ext cx="42291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Triton automatically handles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coalescing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warp scheduling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achieving ~90% of theoretical peak bandwidth without manual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644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655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Methodology: The Profiling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5627687" cy="4017962"/>
          </a:xfrm>
          <a:custGeom>
            <a:avLst/>
            <a:gdLst/>
            <a:ahLst/>
            <a:cxnLst/>
            <a:rect l="l" t="t" r="r" b="b"/>
            <a:pathLst>
              <a:path w="5627687" h="4017962">
                <a:moveTo>
                  <a:pt x="114311" y="0"/>
                </a:moveTo>
                <a:lnTo>
                  <a:pt x="5513376" y="0"/>
                </a:lnTo>
                <a:cubicBezTo>
                  <a:pt x="5576509" y="0"/>
                  <a:pt x="5627687" y="51179"/>
                  <a:pt x="5627687" y="114311"/>
                </a:cubicBezTo>
                <a:lnTo>
                  <a:pt x="5627687" y="3903651"/>
                </a:lnTo>
                <a:cubicBezTo>
                  <a:pt x="5627687" y="3966784"/>
                  <a:pt x="5576509" y="4017962"/>
                  <a:pt x="5513376" y="4017962"/>
                </a:cubicBezTo>
                <a:lnTo>
                  <a:pt x="114311" y="4017962"/>
                </a:lnTo>
                <a:cubicBezTo>
                  <a:pt x="51179" y="4017962"/>
                  <a:pt x="0" y="3966784"/>
                  <a:pt x="0" y="3903651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306" y="1288258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687" y="14176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112837" y="1265239"/>
            <a:ext cx="22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Automation Script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2837" y="1570039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profile_kernel.sh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5306" y="1878808"/>
            <a:ext cx="5313362" cy="2589212"/>
          </a:xfrm>
          <a:custGeom>
            <a:avLst/>
            <a:gdLst/>
            <a:ahLst/>
            <a:cxnLst/>
            <a:rect l="l" t="t" r="r" b="b"/>
            <a:pathLst>
              <a:path w="5313362" h="2589212">
                <a:moveTo>
                  <a:pt x="76201" y="0"/>
                </a:moveTo>
                <a:lnTo>
                  <a:pt x="5237162" y="0"/>
                </a:lnTo>
                <a:cubicBezTo>
                  <a:pt x="5279246" y="0"/>
                  <a:pt x="5313362" y="34116"/>
                  <a:pt x="5313362" y="76201"/>
                </a:cubicBezTo>
                <a:lnTo>
                  <a:pt x="5313362" y="2513012"/>
                </a:lnTo>
                <a:cubicBezTo>
                  <a:pt x="5313362" y="2555096"/>
                  <a:pt x="5279246" y="2589212"/>
                  <a:pt x="5237162" y="2589212"/>
                </a:cubicBezTo>
                <a:lnTo>
                  <a:pt x="76201" y="2589212"/>
                </a:lnTo>
                <a:cubicBezTo>
                  <a:pt x="34116" y="2589212"/>
                  <a:pt x="0" y="2555096"/>
                  <a:pt x="0" y="2513012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9275" y="1882773"/>
            <a:ext cx="5305425" cy="308769"/>
          </a:xfrm>
          <a:custGeom>
            <a:avLst/>
            <a:gdLst/>
            <a:ahLst/>
            <a:cxnLst/>
            <a:rect l="l" t="t" r="r" b="b"/>
            <a:pathLst>
              <a:path w="5305425" h="308769">
                <a:moveTo>
                  <a:pt x="0" y="0"/>
                </a:moveTo>
                <a:lnTo>
                  <a:pt x="5305425" y="0"/>
                </a:lnTo>
                <a:lnTo>
                  <a:pt x="5305425" y="308769"/>
                </a:lnTo>
                <a:lnTo>
                  <a:pt x="0" y="308769"/>
                </a:lnTo>
                <a:lnTo>
                  <a:pt x="0" y="0"/>
                </a:ln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9275" y="2191542"/>
            <a:ext cx="5305425" cy="7937"/>
          </a:xfrm>
          <a:custGeom>
            <a:avLst/>
            <a:gdLst/>
            <a:ahLst/>
            <a:cxnLst/>
            <a:rect l="l" t="t" r="r" b="b"/>
            <a:pathLst>
              <a:path w="5305425" h="7937">
                <a:moveTo>
                  <a:pt x="0" y="0"/>
                </a:moveTo>
                <a:lnTo>
                  <a:pt x="5305425" y="0"/>
                </a:lnTo>
                <a:lnTo>
                  <a:pt x="5305425" y="7937"/>
                </a:lnTo>
                <a:lnTo>
                  <a:pt x="0" y="7937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663575" y="1958973"/>
            <a:ext cx="513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Bash Automation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3575" y="2335211"/>
            <a:ext cx="830739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#!/bin/bash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575" y="2520948"/>
            <a:ext cx="2307590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Automated NCU Profiling 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575" y="2706686"/>
            <a:ext cx="338455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5206" y="2706686"/>
            <a:ext cx="2166938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"Starting kernel profiling..."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575" y="2892423"/>
            <a:ext cx="1744980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Warm-up: 20 iterations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575" y="3052763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warmup.py --iterations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79C0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3575" y="3263898"/>
            <a:ext cx="2237264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Full hardware counter capture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3575" y="3424238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ncu --set full \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975" y="3609975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--csv \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5975" y="379571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--log-file profile.csv \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5975" y="3981450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profile_triton.py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3575" y="4192586"/>
            <a:ext cx="338455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206" y="4192586"/>
            <a:ext cx="1534001" cy="1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"Profiling complete!"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6169" y="1108869"/>
            <a:ext cx="5627687" cy="4017962"/>
          </a:xfrm>
          <a:custGeom>
            <a:avLst/>
            <a:gdLst/>
            <a:ahLst/>
            <a:cxnLst/>
            <a:rect l="l" t="t" r="r" b="b"/>
            <a:pathLst>
              <a:path w="5627687" h="4017962">
                <a:moveTo>
                  <a:pt x="114311" y="0"/>
                </a:moveTo>
                <a:lnTo>
                  <a:pt x="5513376" y="0"/>
                </a:lnTo>
                <a:cubicBezTo>
                  <a:pt x="5576509" y="0"/>
                  <a:pt x="5627687" y="51179"/>
                  <a:pt x="5627687" y="114311"/>
                </a:cubicBezTo>
                <a:lnTo>
                  <a:pt x="5627687" y="3903651"/>
                </a:lnTo>
                <a:cubicBezTo>
                  <a:pt x="5627687" y="3966784"/>
                  <a:pt x="5576509" y="4017962"/>
                  <a:pt x="5513376" y="4017962"/>
                </a:cubicBezTo>
                <a:lnTo>
                  <a:pt x="114311" y="4017962"/>
                </a:lnTo>
                <a:cubicBezTo>
                  <a:pt x="51179" y="4017962"/>
                  <a:pt x="0" y="3966784"/>
                  <a:pt x="0" y="3903651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1112" y="130333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618287" y="1265239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Three-Step Process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6506" y="1688308"/>
            <a:ext cx="5313362" cy="1074737"/>
          </a:xfrm>
          <a:custGeom>
            <a:avLst/>
            <a:gdLst/>
            <a:ahLst/>
            <a:cxnLst/>
            <a:rect l="l" t="t" r="r" b="b"/>
            <a:pathLst>
              <a:path w="5313362" h="1074737">
                <a:moveTo>
                  <a:pt x="76199" y="0"/>
                </a:moveTo>
                <a:lnTo>
                  <a:pt x="5237164" y="0"/>
                </a:lnTo>
                <a:cubicBezTo>
                  <a:pt x="5279247" y="0"/>
                  <a:pt x="5313362" y="34115"/>
                  <a:pt x="5313362" y="76199"/>
                </a:cubicBezTo>
                <a:lnTo>
                  <a:pt x="5313362" y="998539"/>
                </a:lnTo>
                <a:cubicBezTo>
                  <a:pt x="5313362" y="1040622"/>
                  <a:pt x="5279247" y="1074737"/>
                  <a:pt x="5237164" y="1074737"/>
                </a:cubicBezTo>
                <a:lnTo>
                  <a:pt x="76199" y="1074737"/>
                </a:lnTo>
                <a:cubicBezTo>
                  <a:pt x="34115" y="1074737"/>
                  <a:pt x="0" y="1040622"/>
                  <a:pt x="0" y="9985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8744" y="1810542"/>
            <a:ext cx="369887" cy="369887"/>
          </a:xfrm>
          <a:custGeom>
            <a:avLst/>
            <a:gdLst/>
            <a:ahLst/>
            <a:cxnLst/>
            <a:rect l="l" t="t" r="r" b="b"/>
            <a:pathLst>
              <a:path w="369887" h="369887">
                <a:moveTo>
                  <a:pt x="114299" y="0"/>
                </a:moveTo>
                <a:lnTo>
                  <a:pt x="255589" y="0"/>
                </a:lnTo>
                <a:cubicBezTo>
                  <a:pt x="318672" y="0"/>
                  <a:pt x="369887" y="51216"/>
                  <a:pt x="369887" y="114299"/>
                </a:cubicBezTo>
                <a:lnTo>
                  <a:pt x="369887" y="255589"/>
                </a:lnTo>
                <a:cubicBezTo>
                  <a:pt x="369887" y="318714"/>
                  <a:pt x="318714" y="369887"/>
                  <a:pt x="255589" y="369887"/>
                </a:cubicBezTo>
                <a:lnTo>
                  <a:pt x="114299" y="369887"/>
                </a:lnTo>
                <a:cubicBezTo>
                  <a:pt x="51173" y="369887"/>
                  <a:pt x="0" y="318714"/>
                  <a:pt x="0" y="255589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0824" y="1863723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0075" y="1806573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Warm-up Loop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0075" y="2035173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iterations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4775" y="2263773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Stabilize GPU clock speeds and bypass JIT compilation overhead for accurate measurements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6506" y="2885281"/>
            <a:ext cx="5313362" cy="1074737"/>
          </a:xfrm>
          <a:custGeom>
            <a:avLst/>
            <a:gdLst/>
            <a:ahLst/>
            <a:cxnLst/>
            <a:rect l="l" t="t" r="r" b="b"/>
            <a:pathLst>
              <a:path w="5313362" h="1074737">
                <a:moveTo>
                  <a:pt x="76199" y="0"/>
                </a:moveTo>
                <a:lnTo>
                  <a:pt x="5237164" y="0"/>
                </a:lnTo>
                <a:cubicBezTo>
                  <a:pt x="5279247" y="0"/>
                  <a:pt x="5313362" y="34115"/>
                  <a:pt x="5313362" y="76199"/>
                </a:cubicBezTo>
                <a:lnTo>
                  <a:pt x="5313362" y="998539"/>
                </a:lnTo>
                <a:cubicBezTo>
                  <a:pt x="5313362" y="1040622"/>
                  <a:pt x="5279247" y="1074737"/>
                  <a:pt x="5237164" y="1074737"/>
                </a:cubicBezTo>
                <a:lnTo>
                  <a:pt x="76199" y="1074737"/>
                </a:lnTo>
                <a:cubicBezTo>
                  <a:pt x="34115" y="1074737"/>
                  <a:pt x="0" y="1040622"/>
                  <a:pt x="0" y="998539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8744" y="3007520"/>
            <a:ext cx="369887" cy="369887"/>
          </a:xfrm>
          <a:custGeom>
            <a:avLst/>
            <a:gdLst/>
            <a:ahLst/>
            <a:cxnLst/>
            <a:rect l="l" t="t" r="r" b="b"/>
            <a:pathLst>
              <a:path w="369887" h="369887">
                <a:moveTo>
                  <a:pt x="114299" y="0"/>
                </a:moveTo>
                <a:lnTo>
                  <a:pt x="255589" y="0"/>
                </a:lnTo>
                <a:cubicBezTo>
                  <a:pt x="318672" y="0"/>
                  <a:pt x="369887" y="51216"/>
                  <a:pt x="369887" y="114299"/>
                </a:cubicBezTo>
                <a:lnTo>
                  <a:pt x="369887" y="255589"/>
                </a:lnTo>
                <a:cubicBezTo>
                  <a:pt x="369887" y="318714"/>
                  <a:pt x="318714" y="369887"/>
                  <a:pt x="255589" y="369887"/>
                </a:cubicBezTo>
                <a:lnTo>
                  <a:pt x="114299" y="369887"/>
                </a:lnTo>
                <a:cubicBezTo>
                  <a:pt x="51173" y="369887"/>
                  <a:pt x="0" y="318714"/>
                  <a:pt x="0" y="255589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0824" y="3060702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0075" y="3003552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Counter Capture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0075" y="3232152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ncu --set full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54775" y="3460752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all hardware counters including DRAM throughput, SM occupancy, and instruction mix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6506" y="4082255"/>
            <a:ext cx="5313362" cy="884237"/>
          </a:xfrm>
          <a:custGeom>
            <a:avLst/>
            <a:gdLst/>
            <a:ahLst/>
            <a:cxnLst/>
            <a:rect l="l" t="t" r="r" b="b"/>
            <a:pathLst>
              <a:path w="5313362" h="884237">
                <a:moveTo>
                  <a:pt x="76204" y="0"/>
                </a:moveTo>
                <a:lnTo>
                  <a:pt x="5237159" y="0"/>
                </a:lnTo>
                <a:cubicBezTo>
                  <a:pt x="5279245" y="0"/>
                  <a:pt x="5313362" y="34118"/>
                  <a:pt x="5313362" y="76204"/>
                </a:cubicBezTo>
                <a:lnTo>
                  <a:pt x="5313362" y="808034"/>
                </a:lnTo>
                <a:cubicBezTo>
                  <a:pt x="5313362" y="850120"/>
                  <a:pt x="5279245" y="884237"/>
                  <a:pt x="5237159" y="884237"/>
                </a:cubicBezTo>
                <a:lnTo>
                  <a:pt x="76204" y="884237"/>
                </a:lnTo>
                <a:cubicBezTo>
                  <a:pt x="34118" y="884237"/>
                  <a:pt x="0" y="850120"/>
                  <a:pt x="0" y="808034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58744" y="4204494"/>
            <a:ext cx="369887" cy="369887"/>
          </a:xfrm>
          <a:custGeom>
            <a:avLst/>
            <a:gdLst/>
            <a:ahLst/>
            <a:cxnLst/>
            <a:rect l="l" t="t" r="r" b="b"/>
            <a:pathLst>
              <a:path w="369887" h="369887">
                <a:moveTo>
                  <a:pt x="114299" y="0"/>
                </a:moveTo>
                <a:lnTo>
                  <a:pt x="255589" y="0"/>
                </a:lnTo>
                <a:cubicBezTo>
                  <a:pt x="318672" y="0"/>
                  <a:pt x="369887" y="51216"/>
                  <a:pt x="369887" y="114299"/>
                </a:cubicBezTo>
                <a:lnTo>
                  <a:pt x="369887" y="255589"/>
                </a:lnTo>
                <a:cubicBezTo>
                  <a:pt x="369887" y="318714"/>
                  <a:pt x="318714" y="369887"/>
                  <a:pt x="255589" y="369887"/>
                </a:cubicBezTo>
                <a:lnTo>
                  <a:pt x="114299" y="369887"/>
                </a:lnTo>
                <a:cubicBezTo>
                  <a:pt x="51173" y="369887"/>
                  <a:pt x="0" y="318714"/>
                  <a:pt x="0" y="255589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0824" y="425767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50075" y="4200525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&amp; Analyze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0075" y="4429125"/>
            <a:ext cx="134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format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54775" y="465772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results to CSV for automated analysis and bottleneck identification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969" y="5287167"/>
            <a:ext cx="11418887" cy="1027112"/>
          </a:xfrm>
          <a:custGeom>
            <a:avLst/>
            <a:gdLst/>
            <a:ahLst/>
            <a:cxnLst/>
            <a:rect l="l" t="t" r="r" b="b"/>
            <a:pathLst>
              <a:path w="11418887" h="1027112">
                <a:moveTo>
                  <a:pt x="114297" y="0"/>
                </a:moveTo>
                <a:lnTo>
                  <a:pt x="11304590" y="0"/>
                </a:lnTo>
                <a:cubicBezTo>
                  <a:pt x="11367715" y="0"/>
                  <a:pt x="11418887" y="51173"/>
                  <a:pt x="11418887" y="114297"/>
                </a:cubicBezTo>
                <a:lnTo>
                  <a:pt x="11418887" y="912815"/>
                </a:lnTo>
                <a:cubicBezTo>
                  <a:pt x="11418887" y="975940"/>
                  <a:pt x="11367715" y="1027112"/>
                  <a:pt x="11304590" y="1027112"/>
                </a:cubicBezTo>
                <a:lnTo>
                  <a:pt x="114297" y="1027112"/>
                </a:lnTo>
                <a:cubicBezTo>
                  <a:pt x="51173" y="1027112"/>
                  <a:pt x="0" y="975940"/>
                  <a:pt x="0" y="912815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5306" y="5535612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9450" y="568404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2" name="Text 50"/>
          <p:cNvSpPr/>
          <p:nvPr/>
        </p:nvSpPr>
        <p:spPr>
          <a:xfrm>
            <a:off x="1227137" y="5443538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231106" y="5790406"/>
            <a:ext cx="2465387" cy="360362"/>
          </a:xfrm>
          <a:custGeom>
            <a:avLst/>
            <a:gdLst/>
            <a:ahLst/>
            <a:cxnLst/>
            <a:rect l="l" t="t" r="r" b="b"/>
            <a:pathLst>
              <a:path w="2465387" h="360362">
                <a:moveTo>
                  <a:pt x="76199" y="0"/>
                </a:moveTo>
                <a:lnTo>
                  <a:pt x="2389189" y="0"/>
                </a:lnTo>
                <a:cubicBezTo>
                  <a:pt x="2431272" y="0"/>
                  <a:pt x="2465387" y="34115"/>
                  <a:pt x="2465387" y="76199"/>
                </a:cubicBezTo>
                <a:lnTo>
                  <a:pt x="2465387" y="284164"/>
                </a:lnTo>
                <a:cubicBezTo>
                  <a:pt x="2465387" y="326247"/>
                  <a:pt x="2431272" y="360362"/>
                  <a:pt x="2389189" y="360362"/>
                </a:cubicBezTo>
                <a:lnTo>
                  <a:pt x="76199" y="360362"/>
                </a:lnTo>
                <a:cubicBezTo>
                  <a:pt x="34143" y="360362"/>
                  <a:pt x="0" y="326219"/>
                  <a:pt x="0" y="284164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68425" y="58935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5" name="Text 53"/>
          <p:cNvSpPr/>
          <p:nvPr/>
        </p:nvSpPr>
        <p:spPr>
          <a:xfrm>
            <a:off x="1616075" y="5870577"/>
            <a:ext cx="2028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Nsight Compute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(ncu)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14604" y="5790406"/>
            <a:ext cx="1941512" cy="360362"/>
          </a:xfrm>
          <a:custGeom>
            <a:avLst/>
            <a:gdLst/>
            <a:ahLst/>
            <a:cxnLst/>
            <a:rect l="l" t="t" r="r" b="b"/>
            <a:pathLst>
              <a:path w="1941512" h="360362">
                <a:moveTo>
                  <a:pt x="76199" y="0"/>
                </a:moveTo>
                <a:lnTo>
                  <a:pt x="1865314" y="0"/>
                </a:lnTo>
                <a:cubicBezTo>
                  <a:pt x="1907397" y="0"/>
                  <a:pt x="1941512" y="34115"/>
                  <a:pt x="1941512" y="76199"/>
                </a:cubicBezTo>
                <a:lnTo>
                  <a:pt x="1941512" y="284164"/>
                </a:lnTo>
                <a:cubicBezTo>
                  <a:pt x="1941512" y="326247"/>
                  <a:pt x="1907397" y="360362"/>
                  <a:pt x="1865314" y="360362"/>
                </a:cubicBezTo>
                <a:lnTo>
                  <a:pt x="76199" y="360362"/>
                </a:lnTo>
                <a:cubicBezTo>
                  <a:pt x="34143" y="360362"/>
                  <a:pt x="0" y="326219"/>
                  <a:pt x="0" y="284164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42397" y="589359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0"/>
                </a:move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9525" y="143857"/>
                  <a:pt x="18068" y="152400"/>
                  <a:pt x="28575" y="152400"/>
                </a:cubicBezTo>
                <a:lnTo>
                  <a:pt x="52388" y="152400"/>
                </a:lnTo>
                <a:lnTo>
                  <a:pt x="52388" y="119062"/>
                </a:lnTo>
                <a:cubicBezTo>
                  <a:pt x="52388" y="108555"/>
                  <a:pt x="60930" y="100013"/>
                  <a:pt x="71438" y="100013"/>
                </a:cubicBezTo>
                <a:lnTo>
                  <a:pt x="123825" y="100013"/>
                </a:lnTo>
                <a:lnTo>
                  <a:pt x="123825" y="50750"/>
                </a:lnTo>
                <a:cubicBezTo>
                  <a:pt x="123825" y="45690"/>
                  <a:pt x="121831" y="40838"/>
                  <a:pt x="118259" y="37267"/>
                </a:cubicBezTo>
                <a:lnTo>
                  <a:pt x="86529" y="5566"/>
                </a:lnTo>
                <a:cubicBezTo>
                  <a:pt x="82957" y="1994"/>
                  <a:pt x="78135" y="0"/>
                  <a:pt x="73075" y="0"/>
                </a:cubicBezTo>
                <a:lnTo>
                  <a:pt x="28575" y="0"/>
                </a:lnTo>
                <a:close/>
                <a:moveTo>
                  <a:pt x="106412" y="52388"/>
                </a:moveTo>
                <a:lnTo>
                  <a:pt x="78581" y="52388"/>
                </a:lnTo>
                <a:cubicBezTo>
                  <a:pt x="74622" y="52388"/>
                  <a:pt x="71438" y="49203"/>
                  <a:pt x="71438" y="45244"/>
                </a:cubicBezTo>
                <a:lnTo>
                  <a:pt x="71438" y="17413"/>
                </a:lnTo>
                <a:lnTo>
                  <a:pt x="106412" y="52388"/>
                </a:lnTo>
                <a:close/>
                <a:moveTo>
                  <a:pt x="78581" y="113109"/>
                </a:moveTo>
                <a:cubicBezTo>
                  <a:pt x="71348" y="113109"/>
                  <a:pt x="65484" y="118973"/>
                  <a:pt x="65484" y="126206"/>
                </a:cubicBezTo>
                <a:lnTo>
                  <a:pt x="65484" y="150019"/>
                </a:lnTo>
                <a:cubicBezTo>
                  <a:pt x="65484" y="157252"/>
                  <a:pt x="71348" y="163116"/>
                  <a:pt x="78581" y="163116"/>
                </a:cubicBezTo>
                <a:lnTo>
                  <a:pt x="83344" y="163116"/>
                </a:lnTo>
                <a:cubicBezTo>
                  <a:pt x="90577" y="163116"/>
                  <a:pt x="96441" y="157252"/>
                  <a:pt x="96441" y="150019"/>
                </a:cubicBezTo>
                <a:lnTo>
                  <a:pt x="96441" y="147638"/>
                </a:lnTo>
                <a:cubicBezTo>
                  <a:pt x="96441" y="144363"/>
                  <a:pt x="93762" y="141684"/>
                  <a:pt x="90488" y="141684"/>
                </a:cubicBezTo>
                <a:cubicBezTo>
                  <a:pt x="87213" y="141684"/>
                  <a:pt x="84534" y="144363"/>
                  <a:pt x="84534" y="147638"/>
                </a:cubicBezTo>
                <a:lnTo>
                  <a:pt x="84534" y="150019"/>
                </a:lnTo>
                <a:cubicBezTo>
                  <a:pt x="84534" y="150674"/>
                  <a:pt x="83999" y="151209"/>
                  <a:pt x="83344" y="151209"/>
                </a:cubicBezTo>
                <a:lnTo>
                  <a:pt x="78581" y="151209"/>
                </a:lnTo>
                <a:cubicBezTo>
                  <a:pt x="77926" y="151209"/>
                  <a:pt x="77391" y="150674"/>
                  <a:pt x="77391" y="150019"/>
                </a:cubicBezTo>
                <a:lnTo>
                  <a:pt x="77391" y="126206"/>
                </a:lnTo>
                <a:cubicBezTo>
                  <a:pt x="77391" y="125551"/>
                  <a:pt x="77926" y="125016"/>
                  <a:pt x="78581" y="125016"/>
                </a:cubicBezTo>
                <a:lnTo>
                  <a:pt x="83344" y="125016"/>
                </a:lnTo>
                <a:cubicBezTo>
                  <a:pt x="83999" y="125016"/>
                  <a:pt x="84534" y="125551"/>
                  <a:pt x="84534" y="126206"/>
                </a:cubicBezTo>
                <a:lnTo>
                  <a:pt x="84534" y="128588"/>
                </a:lnTo>
                <a:cubicBezTo>
                  <a:pt x="84534" y="131862"/>
                  <a:pt x="87213" y="134541"/>
                  <a:pt x="90488" y="134541"/>
                </a:cubicBezTo>
                <a:cubicBezTo>
                  <a:pt x="93762" y="134541"/>
                  <a:pt x="96441" y="131862"/>
                  <a:pt x="96441" y="128588"/>
                </a:cubicBezTo>
                <a:lnTo>
                  <a:pt x="96441" y="126206"/>
                </a:lnTo>
                <a:cubicBezTo>
                  <a:pt x="96441" y="118973"/>
                  <a:pt x="90577" y="113109"/>
                  <a:pt x="83344" y="113109"/>
                </a:cubicBezTo>
                <a:lnTo>
                  <a:pt x="78581" y="113109"/>
                </a:lnTo>
                <a:close/>
                <a:moveTo>
                  <a:pt x="119062" y="113109"/>
                </a:moveTo>
                <a:cubicBezTo>
                  <a:pt x="110520" y="113109"/>
                  <a:pt x="103584" y="120045"/>
                  <a:pt x="103584" y="128588"/>
                </a:cubicBezTo>
                <a:cubicBezTo>
                  <a:pt x="103584" y="137130"/>
                  <a:pt x="110520" y="144066"/>
                  <a:pt x="119062" y="144066"/>
                </a:cubicBezTo>
                <a:cubicBezTo>
                  <a:pt x="121027" y="144066"/>
                  <a:pt x="122634" y="145673"/>
                  <a:pt x="122634" y="147638"/>
                </a:cubicBezTo>
                <a:cubicBezTo>
                  <a:pt x="122634" y="149602"/>
                  <a:pt x="121027" y="151209"/>
                  <a:pt x="119062" y="151209"/>
                </a:cubicBezTo>
                <a:lnTo>
                  <a:pt x="109537" y="151209"/>
                </a:lnTo>
                <a:cubicBezTo>
                  <a:pt x="106263" y="151209"/>
                  <a:pt x="103584" y="153888"/>
                  <a:pt x="103584" y="157163"/>
                </a:cubicBezTo>
                <a:cubicBezTo>
                  <a:pt x="103584" y="160437"/>
                  <a:pt x="106263" y="163116"/>
                  <a:pt x="109537" y="163116"/>
                </a:cubicBezTo>
                <a:lnTo>
                  <a:pt x="119062" y="163116"/>
                </a:lnTo>
                <a:cubicBezTo>
                  <a:pt x="127605" y="163116"/>
                  <a:pt x="134541" y="156180"/>
                  <a:pt x="134541" y="147638"/>
                </a:cubicBezTo>
                <a:cubicBezTo>
                  <a:pt x="134541" y="139095"/>
                  <a:pt x="127605" y="132159"/>
                  <a:pt x="119062" y="132159"/>
                </a:cubicBezTo>
                <a:cubicBezTo>
                  <a:pt x="117098" y="132159"/>
                  <a:pt x="115491" y="130552"/>
                  <a:pt x="115491" y="128588"/>
                </a:cubicBezTo>
                <a:cubicBezTo>
                  <a:pt x="115491" y="126623"/>
                  <a:pt x="117098" y="125016"/>
                  <a:pt x="119062" y="125016"/>
                </a:cubicBezTo>
                <a:lnTo>
                  <a:pt x="126206" y="125016"/>
                </a:lnTo>
                <a:cubicBezTo>
                  <a:pt x="129480" y="125016"/>
                  <a:pt x="132159" y="122337"/>
                  <a:pt x="132159" y="119062"/>
                </a:cubicBezTo>
                <a:cubicBezTo>
                  <a:pt x="132159" y="115788"/>
                  <a:pt x="129480" y="113109"/>
                  <a:pt x="126206" y="113109"/>
                </a:cubicBezTo>
                <a:lnTo>
                  <a:pt x="119062" y="113109"/>
                </a:lnTo>
                <a:close/>
                <a:moveTo>
                  <a:pt x="147638" y="113109"/>
                </a:moveTo>
                <a:cubicBezTo>
                  <a:pt x="144363" y="113109"/>
                  <a:pt x="141684" y="115788"/>
                  <a:pt x="141684" y="119062"/>
                </a:cubicBezTo>
                <a:lnTo>
                  <a:pt x="141684" y="128468"/>
                </a:lnTo>
                <a:cubicBezTo>
                  <a:pt x="141684" y="139035"/>
                  <a:pt x="144810" y="149394"/>
                  <a:pt x="150674" y="158175"/>
                </a:cubicBezTo>
                <a:lnTo>
                  <a:pt x="152192" y="160466"/>
                </a:lnTo>
                <a:cubicBezTo>
                  <a:pt x="153293" y="162133"/>
                  <a:pt x="155168" y="163116"/>
                  <a:pt x="157133" y="163116"/>
                </a:cubicBezTo>
                <a:cubicBezTo>
                  <a:pt x="159097" y="163116"/>
                  <a:pt x="160973" y="162133"/>
                  <a:pt x="162074" y="160466"/>
                </a:cubicBezTo>
                <a:lnTo>
                  <a:pt x="163592" y="158175"/>
                </a:lnTo>
                <a:cubicBezTo>
                  <a:pt x="169456" y="149364"/>
                  <a:pt x="172581" y="139035"/>
                  <a:pt x="172581" y="128468"/>
                </a:cubicBezTo>
                <a:lnTo>
                  <a:pt x="172581" y="119062"/>
                </a:lnTo>
                <a:cubicBezTo>
                  <a:pt x="172581" y="115788"/>
                  <a:pt x="169902" y="113109"/>
                  <a:pt x="166628" y="113109"/>
                </a:cubicBezTo>
                <a:cubicBezTo>
                  <a:pt x="163354" y="113109"/>
                  <a:pt x="160675" y="115788"/>
                  <a:pt x="160675" y="119062"/>
                </a:cubicBezTo>
                <a:lnTo>
                  <a:pt x="160675" y="128468"/>
                </a:lnTo>
                <a:cubicBezTo>
                  <a:pt x="160675" y="134303"/>
                  <a:pt x="159454" y="140047"/>
                  <a:pt x="157103" y="145346"/>
                </a:cubicBezTo>
                <a:cubicBezTo>
                  <a:pt x="154751" y="140047"/>
                  <a:pt x="153531" y="134302"/>
                  <a:pt x="153531" y="128468"/>
                </a:cubicBezTo>
                <a:lnTo>
                  <a:pt x="153531" y="119062"/>
                </a:lnTo>
                <a:cubicBezTo>
                  <a:pt x="153531" y="115788"/>
                  <a:pt x="150852" y="113109"/>
                  <a:pt x="147578" y="113109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8" name="Text 56"/>
          <p:cNvSpPr/>
          <p:nvPr/>
        </p:nvSpPr>
        <p:spPr>
          <a:xfrm>
            <a:off x="4199572" y="5874544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Export for Analysis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880418" y="5790406"/>
            <a:ext cx="1589087" cy="360362"/>
          </a:xfrm>
          <a:custGeom>
            <a:avLst/>
            <a:gdLst/>
            <a:ahLst/>
            <a:cxnLst/>
            <a:rect l="l" t="t" r="r" b="b"/>
            <a:pathLst>
              <a:path w="1589087" h="360362">
                <a:moveTo>
                  <a:pt x="76199" y="0"/>
                </a:moveTo>
                <a:lnTo>
                  <a:pt x="1512889" y="0"/>
                </a:lnTo>
                <a:cubicBezTo>
                  <a:pt x="1554972" y="0"/>
                  <a:pt x="1589087" y="34115"/>
                  <a:pt x="1589087" y="76199"/>
                </a:cubicBezTo>
                <a:lnTo>
                  <a:pt x="1589087" y="284164"/>
                </a:lnTo>
                <a:cubicBezTo>
                  <a:pt x="1589087" y="326247"/>
                  <a:pt x="1554972" y="360362"/>
                  <a:pt x="1512889" y="360362"/>
                </a:cubicBezTo>
                <a:lnTo>
                  <a:pt x="76199" y="360362"/>
                </a:lnTo>
                <a:cubicBezTo>
                  <a:pt x="34143" y="360362"/>
                  <a:pt x="0" y="326219"/>
                  <a:pt x="0" y="284164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6786" y="589359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61" name="Text 59"/>
          <p:cNvSpPr/>
          <p:nvPr/>
        </p:nvSpPr>
        <p:spPr>
          <a:xfrm>
            <a:off x="6265386" y="5874544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Text Reports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663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6743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Profiling Results - The "Speed of Light"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3703637" cy="2379662"/>
          </a:xfrm>
          <a:custGeom>
            <a:avLst/>
            <a:gdLst/>
            <a:ahLst/>
            <a:cxnLst/>
            <a:rect l="l" t="t" r="r" b="b"/>
            <a:pathLst>
              <a:path w="3703637" h="2379662">
                <a:moveTo>
                  <a:pt x="114295" y="0"/>
                </a:moveTo>
                <a:lnTo>
                  <a:pt x="3589342" y="0"/>
                </a:lnTo>
                <a:cubicBezTo>
                  <a:pt x="3652466" y="0"/>
                  <a:pt x="3703637" y="51172"/>
                  <a:pt x="3703637" y="114295"/>
                </a:cubicBezTo>
                <a:lnTo>
                  <a:pt x="3703637" y="2265367"/>
                </a:lnTo>
                <a:cubicBezTo>
                  <a:pt x="3703637" y="2328491"/>
                  <a:pt x="3652466" y="2379662"/>
                  <a:pt x="3589342" y="2379662"/>
                </a:cubicBezTo>
                <a:lnTo>
                  <a:pt x="114295" y="2379662"/>
                </a:lnTo>
                <a:cubicBezTo>
                  <a:pt x="51172" y="2379662"/>
                  <a:pt x="0" y="2328491"/>
                  <a:pt x="0" y="2265367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337" y="1265239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DRAM Throughput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14750" y="13033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27037" y="1646239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92.34%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214153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theoretical peak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5306" y="2450308"/>
            <a:ext cx="3379787" cy="874712"/>
          </a:xfrm>
          <a:custGeom>
            <a:avLst/>
            <a:gdLst/>
            <a:ahLst/>
            <a:cxnLst/>
            <a:rect l="l" t="t" r="r" b="b"/>
            <a:pathLst>
              <a:path w="3379787" h="874712">
                <a:moveTo>
                  <a:pt x="76196" y="0"/>
                </a:moveTo>
                <a:lnTo>
                  <a:pt x="3303591" y="0"/>
                </a:lnTo>
                <a:cubicBezTo>
                  <a:pt x="3345673" y="0"/>
                  <a:pt x="3379787" y="34114"/>
                  <a:pt x="3379787" y="76196"/>
                </a:cubicBezTo>
                <a:lnTo>
                  <a:pt x="3379787" y="798516"/>
                </a:lnTo>
                <a:cubicBezTo>
                  <a:pt x="3379787" y="840598"/>
                  <a:pt x="3345673" y="874712"/>
                  <a:pt x="3303591" y="874712"/>
                </a:cubicBezTo>
                <a:lnTo>
                  <a:pt x="76196" y="874712"/>
                </a:lnTo>
                <a:cubicBezTo>
                  <a:pt x="34142" y="874712"/>
                  <a:pt x="0" y="840570"/>
                  <a:pt x="0" y="798516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625" y="26011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892175" y="2568573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3575" y="2835273"/>
            <a:ext cx="3200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memory coalescing. Triton is efficiently saturating the memory bandwidth.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5769" y="1108869"/>
            <a:ext cx="3703637" cy="2379662"/>
          </a:xfrm>
          <a:custGeom>
            <a:avLst/>
            <a:gdLst/>
            <a:ahLst/>
            <a:cxnLst/>
            <a:rect l="l" t="t" r="r" b="b"/>
            <a:pathLst>
              <a:path w="3703637" h="2379662">
                <a:moveTo>
                  <a:pt x="114295" y="0"/>
                </a:moveTo>
                <a:lnTo>
                  <a:pt x="3589342" y="0"/>
                </a:lnTo>
                <a:cubicBezTo>
                  <a:pt x="3652466" y="0"/>
                  <a:pt x="3703637" y="51172"/>
                  <a:pt x="3703637" y="114295"/>
                </a:cubicBezTo>
                <a:lnTo>
                  <a:pt x="3703637" y="2265367"/>
                </a:lnTo>
                <a:cubicBezTo>
                  <a:pt x="3703637" y="2328491"/>
                  <a:pt x="3652466" y="2379662"/>
                  <a:pt x="3589342" y="2379662"/>
                </a:cubicBezTo>
                <a:lnTo>
                  <a:pt x="114295" y="2379662"/>
                </a:lnTo>
                <a:cubicBezTo>
                  <a:pt x="51172" y="2379662"/>
                  <a:pt x="0" y="2328491"/>
                  <a:pt x="0" y="2265367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2138" y="1265239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 Throughput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5550" y="13033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287838" y="1646239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8.92%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68800" y="214153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 utilization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6106" y="2450308"/>
            <a:ext cx="3379787" cy="874712"/>
          </a:xfrm>
          <a:custGeom>
            <a:avLst/>
            <a:gdLst/>
            <a:ahLst/>
            <a:cxnLst/>
            <a:rect l="l" t="t" r="r" b="b"/>
            <a:pathLst>
              <a:path w="3379787" h="874712">
                <a:moveTo>
                  <a:pt x="76196" y="0"/>
                </a:moveTo>
                <a:lnTo>
                  <a:pt x="3303591" y="0"/>
                </a:lnTo>
                <a:cubicBezTo>
                  <a:pt x="3345673" y="0"/>
                  <a:pt x="3379787" y="34114"/>
                  <a:pt x="3379787" y="76196"/>
                </a:cubicBezTo>
                <a:lnTo>
                  <a:pt x="3379787" y="798516"/>
                </a:lnTo>
                <a:cubicBezTo>
                  <a:pt x="3379787" y="840598"/>
                  <a:pt x="3345673" y="874712"/>
                  <a:pt x="3303591" y="874712"/>
                </a:cubicBezTo>
                <a:lnTo>
                  <a:pt x="76196" y="874712"/>
                </a:lnTo>
                <a:cubicBezTo>
                  <a:pt x="34142" y="874712"/>
                  <a:pt x="0" y="840570"/>
                  <a:pt x="0" y="798516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3425" y="260112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2975" y="2568573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4375" y="2835273"/>
            <a:ext cx="3200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compute utilization confirms the kernel is memory-bound, not compute-bound.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6569" y="1108869"/>
            <a:ext cx="3703637" cy="2379662"/>
          </a:xfrm>
          <a:custGeom>
            <a:avLst/>
            <a:gdLst/>
            <a:ahLst/>
            <a:cxnLst/>
            <a:rect l="l" t="t" r="r" b="b"/>
            <a:pathLst>
              <a:path w="3703637" h="2379662">
                <a:moveTo>
                  <a:pt x="114295" y="0"/>
                </a:moveTo>
                <a:lnTo>
                  <a:pt x="3589342" y="0"/>
                </a:lnTo>
                <a:cubicBezTo>
                  <a:pt x="3652466" y="0"/>
                  <a:pt x="3703637" y="51172"/>
                  <a:pt x="3703637" y="114295"/>
                </a:cubicBezTo>
                <a:lnTo>
                  <a:pt x="3703637" y="2265367"/>
                </a:lnTo>
                <a:cubicBezTo>
                  <a:pt x="3703637" y="2328491"/>
                  <a:pt x="3652466" y="2379662"/>
                  <a:pt x="3589342" y="2379662"/>
                </a:cubicBezTo>
                <a:lnTo>
                  <a:pt x="114295" y="2379662"/>
                </a:lnTo>
                <a:cubicBezTo>
                  <a:pt x="51172" y="2379662"/>
                  <a:pt x="0" y="2328491"/>
                  <a:pt x="0" y="2265367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2938" y="1265239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6350" y="130333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27" name="Text 25"/>
          <p:cNvSpPr/>
          <p:nvPr/>
        </p:nvSpPr>
        <p:spPr>
          <a:xfrm>
            <a:off x="8148638" y="1646239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100.22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2141539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microseconds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6906" y="2450308"/>
            <a:ext cx="3379787" cy="874712"/>
          </a:xfrm>
          <a:custGeom>
            <a:avLst/>
            <a:gdLst/>
            <a:ahLst/>
            <a:cxnLst/>
            <a:rect l="l" t="t" r="r" b="b"/>
            <a:pathLst>
              <a:path w="3379787" h="874712">
                <a:moveTo>
                  <a:pt x="76196" y="0"/>
                </a:moveTo>
                <a:lnTo>
                  <a:pt x="3303591" y="0"/>
                </a:lnTo>
                <a:cubicBezTo>
                  <a:pt x="3345673" y="0"/>
                  <a:pt x="3379787" y="34114"/>
                  <a:pt x="3379787" y="76196"/>
                </a:cubicBezTo>
                <a:lnTo>
                  <a:pt x="3379787" y="798516"/>
                </a:lnTo>
                <a:cubicBezTo>
                  <a:pt x="3379787" y="840598"/>
                  <a:pt x="3345673" y="874712"/>
                  <a:pt x="3303591" y="874712"/>
                </a:cubicBezTo>
                <a:lnTo>
                  <a:pt x="76196" y="874712"/>
                </a:lnTo>
                <a:cubicBezTo>
                  <a:pt x="34142" y="874712"/>
                  <a:pt x="0" y="840570"/>
                  <a:pt x="0" y="798516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559" y="260112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13775" y="2568573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85175" y="2835273"/>
            <a:ext cx="3200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Per-kernel execution for batch=1, seq_len=512, hidden_dim=2048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969" y="3645695"/>
            <a:ext cx="11418887" cy="2770187"/>
          </a:xfrm>
          <a:custGeom>
            <a:avLst/>
            <a:gdLst/>
            <a:ahLst/>
            <a:cxnLst/>
            <a:rect l="l" t="t" r="r" b="b"/>
            <a:pathLst>
              <a:path w="11418887" h="2770187">
                <a:moveTo>
                  <a:pt x="114298" y="0"/>
                </a:moveTo>
                <a:lnTo>
                  <a:pt x="11304590" y="0"/>
                </a:lnTo>
                <a:cubicBezTo>
                  <a:pt x="11367715" y="0"/>
                  <a:pt x="11418887" y="51173"/>
                  <a:pt x="11418887" y="114298"/>
                </a:cubicBezTo>
                <a:lnTo>
                  <a:pt x="11418887" y="2655890"/>
                </a:lnTo>
                <a:cubicBezTo>
                  <a:pt x="11418887" y="2719015"/>
                  <a:pt x="11367715" y="2770187"/>
                  <a:pt x="11304590" y="2770187"/>
                </a:cubicBezTo>
                <a:lnTo>
                  <a:pt x="114298" y="2770187"/>
                </a:lnTo>
                <a:cubicBezTo>
                  <a:pt x="51173" y="2770187"/>
                  <a:pt x="0" y="2719015"/>
                  <a:pt x="0" y="2655890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44" y="384016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9462" y="3802061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vs. Compute Analysis</a:t>
            </a:r>
            <a:endParaRPr lang="en-US" sz="1600" dirty="0"/>
          </a:p>
        </p:txBody>
      </p:sp>
      <p:pic>
        <p:nvPicPr>
          <p:cNvPr id="36" name="Image 0" descr="https://kimi-img.moonshot.cn/pub/slides/26-02-14-13:51:34-d680qpk5rbsabf7objj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1337" y="4183061"/>
            <a:ext cx="547687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6176169" y="4187030"/>
            <a:ext cx="5475287" cy="979487"/>
          </a:xfrm>
          <a:custGeom>
            <a:avLst/>
            <a:gdLst/>
            <a:ahLst/>
            <a:cxnLst/>
            <a:rect l="l" t="t" r="r" b="b"/>
            <a:pathLst>
              <a:path w="5475287" h="979487">
                <a:moveTo>
                  <a:pt x="76204" y="0"/>
                </a:moveTo>
                <a:lnTo>
                  <a:pt x="5399083" y="0"/>
                </a:lnTo>
                <a:cubicBezTo>
                  <a:pt x="5441170" y="0"/>
                  <a:pt x="5475287" y="34118"/>
                  <a:pt x="5475287" y="76204"/>
                </a:cubicBezTo>
                <a:lnTo>
                  <a:pt x="5475287" y="903283"/>
                </a:lnTo>
                <a:cubicBezTo>
                  <a:pt x="5475287" y="945370"/>
                  <a:pt x="5441170" y="979487"/>
                  <a:pt x="5399083" y="979487"/>
                </a:cubicBezTo>
                <a:lnTo>
                  <a:pt x="76204" y="979487"/>
                </a:lnTo>
                <a:cubicBezTo>
                  <a:pt x="34118" y="979487"/>
                  <a:pt x="0" y="945370"/>
                  <a:pt x="0" y="903283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8250" y="4333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4976" y="10716"/>
                </a:moveTo>
                <a:lnTo>
                  <a:pt x="49459" y="10716"/>
                </a:lnTo>
                <a:cubicBezTo>
                  <a:pt x="39614" y="10716"/>
                  <a:pt x="31008" y="17446"/>
                  <a:pt x="28664" y="26990"/>
                </a:cubicBezTo>
                <a:lnTo>
                  <a:pt x="469" y="140810"/>
                </a:lnTo>
                <a:cubicBezTo>
                  <a:pt x="-2043" y="150923"/>
                  <a:pt x="5626" y="160734"/>
                  <a:pt x="16073" y="160734"/>
                </a:cubicBezTo>
                <a:lnTo>
                  <a:pt x="74976" y="160734"/>
                </a:lnTo>
                <a:lnTo>
                  <a:pt x="74976" y="139303"/>
                </a:lnTo>
                <a:cubicBezTo>
                  <a:pt x="74976" y="133376"/>
                  <a:pt x="79764" y="128588"/>
                  <a:pt x="85692" y="128588"/>
                </a:cubicBezTo>
                <a:cubicBezTo>
                  <a:pt x="91619" y="128588"/>
                  <a:pt x="96407" y="133376"/>
                  <a:pt x="96407" y="139303"/>
                </a:cubicBezTo>
                <a:lnTo>
                  <a:pt x="96407" y="160734"/>
                </a:lnTo>
                <a:lnTo>
                  <a:pt x="155377" y="160734"/>
                </a:lnTo>
                <a:cubicBezTo>
                  <a:pt x="165824" y="160734"/>
                  <a:pt x="173493" y="150923"/>
                  <a:pt x="170981" y="140810"/>
                </a:cubicBezTo>
                <a:lnTo>
                  <a:pt x="142819" y="26990"/>
                </a:lnTo>
                <a:cubicBezTo>
                  <a:pt x="140442" y="17446"/>
                  <a:pt x="131869" y="10716"/>
                  <a:pt x="121991" y="10716"/>
                </a:cubicBezTo>
                <a:lnTo>
                  <a:pt x="96407" y="10716"/>
                </a:lnTo>
                <a:lnTo>
                  <a:pt x="96407" y="32147"/>
                </a:lnTo>
                <a:cubicBezTo>
                  <a:pt x="96407" y="38074"/>
                  <a:pt x="91619" y="42863"/>
                  <a:pt x="85692" y="42863"/>
                </a:cubicBezTo>
                <a:cubicBezTo>
                  <a:pt x="79764" y="42863"/>
                  <a:pt x="74976" y="38074"/>
                  <a:pt x="74976" y="32147"/>
                </a:cubicBezTo>
                <a:lnTo>
                  <a:pt x="74976" y="10716"/>
                </a:lnTo>
                <a:close/>
                <a:moveTo>
                  <a:pt x="96407" y="75009"/>
                </a:moveTo>
                <a:lnTo>
                  <a:pt x="96407" y="96441"/>
                </a:lnTo>
                <a:cubicBezTo>
                  <a:pt x="96407" y="102368"/>
                  <a:pt x="91619" y="107156"/>
                  <a:pt x="85692" y="107156"/>
                </a:cubicBezTo>
                <a:cubicBezTo>
                  <a:pt x="79764" y="107156"/>
                  <a:pt x="74976" y="102368"/>
                  <a:pt x="74976" y="96441"/>
                </a:cubicBezTo>
                <a:lnTo>
                  <a:pt x="74976" y="75009"/>
                </a:lnTo>
                <a:cubicBezTo>
                  <a:pt x="74976" y="69082"/>
                  <a:pt x="79764" y="64294"/>
                  <a:pt x="85692" y="64294"/>
                </a:cubicBezTo>
                <a:cubicBezTo>
                  <a:pt x="91619" y="64294"/>
                  <a:pt x="96407" y="69082"/>
                  <a:pt x="96407" y="75009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9" name="Text 36"/>
          <p:cNvSpPr/>
          <p:nvPr/>
        </p:nvSpPr>
        <p:spPr>
          <a:xfrm>
            <a:off x="6623050" y="430530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Hitting the Memory Wall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294437" y="4610100"/>
            <a:ext cx="5305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kernel is efficiently hitting the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"Memory Wall"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theoretical limit of what the hardware can achieve given the memory bandwidth constraints.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76169" y="5283995"/>
            <a:ext cx="5475287" cy="979487"/>
          </a:xfrm>
          <a:custGeom>
            <a:avLst/>
            <a:gdLst/>
            <a:ahLst/>
            <a:cxnLst/>
            <a:rect l="l" t="t" r="r" b="b"/>
            <a:pathLst>
              <a:path w="5475287" h="979487">
                <a:moveTo>
                  <a:pt x="76204" y="0"/>
                </a:moveTo>
                <a:lnTo>
                  <a:pt x="5399083" y="0"/>
                </a:lnTo>
                <a:cubicBezTo>
                  <a:pt x="5441170" y="0"/>
                  <a:pt x="5475287" y="34118"/>
                  <a:pt x="5475287" y="76204"/>
                </a:cubicBezTo>
                <a:lnTo>
                  <a:pt x="5475287" y="903283"/>
                </a:lnTo>
                <a:cubicBezTo>
                  <a:pt x="5475287" y="945370"/>
                  <a:pt x="5441170" y="979487"/>
                  <a:pt x="5399083" y="979487"/>
                </a:cubicBezTo>
                <a:lnTo>
                  <a:pt x="76204" y="979487"/>
                </a:lnTo>
                <a:cubicBezTo>
                  <a:pt x="34118" y="979487"/>
                  <a:pt x="0" y="945370"/>
                  <a:pt x="0" y="903283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18250" y="543083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3" name="Text 40"/>
          <p:cNvSpPr/>
          <p:nvPr/>
        </p:nvSpPr>
        <p:spPr>
          <a:xfrm>
            <a:off x="6623050" y="5402261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Triton Performance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294437" y="5707061"/>
            <a:ext cx="5305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Triton is doing an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job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memory coalescing and warp scheduling, achieving near-optimal bandwidth utilization.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173" y="396887"/>
            <a:ext cx="513068" cy="513068"/>
          </a:xfrm>
          <a:custGeom>
            <a:avLst/>
            <a:gdLst/>
            <a:ahLst/>
            <a:cxnLst/>
            <a:rect l="l" t="t" r="r" b="b"/>
            <a:pathLst>
              <a:path w="513068" h="513068">
                <a:moveTo>
                  <a:pt x="112280" y="0"/>
                </a:moveTo>
                <a:lnTo>
                  <a:pt x="400788" y="0"/>
                </a:lnTo>
                <a:cubicBezTo>
                  <a:pt x="462757" y="0"/>
                  <a:pt x="513068" y="50311"/>
                  <a:pt x="513068" y="112280"/>
                </a:cubicBezTo>
                <a:lnTo>
                  <a:pt x="513068" y="400788"/>
                </a:lnTo>
                <a:cubicBezTo>
                  <a:pt x="513068" y="462799"/>
                  <a:pt x="462799" y="513068"/>
                  <a:pt x="400788" y="513068"/>
                </a:cubicBezTo>
                <a:lnTo>
                  <a:pt x="112280" y="513068"/>
                </a:lnTo>
                <a:cubicBezTo>
                  <a:pt x="50311" y="513068"/>
                  <a:pt x="0" y="462757"/>
                  <a:pt x="0" y="400788"/>
                </a:cubicBezTo>
                <a:lnTo>
                  <a:pt x="0" y="112280"/>
                </a:lnTo>
                <a:cubicBezTo>
                  <a:pt x="0" y="50269"/>
                  <a:pt x="50269" y="0"/>
                  <a:pt x="11228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20000"/>
                </a:srgbClr>
              </a:gs>
              <a:gs pos="100000">
                <a:srgbClr val="D2A8FF">
                  <a:alpha val="20000"/>
                </a:srgbClr>
              </a:gs>
            </a:gsLst>
            <a:lin ang="2700000" scaled="1"/>
          </a:gra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985" y="542698"/>
            <a:ext cx="224565" cy="224565"/>
          </a:xfrm>
          <a:custGeom>
            <a:avLst/>
            <a:gdLst/>
            <a:ahLst/>
            <a:cxnLst/>
            <a:rect l="l" t="t" r="r" b="b"/>
            <a:pathLst>
              <a:path w="224565" h="224565">
                <a:moveTo>
                  <a:pt x="182459" y="91229"/>
                </a:moveTo>
                <a:cubicBezTo>
                  <a:pt x="182459" y="111361"/>
                  <a:pt x="175924" y="129958"/>
                  <a:pt x="164915" y="145046"/>
                </a:cubicBezTo>
                <a:lnTo>
                  <a:pt x="220442" y="200617"/>
                </a:lnTo>
                <a:cubicBezTo>
                  <a:pt x="225925" y="206100"/>
                  <a:pt x="225925" y="215003"/>
                  <a:pt x="220442" y="220486"/>
                </a:cubicBezTo>
                <a:cubicBezTo>
                  <a:pt x="214959" y="225968"/>
                  <a:pt x="206056" y="225968"/>
                  <a:pt x="200573" y="220486"/>
                </a:cubicBezTo>
                <a:lnTo>
                  <a:pt x="145046" y="164915"/>
                </a:lnTo>
                <a:cubicBezTo>
                  <a:pt x="129958" y="175924"/>
                  <a:pt x="111361" y="182459"/>
                  <a:pt x="91229" y="182459"/>
                </a:cubicBezTo>
                <a:cubicBezTo>
                  <a:pt x="40834" y="182459"/>
                  <a:pt x="0" y="141625"/>
                  <a:pt x="0" y="91229"/>
                </a:cubicBezTo>
                <a:cubicBezTo>
                  <a:pt x="0" y="40834"/>
                  <a:pt x="40834" y="0"/>
                  <a:pt x="91229" y="0"/>
                </a:cubicBezTo>
                <a:cubicBezTo>
                  <a:pt x="141625" y="0"/>
                  <a:pt x="182459" y="40834"/>
                  <a:pt x="182459" y="91229"/>
                </a:cubicBezTo>
                <a:close/>
                <a:moveTo>
                  <a:pt x="91229" y="154388"/>
                </a:moveTo>
                <a:cubicBezTo>
                  <a:pt x="126088" y="154388"/>
                  <a:pt x="154388" y="126088"/>
                  <a:pt x="154388" y="91229"/>
                </a:cubicBezTo>
                <a:cubicBezTo>
                  <a:pt x="154388" y="56371"/>
                  <a:pt x="126088" y="28071"/>
                  <a:pt x="91229" y="28071"/>
                </a:cubicBezTo>
                <a:cubicBezTo>
                  <a:pt x="56371" y="28071"/>
                  <a:pt x="28071" y="56371"/>
                  <a:pt x="28071" y="91229"/>
                </a:cubicBezTo>
                <a:cubicBezTo>
                  <a:pt x="28071" y="126088"/>
                  <a:pt x="56371" y="154388"/>
                  <a:pt x="91229" y="154388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" name="Text 2"/>
          <p:cNvSpPr/>
          <p:nvPr/>
        </p:nvSpPr>
        <p:spPr>
          <a:xfrm>
            <a:off x="1047969" y="374275"/>
            <a:ext cx="6643377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b="1" spc="52" kern="0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Bottleneck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7969" y="561412"/>
            <a:ext cx="6746302" cy="374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2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Deep Dive Analysis - Why isn't it faster?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173" y="1089295"/>
            <a:ext cx="5640632" cy="2618364"/>
          </a:xfrm>
          <a:custGeom>
            <a:avLst/>
            <a:gdLst/>
            <a:ahLst/>
            <a:cxnLst/>
            <a:rect l="l" t="t" r="r" b="b"/>
            <a:pathLst>
              <a:path w="5640632" h="2618364">
                <a:moveTo>
                  <a:pt x="112275" y="0"/>
                </a:moveTo>
                <a:lnTo>
                  <a:pt x="5528357" y="0"/>
                </a:lnTo>
                <a:cubicBezTo>
                  <a:pt x="5590365" y="0"/>
                  <a:pt x="5640632" y="50267"/>
                  <a:pt x="5640632" y="112275"/>
                </a:cubicBezTo>
                <a:lnTo>
                  <a:pt x="5640632" y="2506088"/>
                </a:lnTo>
                <a:cubicBezTo>
                  <a:pt x="5640632" y="2568096"/>
                  <a:pt x="5590365" y="2618364"/>
                  <a:pt x="5528357" y="2618364"/>
                </a:cubicBezTo>
                <a:lnTo>
                  <a:pt x="112275" y="2618364"/>
                </a:lnTo>
                <a:cubicBezTo>
                  <a:pt x="50267" y="2618364"/>
                  <a:pt x="0" y="2568096"/>
                  <a:pt x="0" y="2506088"/>
                </a:cubicBezTo>
                <a:lnTo>
                  <a:pt x="0" y="112275"/>
                </a:lnTo>
                <a:cubicBezTo>
                  <a:pt x="0" y="50267"/>
                  <a:pt x="50267" y="0"/>
                  <a:pt x="112275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5681" y="1265518"/>
            <a:ext cx="438213" cy="438213"/>
          </a:xfrm>
          <a:custGeom>
            <a:avLst/>
            <a:gdLst/>
            <a:ahLst/>
            <a:cxnLst/>
            <a:rect l="l" t="t" r="r" b="b"/>
            <a:pathLst>
              <a:path w="438213" h="438213">
                <a:moveTo>
                  <a:pt x="112283" y="0"/>
                </a:moveTo>
                <a:lnTo>
                  <a:pt x="325930" y="0"/>
                </a:lnTo>
                <a:cubicBezTo>
                  <a:pt x="387942" y="0"/>
                  <a:pt x="438213" y="50271"/>
                  <a:pt x="438213" y="112283"/>
                </a:cubicBezTo>
                <a:lnTo>
                  <a:pt x="438213" y="325930"/>
                </a:lnTo>
                <a:cubicBezTo>
                  <a:pt x="438213" y="387942"/>
                  <a:pt x="387942" y="438213"/>
                  <a:pt x="325930" y="438213"/>
                </a:cubicBezTo>
                <a:lnTo>
                  <a:pt x="112283" y="438213"/>
                </a:lnTo>
                <a:cubicBezTo>
                  <a:pt x="50271" y="438213"/>
                  <a:pt x="0" y="387942"/>
                  <a:pt x="0" y="325930"/>
                </a:cubicBezTo>
                <a:lnTo>
                  <a:pt x="0" y="112283"/>
                </a:lnTo>
                <a:cubicBezTo>
                  <a:pt x="0" y="50313"/>
                  <a:pt x="50313" y="0"/>
                  <a:pt x="112283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778" y="1392615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187137"/>
                </a:moveTo>
                <a:cubicBezTo>
                  <a:pt x="145211" y="187137"/>
                  <a:pt x="187137" y="145211"/>
                  <a:pt x="187137" y="93569"/>
                </a:cubicBezTo>
                <a:cubicBezTo>
                  <a:pt x="187137" y="41927"/>
                  <a:pt x="145211" y="0"/>
                  <a:pt x="93569" y="0"/>
                </a:cubicBezTo>
                <a:cubicBezTo>
                  <a:pt x="41927" y="0"/>
                  <a:pt x="0" y="41927"/>
                  <a:pt x="0" y="93569"/>
                </a:cubicBezTo>
                <a:cubicBezTo>
                  <a:pt x="0" y="145211"/>
                  <a:pt x="41927" y="187137"/>
                  <a:pt x="93569" y="187137"/>
                </a:cubicBezTo>
                <a:close/>
                <a:moveTo>
                  <a:pt x="124417" y="77742"/>
                </a:moveTo>
                <a:lnTo>
                  <a:pt x="95177" y="124527"/>
                </a:lnTo>
                <a:cubicBezTo>
                  <a:pt x="93642" y="126976"/>
                  <a:pt x="91010" y="128511"/>
                  <a:pt x="88123" y="128657"/>
                </a:cubicBezTo>
                <a:cubicBezTo>
                  <a:pt x="85235" y="128803"/>
                  <a:pt x="82457" y="127487"/>
                  <a:pt x="80740" y="125148"/>
                </a:cubicBezTo>
                <a:lnTo>
                  <a:pt x="63195" y="101756"/>
                </a:lnTo>
                <a:cubicBezTo>
                  <a:pt x="60271" y="97882"/>
                  <a:pt x="61075" y="92399"/>
                  <a:pt x="64950" y="89475"/>
                </a:cubicBezTo>
                <a:cubicBezTo>
                  <a:pt x="68824" y="86551"/>
                  <a:pt x="74307" y="87355"/>
                  <a:pt x="77231" y="91229"/>
                </a:cubicBezTo>
                <a:lnTo>
                  <a:pt x="87099" y="104388"/>
                </a:lnTo>
                <a:lnTo>
                  <a:pt x="109541" y="68459"/>
                </a:lnTo>
                <a:cubicBezTo>
                  <a:pt x="112100" y="64365"/>
                  <a:pt x="117509" y="63086"/>
                  <a:pt x="121639" y="65681"/>
                </a:cubicBezTo>
                <a:cubicBezTo>
                  <a:pt x="125769" y="68276"/>
                  <a:pt x="127012" y="73649"/>
                  <a:pt x="124417" y="77779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093194" y="1242906"/>
            <a:ext cx="24140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8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Achieved Occupancy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3194" y="1542325"/>
            <a:ext cx="2367288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Parallelism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9500" y="1841745"/>
            <a:ext cx="5557980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36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93.52%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1782" y="2365730"/>
            <a:ext cx="5333415" cy="149710"/>
          </a:xfrm>
          <a:custGeom>
            <a:avLst/>
            <a:gdLst/>
            <a:ahLst/>
            <a:cxnLst/>
            <a:rect l="l" t="t" r="r" b="b"/>
            <a:pathLst>
              <a:path w="5333415" h="149710">
                <a:moveTo>
                  <a:pt x="74855" y="0"/>
                </a:moveTo>
                <a:lnTo>
                  <a:pt x="5258560" y="0"/>
                </a:lnTo>
                <a:cubicBezTo>
                  <a:pt x="5299901" y="0"/>
                  <a:pt x="5333415" y="33514"/>
                  <a:pt x="5333415" y="74855"/>
                </a:cubicBezTo>
                <a:lnTo>
                  <a:pt x="5333415" y="74855"/>
                </a:lnTo>
                <a:cubicBezTo>
                  <a:pt x="5333415" y="116196"/>
                  <a:pt x="5299901" y="149710"/>
                  <a:pt x="5258560" y="149710"/>
                </a:cubicBezTo>
                <a:lnTo>
                  <a:pt x="74855" y="149710"/>
                </a:lnTo>
                <a:cubicBezTo>
                  <a:pt x="33541" y="149710"/>
                  <a:pt x="0" y="116169"/>
                  <a:pt x="0" y="7485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3" name="Shape 11"/>
          <p:cNvSpPr/>
          <p:nvPr/>
        </p:nvSpPr>
        <p:spPr>
          <a:xfrm>
            <a:off x="531782" y="2365730"/>
            <a:ext cx="4987211" cy="149710"/>
          </a:xfrm>
          <a:custGeom>
            <a:avLst/>
            <a:gdLst/>
            <a:ahLst/>
            <a:cxnLst/>
            <a:rect l="l" t="t" r="r" b="b"/>
            <a:pathLst>
              <a:path w="4987211" h="149710">
                <a:moveTo>
                  <a:pt x="74855" y="0"/>
                </a:moveTo>
                <a:lnTo>
                  <a:pt x="4912356" y="0"/>
                </a:lnTo>
                <a:cubicBezTo>
                  <a:pt x="4953697" y="0"/>
                  <a:pt x="4987211" y="33514"/>
                  <a:pt x="4987211" y="74855"/>
                </a:cubicBezTo>
                <a:lnTo>
                  <a:pt x="4987211" y="74855"/>
                </a:lnTo>
                <a:cubicBezTo>
                  <a:pt x="4987211" y="116196"/>
                  <a:pt x="4953697" y="149710"/>
                  <a:pt x="4912356" y="149710"/>
                </a:cubicBezTo>
                <a:lnTo>
                  <a:pt x="74855" y="149710"/>
                </a:lnTo>
                <a:cubicBezTo>
                  <a:pt x="33541" y="149710"/>
                  <a:pt x="0" y="116169"/>
                  <a:pt x="0" y="7485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499033" y="2590295"/>
            <a:ext cx="539891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Warps actively executing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681" y="2893613"/>
            <a:ext cx="5322499" cy="662778"/>
          </a:xfrm>
          <a:custGeom>
            <a:avLst/>
            <a:gdLst/>
            <a:ahLst/>
            <a:cxnLst/>
            <a:rect l="l" t="t" r="r" b="b"/>
            <a:pathLst>
              <a:path w="5322499" h="662778">
                <a:moveTo>
                  <a:pt x="74854" y="0"/>
                </a:moveTo>
                <a:lnTo>
                  <a:pt x="5247645" y="0"/>
                </a:lnTo>
                <a:cubicBezTo>
                  <a:pt x="5288985" y="0"/>
                  <a:pt x="5322499" y="33513"/>
                  <a:pt x="5322499" y="74854"/>
                </a:cubicBezTo>
                <a:lnTo>
                  <a:pt x="5322499" y="587924"/>
                </a:lnTo>
                <a:cubicBezTo>
                  <a:pt x="5322499" y="629265"/>
                  <a:pt x="5288985" y="662778"/>
                  <a:pt x="5247645" y="662778"/>
                </a:cubicBezTo>
                <a:lnTo>
                  <a:pt x="74854" y="662778"/>
                </a:lnTo>
                <a:cubicBezTo>
                  <a:pt x="33513" y="662778"/>
                  <a:pt x="0" y="629265"/>
                  <a:pt x="0" y="587924"/>
                </a:cubicBezTo>
                <a:lnTo>
                  <a:pt x="0" y="74854"/>
                </a:lnTo>
                <a:cubicBezTo>
                  <a:pt x="0" y="33513"/>
                  <a:pt x="33513" y="0"/>
                  <a:pt x="7485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76" y="3054552"/>
            <a:ext cx="130996" cy="130996"/>
          </a:xfrm>
          <a:custGeom>
            <a:avLst/>
            <a:gdLst/>
            <a:ahLst/>
            <a:cxnLst/>
            <a:rect l="l" t="t" r="r" b="b"/>
            <a:pathLst>
              <a:path w="130996" h="130996">
                <a:moveTo>
                  <a:pt x="20468" y="40936"/>
                </a:moveTo>
                <a:cubicBezTo>
                  <a:pt x="24997" y="40936"/>
                  <a:pt x="28655" y="44595"/>
                  <a:pt x="28655" y="49124"/>
                </a:cubicBezTo>
                <a:lnTo>
                  <a:pt x="28655" y="114622"/>
                </a:lnTo>
                <a:cubicBezTo>
                  <a:pt x="28655" y="119150"/>
                  <a:pt x="24997" y="122809"/>
                  <a:pt x="20468" y="122809"/>
                </a:cubicBezTo>
                <a:lnTo>
                  <a:pt x="8187" y="122809"/>
                </a:lnTo>
                <a:cubicBezTo>
                  <a:pt x="3659" y="122809"/>
                  <a:pt x="0" y="119150"/>
                  <a:pt x="0" y="114622"/>
                </a:cubicBezTo>
                <a:lnTo>
                  <a:pt x="0" y="49124"/>
                </a:lnTo>
                <a:cubicBezTo>
                  <a:pt x="0" y="44595"/>
                  <a:pt x="3659" y="40936"/>
                  <a:pt x="8187" y="40936"/>
                </a:cubicBezTo>
                <a:lnTo>
                  <a:pt x="20468" y="40936"/>
                </a:lnTo>
                <a:close/>
                <a:moveTo>
                  <a:pt x="69234" y="4094"/>
                </a:moveTo>
                <a:cubicBezTo>
                  <a:pt x="76218" y="4094"/>
                  <a:pt x="81873" y="9748"/>
                  <a:pt x="81873" y="16733"/>
                </a:cubicBezTo>
                <a:lnTo>
                  <a:pt x="81873" y="17807"/>
                </a:lnTo>
                <a:cubicBezTo>
                  <a:pt x="81873" y="19547"/>
                  <a:pt x="81540" y="21287"/>
                  <a:pt x="80900" y="22899"/>
                </a:cubicBezTo>
                <a:lnTo>
                  <a:pt x="73685" y="40936"/>
                </a:lnTo>
                <a:lnTo>
                  <a:pt x="114622" y="40936"/>
                </a:lnTo>
                <a:cubicBezTo>
                  <a:pt x="121402" y="40936"/>
                  <a:pt x="126903" y="46437"/>
                  <a:pt x="126903" y="53217"/>
                </a:cubicBezTo>
                <a:cubicBezTo>
                  <a:pt x="126903" y="58257"/>
                  <a:pt x="123858" y="62581"/>
                  <a:pt x="119508" y="64475"/>
                </a:cubicBezTo>
                <a:cubicBezTo>
                  <a:pt x="123858" y="66368"/>
                  <a:pt x="126903" y="70692"/>
                  <a:pt x="126903" y="75732"/>
                </a:cubicBezTo>
                <a:cubicBezTo>
                  <a:pt x="126903" y="81719"/>
                  <a:pt x="122604" y="86708"/>
                  <a:pt x="116924" y="87783"/>
                </a:cubicBezTo>
                <a:cubicBezTo>
                  <a:pt x="118050" y="89650"/>
                  <a:pt x="118715" y="91825"/>
                  <a:pt x="118715" y="94153"/>
                </a:cubicBezTo>
                <a:cubicBezTo>
                  <a:pt x="118715" y="99833"/>
                  <a:pt x="114877" y="104592"/>
                  <a:pt x="109658" y="105999"/>
                </a:cubicBezTo>
                <a:cubicBezTo>
                  <a:pt x="110221" y="107407"/>
                  <a:pt x="110528" y="108942"/>
                  <a:pt x="110528" y="110528"/>
                </a:cubicBezTo>
                <a:cubicBezTo>
                  <a:pt x="110528" y="117308"/>
                  <a:pt x="105027" y="122809"/>
                  <a:pt x="98247" y="122809"/>
                </a:cubicBezTo>
                <a:lnTo>
                  <a:pt x="75758" y="122809"/>
                </a:lnTo>
                <a:cubicBezTo>
                  <a:pt x="66470" y="122809"/>
                  <a:pt x="57439" y="119636"/>
                  <a:pt x="50198" y="113829"/>
                </a:cubicBezTo>
                <a:lnTo>
                  <a:pt x="47077" y="111347"/>
                </a:lnTo>
                <a:cubicBezTo>
                  <a:pt x="43188" y="108251"/>
                  <a:pt x="40936" y="103543"/>
                  <a:pt x="40936" y="98554"/>
                </a:cubicBezTo>
                <a:lnTo>
                  <a:pt x="40936" y="50812"/>
                </a:lnTo>
                <a:cubicBezTo>
                  <a:pt x="40936" y="47000"/>
                  <a:pt x="41832" y="43239"/>
                  <a:pt x="43520" y="39836"/>
                </a:cubicBezTo>
                <a:lnTo>
                  <a:pt x="57899" y="11078"/>
                </a:lnTo>
                <a:cubicBezTo>
                  <a:pt x="60048" y="6806"/>
                  <a:pt x="64424" y="4094"/>
                  <a:pt x="69234" y="409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875436" y="3009791"/>
            <a:ext cx="4932061" cy="43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occupancy indicates </a:t>
            </a:r>
            <a:pPr>
              <a:lnSpc>
                <a:spcPct val="140000"/>
              </a:lnSpc>
            </a:pPr>
            <a:r>
              <a:rPr lang="en-US" sz="103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parallelism</a:t>
            </a:r>
            <a:pPr>
              <a:lnSpc>
                <a:spcPct val="14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GPU is well-utilized with minimal idle resources.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5377" y="1089295"/>
            <a:ext cx="5640632" cy="2618364"/>
          </a:xfrm>
          <a:custGeom>
            <a:avLst/>
            <a:gdLst/>
            <a:ahLst/>
            <a:cxnLst/>
            <a:rect l="l" t="t" r="r" b="b"/>
            <a:pathLst>
              <a:path w="5640632" h="2618364">
                <a:moveTo>
                  <a:pt x="112275" y="0"/>
                </a:moveTo>
                <a:lnTo>
                  <a:pt x="5528357" y="0"/>
                </a:lnTo>
                <a:cubicBezTo>
                  <a:pt x="5590365" y="0"/>
                  <a:pt x="5640632" y="50267"/>
                  <a:pt x="5640632" y="112275"/>
                </a:cubicBezTo>
                <a:lnTo>
                  <a:pt x="5640632" y="2506088"/>
                </a:lnTo>
                <a:cubicBezTo>
                  <a:pt x="5640632" y="2568096"/>
                  <a:pt x="5590365" y="2618364"/>
                  <a:pt x="5528357" y="2618364"/>
                </a:cubicBezTo>
                <a:lnTo>
                  <a:pt x="112275" y="2618364"/>
                </a:lnTo>
                <a:cubicBezTo>
                  <a:pt x="50267" y="2618364"/>
                  <a:pt x="0" y="2568096"/>
                  <a:pt x="0" y="2506088"/>
                </a:cubicBezTo>
                <a:lnTo>
                  <a:pt x="0" y="112275"/>
                </a:lnTo>
                <a:cubicBezTo>
                  <a:pt x="0" y="50267"/>
                  <a:pt x="50267" y="0"/>
                  <a:pt x="11227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2885" y="1265518"/>
            <a:ext cx="438213" cy="438213"/>
          </a:xfrm>
          <a:custGeom>
            <a:avLst/>
            <a:gdLst/>
            <a:ahLst/>
            <a:cxnLst/>
            <a:rect l="l" t="t" r="r" b="b"/>
            <a:pathLst>
              <a:path w="438213" h="438213">
                <a:moveTo>
                  <a:pt x="112283" y="0"/>
                </a:moveTo>
                <a:lnTo>
                  <a:pt x="325930" y="0"/>
                </a:lnTo>
                <a:cubicBezTo>
                  <a:pt x="387942" y="0"/>
                  <a:pt x="438213" y="50271"/>
                  <a:pt x="438213" y="112283"/>
                </a:cubicBezTo>
                <a:lnTo>
                  <a:pt x="438213" y="325930"/>
                </a:lnTo>
                <a:cubicBezTo>
                  <a:pt x="438213" y="387942"/>
                  <a:pt x="387942" y="438213"/>
                  <a:pt x="325930" y="438213"/>
                </a:cubicBezTo>
                <a:lnTo>
                  <a:pt x="112283" y="438213"/>
                </a:lnTo>
                <a:cubicBezTo>
                  <a:pt x="50271" y="438213"/>
                  <a:pt x="0" y="387942"/>
                  <a:pt x="0" y="325930"/>
                </a:cubicBezTo>
                <a:lnTo>
                  <a:pt x="0" y="112283"/>
                </a:lnTo>
                <a:cubicBezTo>
                  <a:pt x="0" y="50313"/>
                  <a:pt x="50313" y="0"/>
                  <a:pt x="112283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9982" y="1392615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0"/>
                </a:moveTo>
                <a:cubicBezTo>
                  <a:pt x="98942" y="0"/>
                  <a:pt x="103876" y="2961"/>
                  <a:pt x="106434" y="7676"/>
                </a:cubicBezTo>
                <a:lnTo>
                  <a:pt x="185383" y="153877"/>
                </a:lnTo>
                <a:cubicBezTo>
                  <a:pt x="187832" y="158409"/>
                  <a:pt x="187722" y="163891"/>
                  <a:pt x="185091" y="168314"/>
                </a:cubicBezTo>
                <a:cubicBezTo>
                  <a:pt x="182459" y="172737"/>
                  <a:pt x="177671" y="175441"/>
                  <a:pt x="172517" y="175441"/>
                </a:cubicBezTo>
                <a:lnTo>
                  <a:pt x="14620" y="175441"/>
                </a:lnTo>
                <a:cubicBezTo>
                  <a:pt x="9467" y="175441"/>
                  <a:pt x="4715" y="172737"/>
                  <a:pt x="2047" y="168314"/>
                </a:cubicBezTo>
                <a:cubicBezTo>
                  <a:pt x="-621" y="163891"/>
                  <a:pt x="-694" y="158409"/>
                  <a:pt x="1754" y="153877"/>
                </a:cubicBezTo>
                <a:lnTo>
                  <a:pt x="80703" y="7676"/>
                </a:lnTo>
                <a:cubicBezTo>
                  <a:pt x="83262" y="2961"/>
                  <a:pt x="88196" y="0"/>
                  <a:pt x="93569" y="0"/>
                </a:cubicBezTo>
                <a:close/>
                <a:moveTo>
                  <a:pt x="93569" y="61404"/>
                </a:moveTo>
                <a:cubicBezTo>
                  <a:pt x="88708" y="61404"/>
                  <a:pt x="84797" y="65315"/>
                  <a:pt x="84797" y="70177"/>
                </a:cubicBezTo>
                <a:lnTo>
                  <a:pt x="84797" y="111113"/>
                </a:lnTo>
                <a:cubicBezTo>
                  <a:pt x="84797" y="115974"/>
                  <a:pt x="88708" y="119885"/>
                  <a:pt x="93569" y="119885"/>
                </a:cubicBezTo>
                <a:cubicBezTo>
                  <a:pt x="98430" y="119885"/>
                  <a:pt x="102341" y="115974"/>
                  <a:pt x="102341" y="111113"/>
                </a:cubicBezTo>
                <a:lnTo>
                  <a:pt x="102341" y="70177"/>
                </a:lnTo>
                <a:cubicBezTo>
                  <a:pt x="102341" y="65315"/>
                  <a:pt x="98430" y="61404"/>
                  <a:pt x="93569" y="61404"/>
                </a:cubicBezTo>
                <a:close/>
                <a:moveTo>
                  <a:pt x="103328" y="140353"/>
                </a:moveTo>
                <a:cubicBezTo>
                  <a:pt x="103550" y="136731"/>
                  <a:pt x="101743" y="133284"/>
                  <a:pt x="98638" y="131406"/>
                </a:cubicBezTo>
                <a:cubicBezTo>
                  <a:pt x="95533" y="129528"/>
                  <a:pt x="91641" y="129528"/>
                  <a:pt x="88536" y="131406"/>
                </a:cubicBezTo>
                <a:cubicBezTo>
                  <a:pt x="85431" y="133284"/>
                  <a:pt x="83624" y="136731"/>
                  <a:pt x="83846" y="140353"/>
                </a:cubicBezTo>
                <a:cubicBezTo>
                  <a:pt x="83624" y="143975"/>
                  <a:pt x="85431" y="147422"/>
                  <a:pt x="88536" y="149300"/>
                </a:cubicBezTo>
                <a:cubicBezTo>
                  <a:pt x="91641" y="151178"/>
                  <a:pt x="95533" y="151178"/>
                  <a:pt x="98638" y="149300"/>
                </a:cubicBezTo>
                <a:cubicBezTo>
                  <a:pt x="101743" y="147422"/>
                  <a:pt x="103550" y="143975"/>
                  <a:pt x="103328" y="140353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21" name="Text 19"/>
          <p:cNvSpPr/>
          <p:nvPr/>
        </p:nvSpPr>
        <p:spPr>
          <a:xfrm>
            <a:off x="6890398" y="1242906"/>
            <a:ext cx="2339217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8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Real Bottleneck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90398" y="1542325"/>
            <a:ext cx="229243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L1TEX Scoreboard Stalls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6704" y="1841745"/>
            <a:ext cx="5557980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36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45.9%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8986" y="2365730"/>
            <a:ext cx="5333415" cy="149710"/>
          </a:xfrm>
          <a:custGeom>
            <a:avLst/>
            <a:gdLst/>
            <a:ahLst/>
            <a:cxnLst/>
            <a:rect l="l" t="t" r="r" b="b"/>
            <a:pathLst>
              <a:path w="5333415" h="149710">
                <a:moveTo>
                  <a:pt x="74855" y="0"/>
                </a:moveTo>
                <a:lnTo>
                  <a:pt x="5258560" y="0"/>
                </a:lnTo>
                <a:cubicBezTo>
                  <a:pt x="5299901" y="0"/>
                  <a:pt x="5333415" y="33514"/>
                  <a:pt x="5333415" y="74855"/>
                </a:cubicBezTo>
                <a:lnTo>
                  <a:pt x="5333415" y="74855"/>
                </a:lnTo>
                <a:cubicBezTo>
                  <a:pt x="5333415" y="116196"/>
                  <a:pt x="5299901" y="149710"/>
                  <a:pt x="5258560" y="149710"/>
                </a:cubicBezTo>
                <a:lnTo>
                  <a:pt x="74855" y="149710"/>
                </a:lnTo>
                <a:cubicBezTo>
                  <a:pt x="33541" y="149710"/>
                  <a:pt x="0" y="116169"/>
                  <a:pt x="0" y="7485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8986" y="2365730"/>
            <a:ext cx="2451500" cy="149710"/>
          </a:xfrm>
          <a:custGeom>
            <a:avLst/>
            <a:gdLst/>
            <a:ahLst/>
            <a:cxnLst/>
            <a:rect l="l" t="t" r="r" b="b"/>
            <a:pathLst>
              <a:path w="2451500" h="149710">
                <a:moveTo>
                  <a:pt x="74855" y="0"/>
                </a:moveTo>
                <a:lnTo>
                  <a:pt x="2376645" y="0"/>
                </a:lnTo>
                <a:cubicBezTo>
                  <a:pt x="2417958" y="0"/>
                  <a:pt x="2451500" y="33541"/>
                  <a:pt x="2451500" y="74855"/>
                </a:cubicBezTo>
                <a:lnTo>
                  <a:pt x="2451500" y="74855"/>
                </a:lnTo>
                <a:cubicBezTo>
                  <a:pt x="2451500" y="116169"/>
                  <a:pt x="2417958" y="149710"/>
                  <a:pt x="2376645" y="149710"/>
                </a:cubicBezTo>
                <a:lnTo>
                  <a:pt x="74855" y="149710"/>
                </a:lnTo>
                <a:cubicBezTo>
                  <a:pt x="33541" y="149710"/>
                  <a:pt x="0" y="116169"/>
                  <a:pt x="0" y="74855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26" name="Text 24"/>
          <p:cNvSpPr/>
          <p:nvPr/>
        </p:nvSpPr>
        <p:spPr>
          <a:xfrm>
            <a:off x="6296237" y="2590295"/>
            <a:ext cx="539891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spent waiting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2885" y="2893613"/>
            <a:ext cx="5322499" cy="662778"/>
          </a:xfrm>
          <a:custGeom>
            <a:avLst/>
            <a:gdLst/>
            <a:ahLst/>
            <a:cxnLst/>
            <a:rect l="l" t="t" r="r" b="b"/>
            <a:pathLst>
              <a:path w="5322499" h="662778">
                <a:moveTo>
                  <a:pt x="74854" y="0"/>
                </a:moveTo>
                <a:lnTo>
                  <a:pt x="5247645" y="0"/>
                </a:lnTo>
                <a:cubicBezTo>
                  <a:pt x="5288985" y="0"/>
                  <a:pt x="5322499" y="33513"/>
                  <a:pt x="5322499" y="74854"/>
                </a:cubicBezTo>
                <a:lnTo>
                  <a:pt x="5322499" y="587924"/>
                </a:lnTo>
                <a:cubicBezTo>
                  <a:pt x="5322499" y="629265"/>
                  <a:pt x="5288985" y="662778"/>
                  <a:pt x="5247645" y="662778"/>
                </a:cubicBezTo>
                <a:lnTo>
                  <a:pt x="74854" y="662778"/>
                </a:lnTo>
                <a:cubicBezTo>
                  <a:pt x="33513" y="662778"/>
                  <a:pt x="0" y="629265"/>
                  <a:pt x="0" y="587924"/>
                </a:cubicBezTo>
                <a:lnTo>
                  <a:pt x="0" y="74854"/>
                </a:lnTo>
                <a:cubicBezTo>
                  <a:pt x="0" y="33513"/>
                  <a:pt x="33513" y="0"/>
                  <a:pt x="7485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7780" y="3054552"/>
            <a:ext cx="130996" cy="130996"/>
          </a:xfrm>
          <a:custGeom>
            <a:avLst/>
            <a:gdLst/>
            <a:ahLst/>
            <a:cxnLst/>
            <a:rect l="l" t="t" r="r" b="b"/>
            <a:pathLst>
              <a:path w="130996" h="130996">
                <a:moveTo>
                  <a:pt x="65498" y="0"/>
                </a:moveTo>
                <a:cubicBezTo>
                  <a:pt x="101647" y="0"/>
                  <a:pt x="130996" y="29349"/>
                  <a:pt x="130996" y="65498"/>
                </a:cubicBezTo>
                <a:cubicBezTo>
                  <a:pt x="130996" y="101647"/>
                  <a:pt x="101647" y="130996"/>
                  <a:pt x="65498" y="130996"/>
                </a:cubicBezTo>
                <a:cubicBezTo>
                  <a:pt x="29349" y="130996"/>
                  <a:pt x="0" y="101647"/>
                  <a:pt x="0" y="65498"/>
                </a:cubicBezTo>
                <a:cubicBezTo>
                  <a:pt x="0" y="29349"/>
                  <a:pt x="29349" y="0"/>
                  <a:pt x="65498" y="0"/>
                </a:cubicBezTo>
                <a:close/>
                <a:moveTo>
                  <a:pt x="59358" y="30702"/>
                </a:moveTo>
                <a:lnTo>
                  <a:pt x="59358" y="65498"/>
                </a:lnTo>
                <a:cubicBezTo>
                  <a:pt x="59358" y="67545"/>
                  <a:pt x="60381" y="69464"/>
                  <a:pt x="62095" y="70615"/>
                </a:cubicBezTo>
                <a:lnTo>
                  <a:pt x="86657" y="86990"/>
                </a:lnTo>
                <a:cubicBezTo>
                  <a:pt x="89471" y="88883"/>
                  <a:pt x="93284" y="88115"/>
                  <a:pt x="95177" y="85275"/>
                </a:cubicBezTo>
                <a:cubicBezTo>
                  <a:pt x="97070" y="82435"/>
                  <a:pt x="96303" y="78649"/>
                  <a:pt x="93463" y="76756"/>
                </a:cubicBezTo>
                <a:lnTo>
                  <a:pt x="71639" y="62223"/>
                </a:lnTo>
                <a:lnTo>
                  <a:pt x="71639" y="30702"/>
                </a:lnTo>
                <a:cubicBezTo>
                  <a:pt x="71639" y="27299"/>
                  <a:pt x="68901" y="24562"/>
                  <a:pt x="65498" y="24562"/>
                </a:cubicBezTo>
                <a:cubicBezTo>
                  <a:pt x="62095" y="24562"/>
                  <a:pt x="59358" y="27299"/>
                  <a:pt x="59358" y="30702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2640" y="3009791"/>
            <a:ext cx="4932061" cy="43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Warps spend </a:t>
            </a:r>
            <a:pPr>
              <a:lnSpc>
                <a:spcPct val="140000"/>
              </a:lnSpc>
            </a:pPr>
            <a:r>
              <a:rPr lang="en-US" sz="103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45.9% of their time</a:t>
            </a:r>
            <a:pPr>
              <a:lnSpc>
                <a:spcPct val="14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waiting for data to return from the L1 Cache/Texture unit.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8173" y="3866728"/>
            <a:ext cx="11432534" cy="2618364"/>
          </a:xfrm>
          <a:custGeom>
            <a:avLst/>
            <a:gdLst/>
            <a:ahLst/>
            <a:cxnLst/>
            <a:rect l="l" t="t" r="r" b="b"/>
            <a:pathLst>
              <a:path w="11432534" h="2618364">
                <a:moveTo>
                  <a:pt x="112275" y="0"/>
                </a:moveTo>
                <a:lnTo>
                  <a:pt x="11320259" y="0"/>
                </a:lnTo>
                <a:cubicBezTo>
                  <a:pt x="11382267" y="0"/>
                  <a:pt x="11432534" y="50267"/>
                  <a:pt x="11432534" y="112275"/>
                </a:cubicBezTo>
                <a:lnTo>
                  <a:pt x="11432534" y="2506088"/>
                </a:lnTo>
                <a:cubicBezTo>
                  <a:pt x="11432534" y="2568096"/>
                  <a:pt x="11382267" y="2618364"/>
                  <a:pt x="11320259" y="2618364"/>
                </a:cubicBezTo>
                <a:lnTo>
                  <a:pt x="112275" y="2618364"/>
                </a:lnTo>
                <a:cubicBezTo>
                  <a:pt x="50267" y="2618364"/>
                  <a:pt x="0" y="2568096"/>
                  <a:pt x="0" y="2506088"/>
                </a:cubicBezTo>
                <a:lnTo>
                  <a:pt x="0" y="112275"/>
                </a:lnTo>
                <a:cubicBezTo>
                  <a:pt x="0" y="50267"/>
                  <a:pt x="50267" y="0"/>
                  <a:pt x="112275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8566" y="4057761"/>
            <a:ext cx="140353" cy="187137"/>
          </a:xfrm>
          <a:custGeom>
            <a:avLst/>
            <a:gdLst/>
            <a:ahLst/>
            <a:cxnLst/>
            <a:rect l="l" t="t" r="r" b="b"/>
            <a:pathLst>
              <a:path w="140353" h="187137">
                <a:moveTo>
                  <a:pt x="107056" y="140353"/>
                </a:moveTo>
                <a:cubicBezTo>
                  <a:pt x="109724" y="132202"/>
                  <a:pt x="115060" y="124819"/>
                  <a:pt x="121091" y="118459"/>
                </a:cubicBezTo>
                <a:cubicBezTo>
                  <a:pt x="133043" y="105886"/>
                  <a:pt x="140353" y="88890"/>
                  <a:pt x="140353" y="70177"/>
                </a:cubicBezTo>
                <a:cubicBezTo>
                  <a:pt x="140353" y="31433"/>
                  <a:pt x="108920" y="0"/>
                  <a:pt x="70177" y="0"/>
                </a:cubicBezTo>
                <a:cubicBezTo>
                  <a:pt x="31433" y="0"/>
                  <a:pt x="0" y="31433"/>
                  <a:pt x="0" y="70177"/>
                </a:cubicBezTo>
                <a:cubicBezTo>
                  <a:pt x="0" y="88890"/>
                  <a:pt x="7310" y="105886"/>
                  <a:pt x="19262" y="118459"/>
                </a:cubicBezTo>
                <a:cubicBezTo>
                  <a:pt x="25293" y="124819"/>
                  <a:pt x="30666" y="132202"/>
                  <a:pt x="33297" y="140353"/>
                </a:cubicBezTo>
                <a:lnTo>
                  <a:pt x="107019" y="140353"/>
                </a:lnTo>
                <a:close/>
                <a:moveTo>
                  <a:pt x="105265" y="157897"/>
                </a:moveTo>
                <a:lnTo>
                  <a:pt x="35088" y="157897"/>
                </a:lnTo>
                <a:lnTo>
                  <a:pt x="35088" y="163745"/>
                </a:lnTo>
                <a:cubicBezTo>
                  <a:pt x="35088" y="179900"/>
                  <a:pt x="48173" y="192985"/>
                  <a:pt x="64328" y="192985"/>
                </a:cubicBezTo>
                <a:lnTo>
                  <a:pt x="76025" y="192985"/>
                </a:lnTo>
                <a:cubicBezTo>
                  <a:pt x="92180" y="192985"/>
                  <a:pt x="105265" y="179900"/>
                  <a:pt x="105265" y="163745"/>
                </a:cubicBezTo>
                <a:lnTo>
                  <a:pt x="105265" y="157897"/>
                </a:lnTo>
                <a:close/>
                <a:moveTo>
                  <a:pt x="67252" y="40936"/>
                </a:moveTo>
                <a:cubicBezTo>
                  <a:pt x="52705" y="40936"/>
                  <a:pt x="40936" y="52705"/>
                  <a:pt x="40936" y="67252"/>
                </a:cubicBezTo>
                <a:cubicBezTo>
                  <a:pt x="40936" y="72114"/>
                  <a:pt x="37025" y="76025"/>
                  <a:pt x="32164" y="76025"/>
                </a:cubicBezTo>
                <a:cubicBezTo>
                  <a:pt x="27303" y="76025"/>
                  <a:pt x="23392" y="72114"/>
                  <a:pt x="23392" y="67252"/>
                </a:cubicBezTo>
                <a:cubicBezTo>
                  <a:pt x="23392" y="43020"/>
                  <a:pt x="43020" y="23392"/>
                  <a:pt x="67252" y="23392"/>
                </a:cubicBezTo>
                <a:cubicBezTo>
                  <a:pt x="72114" y="23392"/>
                  <a:pt x="76025" y="27303"/>
                  <a:pt x="76025" y="32164"/>
                </a:cubicBezTo>
                <a:cubicBezTo>
                  <a:pt x="76025" y="37025"/>
                  <a:pt x="72114" y="40936"/>
                  <a:pt x="67252" y="40936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65704" y="4020333"/>
            <a:ext cx="10984964" cy="26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4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Insight: The Data Starvation Problem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5681" y="4398507"/>
            <a:ext cx="3600835" cy="1130622"/>
          </a:xfrm>
          <a:custGeom>
            <a:avLst/>
            <a:gdLst/>
            <a:ahLst/>
            <a:cxnLst/>
            <a:rect l="l" t="t" r="r" b="b"/>
            <a:pathLst>
              <a:path w="3600835" h="1130622">
                <a:moveTo>
                  <a:pt x="74858" y="0"/>
                </a:moveTo>
                <a:lnTo>
                  <a:pt x="3525977" y="0"/>
                </a:lnTo>
                <a:cubicBezTo>
                  <a:pt x="3567320" y="0"/>
                  <a:pt x="3600835" y="33515"/>
                  <a:pt x="3600835" y="74858"/>
                </a:cubicBezTo>
                <a:lnTo>
                  <a:pt x="3600835" y="1055763"/>
                </a:lnTo>
                <a:cubicBezTo>
                  <a:pt x="3600835" y="1097106"/>
                  <a:pt x="3567320" y="1130622"/>
                  <a:pt x="3525977" y="1130622"/>
                </a:cubicBezTo>
                <a:lnTo>
                  <a:pt x="74858" y="1130622"/>
                </a:lnTo>
                <a:cubicBezTo>
                  <a:pt x="33543" y="1130622"/>
                  <a:pt x="0" y="1097079"/>
                  <a:pt x="0" y="1055763"/>
                </a:cubicBezTo>
                <a:lnTo>
                  <a:pt x="0" y="74858"/>
                </a:lnTo>
                <a:cubicBezTo>
                  <a:pt x="0" y="33543"/>
                  <a:pt x="33543" y="0"/>
                  <a:pt x="7485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862" y="4514689"/>
            <a:ext cx="374275" cy="374275"/>
          </a:xfrm>
          <a:custGeom>
            <a:avLst/>
            <a:gdLst/>
            <a:ahLst/>
            <a:cxnLst/>
            <a:rect l="l" t="t" r="r" b="b"/>
            <a:pathLst>
              <a:path w="374275" h="374275">
                <a:moveTo>
                  <a:pt x="74855" y="0"/>
                </a:moveTo>
                <a:lnTo>
                  <a:pt x="299420" y="0"/>
                </a:lnTo>
                <a:cubicBezTo>
                  <a:pt x="340733" y="0"/>
                  <a:pt x="374275" y="33541"/>
                  <a:pt x="374275" y="74855"/>
                </a:cubicBezTo>
                <a:lnTo>
                  <a:pt x="374275" y="299420"/>
                </a:lnTo>
                <a:cubicBezTo>
                  <a:pt x="374275" y="340733"/>
                  <a:pt x="340733" y="374275"/>
                  <a:pt x="299420" y="374275"/>
                </a:cubicBezTo>
                <a:lnTo>
                  <a:pt x="74855" y="374275"/>
                </a:lnTo>
                <a:cubicBezTo>
                  <a:pt x="33541" y="374275"/>
                  <a:pt x="0" y="340733"/>
                  <a:pt x="0" y="299420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4144" y="4626972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0" y="74855"/>
                </a:moveTo>
                <a:cubicBezTo>
                  <a:pt x="0" y="33541"/>
                  <a:pt x="33541" y="0"/>
                  <a:pt x="74855" y="0"/>
                </a:cubicBezTo>
                <a:cubicBezTo>
                  <a:pt x="116169" y="0"/>
                  <a:pt x="149710" y="33541"/>
                  <a:pt x="149710" y="74855"/>
                </a:cubicBezTo>
                <a:cubicBezTo>
                  <a:pt x="149710" y="116169"/>
                  <a:pt x="116169" y="149710"/>
                  <a:pt x="74855" y="149710"/>
                </a:cubicBezTo>
                <a:cubicBezTo>
                  <a:pt x="33541" y="149710"/>
                  <a:pt x="0" y="116169"/>
                  <a:pt x="0" y="74855"/>
                </a:cubicBezTo>
                <a:close/>
                <a:moveTo>
                  <a:pt x="84212" y="28071"/>
                </a:moveTo>
                <a:cubicBezTo>
                  <a:pt x="84212" y="22906"/>
                  <a:pt x="80019" y="18714"/>
                  <a:pt x="74855" y="18714"/>
                </a:cubicBezTo>
                <a:cubicBezTo>
                  <a:pt x="69691" y="18714"/>
                  <a:pt x="65498" y="22906"/>
                  <a:pt x="65498" y="28071"/>
                </a:cubicBezTo>
                <a:cubicBezTo>
                  <a:pt x="65498" y="33235"/>
                  <a:pt x="69691" y="37427"/>
                  <a:pt x="74855" y="37427"/>
                </a:cubicBezTo>
                <a:cubicBezTo>
                  <a:pt x="80019" y="37427"/>
                  <a:pt x="84212" y="33235"/>
                  <a:pt x="84212" y="28071"/>
                </a:cubicBezTo>
                <a:close/>
                <a:moveTo>
                  <a:pt x="74855" y="121639"/>
                </a:moveTo>
                <a:cubicBezTo>
                  <a:pt x="85177" y="121639"/>
                  <a:pt x="93569" y="113247"/>
                  <a:pt x="93569" y="102926"/>
                </a:cubicBezTo>
                <a:cubicBezTo>
                  <a:pt x="93569" y="98189"/>
                  <a:pt x="91814" y="93832"/>
                  <a:pt x="88890" y="90557"/>
                </a:cubicBezTo>
                <a:lnTo>
                  <a:pt x="109212" y="49942"/>
                </a:lnTo>
                <a:cubicBezTo>
                  <a:pt x="110937" y="46463"/>
                  <a:pt x="109534" y="42252"/>
                  <a:pt x="106083" y="40527"/>
                </a:cubicBezTo>
                <a:cubicBezTo>
                  <a:pt x="102633" y="38802"/>
                  <a:pt x="98393" y="40205"/>
                  <a:pt x="96668" y="43656"/>
                </a:cubicBezTo>
                <a:lnTo>
                  <a:pt x="76346" y="84270"/>
                </a:lnTo>
                <a:cubicBezTo>
                  <a:pt x="75849" y="84241"/>
                  <a:pt x="75352" y="84212"/>
                  <a:pt x="74855" y="84212"/>
                </a:cubicBezTo>
                <a:cubicBezTo>
                  <a:pt x="64533" y="84212"/>
                  <a:pt x="56141" y="92604"/>
                  <a:pt x="56141" y="102926"/>
                </a:cubicBezTo>
                <a:cubicBezTo>
                  <a:pt x="56141" y="113247"/>
                  <a:pt x="64533" y="121639"/>
                  <a:pt x="74855" y="121639"/>
                </a:cubicBezTo>
                <a:close/>
                <a:moveTo>
                  <a:pt x="51463" y="42106"/>
                </a:moveTo>
                <a:cubicBezTo>
                  <a:pt x="51463" y="36942"/>
                  <a:pt x="47270" y="32749"/>
                  <a:pt x="42106" y="32749"/>
                </a:cubicBezTo>
                <a:cubicBezTo>
                  <a:pt x="36942" y="32749"/>
                  <a:pt x="32749" y="36942"/>
                  <a:pt x="32749" y="42106"/>
                </a:cubicBezTo>
                <a:cubicBezTo>
                  <a:pt x="32749" y="47270"/>
                  <a:pt x="36942" y="51463"/>
                  <a:pt x="42106" y="51463"/>
                </a:cubicBezTo>
                <a:cubicBezTo>
                  <a:pt x="47270" y="51463"/>
                  <a:pt x="51463" y="47270"/>
                  <a:pt x="51463" y="42106"/>
                </a:cubicBezTo>
                <a:close/>
                <a:moveTo>
                  <a:pt x="28071" y="84212"/>
                </a:moveTo>
                <a:cubicBezTo>
                  <a:pt x="33235" y="84212"/>
                  <a:pt x="37427" y="80019"/>
                  <a:pt x="37427" y="74855"/>
                </a:cubicBezTo>
                <a:cubicBezTo>
                  <a:pt x="37427" y="69691"/>
                  <a:pt x="33235" y="65498"/>
                  <a:pt x="28071" y="65498"/>
                </a:cubicBezTo>
                <a:cubicBezTo>
                  <a:pt x="22906" y="65498"/>
                  <a:pt x="18714" y="69691"/>
                  <a:pt x="18714" y="74855"/>
                </a:cubicBezTo>
                <a:cubicBezTo>
                  <a:pt x="18714" y="80019"/>
                  <a:pt x="22906" y="84212"/>
                  <a:pt x="28071" y="84212"/>
                </a:cubicBezTo>
                <a:close/>
                <a:moveTo>
                  <a:pt x="130996" y="74855"/>
                </a:moveTo>
                <a:cubicBezTo>
                  <a:pt x="130996" y="69691"/>
                  <a:pt x="126803" y="65498"/>
                  <a:pt x="121639" y="65498"/>
                </a:cubicBezTo>
                <a:cubicBezTo>
                  <a:pt x="116475" y="65498"/>
                  <a:pt x="112282" y="69691"/>
                  <a:pt x="112282" y="74855"/>
                </a:cubicBezTo>
                <a:cubicBezTo>
                  <a:pt x="112282" y="80019"/>
                  <a:pt x="116475" y="84212"/>
                  <a:pt x="121639" y="84212"/>
                </a:cubicBezTo>
                <a:cubicBezTo>
                  <a:pt x="126803" y="84212"/>
                  <a:pt x="130996" y="80019"/>
                  <a:pt x="130996" y="7485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00992" y="4589544"/>
            <a:ext cx="1188322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Units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1862" y="4963819"/>
            <a:ext cx="3433971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are </a:t>
            </a:r>
            <a:pPr>
              <a:lnSpc>
                <a:spcPct val="120000"/>
              </a:lnSpc>
            </a:pPr>
            <a:r>
              <a:rPr lang="en-US" sz="103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hungry for data</a:t>
            </a:r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ready to process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6950" y="5257779"/>
            <a:ext cx="98247" cy="130996"/>
          </a:xfrm>
          <a:custGeom>
            <a:avLst/>
            <a:gdLst/>
            <a:ahLst/>
            <a:cxnLst/>
            <a:rect l="l" t="t" r="r" b="b"/>
            <a:pathLst>
              <a:path w="98247" h="130996">
                <a:moveTo>
                  <a:pt x="54906" y="4452"/>
                </a:moveTo>
                <a:cubicBezTo>
                  <a:pt x="51708" y="1254"/>
                  <a:pt x="46514" y="1254"/>
                  <a:pt x="43316" y="4452"/>
                </a:cubicBezTo>
                <a:lnTo>
                  <a:pt x="2379" y="45388"/>
                </a:lnTo>
                <a:cubicBezTo>
                  <a:pt x="-819" y="48586"/>
                  <a:pt x="-819" y="53780"/>
                  <a:pt x="2379" y="56978"/>
                </a:cubicBezTo>
                <a:cubicBezTo>
                  <a:pt x="5578" y="60176"/>
                  <a:pt x="10771" y="60176"/>
                  <a:pt x="13970" y="56978"/>
                </a:cubicBezTo>
                <a:lnTo>
                  <a:pt x="40936" y="30011"/>
                </a:lnTo>
                <a:lnTo>
                  <a:pt x="40936" y="124856"/>
                </a:lnTo>
                <a:cubicBezTo>
                  <a:pt x="40936" y="129384"/>
                  <a:pt x="44595" y="133043"/>
                  <a:pt x="49124" y="133043"/>
                </a:cubicBezTo>
                <a:cubicBezTo>
                  <a:pt x="53652" y="133043"/>
                  <a:pt x="57311" y="129384"/>
                  <a:pt x="57311" y="124856"/>
                </a:cubicBezTo>
                <a:lnTo>
                  <a:pt x="57311" y="30011"/>
                </a:lnTo>
                <a:lnTo>
                  <a:pt x="84278" y="56978"/>
                </a:lnTo>
                <a:cubicBezTo>
                  <a:pt x="87476" y="60176"/>
                  <a:pt x="92670" y="60176"/>
                  <a:pt x="95868" y="56978"/>
                </a:cubicBezTo>
                <a:cubicBezTo>
                  <a:pt x="99066" y="53780"/>
                  <a:pt x="99066" y="48586"/>
                  <a:pt x="95868" y="45388"/>
                </a:cubicBezTo>
                <a:lnTo>
                  <a:pt x="54931" y="445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820286" y="5225811"/>
            <a:ext cx="645624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95426" y="4398507"/>
            <a:ext cx="3600835" cy="1130622"/>
          </a:xfrm>
          <a:custGeom>
            <a:avLst/>
            <a:gdLst/>
            <a:ahLst/>
            <a:cxnLst/>
            <a:rect l="l" t="t" r="r" b="b"/>
            <a:pathLst>
              <a:path w="3600835" h="1130622">
                <a:moveTo>
                  <a:pt x="74858" y="0"/>
                </a:moveTo>
                <a:lnTo>
                  <a:pt x="3525977" y="0"/>
                </a:lnTo>
                <a:cubicBezTo>
                  <a:pt x="3567320" y="0"/>
                  <a:pt x="3600835" y="33515"/>
                  <a:pt x="3600835" y="74858"/>
                </a:cubicBezTo>
                <a:lnTo>
                  <a:pt x="3600835" y="1055763"/>
                </a:lnTo>
                <a:cubicBezTo>
                  <a:pt x="3600835" y="1097106"/>
                  <a:pt x="3567320" y="1130622"/>
                  <a:pt x="3525977" y="1130622"/>
                </a:cubicBezTo>
                <a:lnTo>
                  <a:pt x="74858" y="1130622"/>
                </a:lnTo>
                <a:cubicBezTo>
                  <a:pt x="33543" y="1130622"/>
                  <a:pt x="0" y="1097079"/>
                  <a:pt x="0" y="1055763"/>
                </a:cubicBezTo>
                <a:lnTo>
                  <a:pt x="0" y="74858"/>
                </a:lnTo>
                <a:cubicBezTo>
                  <a:pt x="0" y="33543"/>
                  <a:pt x="33543" y="0"/>
                  <a:pt x="7485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11608" y="4514689"/>
            <a:ext cx="374275" cy="374275"/>
          </a:xfrm>
          <a:custGeom>
            <a:avLst/>
            <a:gdLst/>
            <a:ahLst/>
            <a:cxnLst/>
            <a:rect l="l" t="t" r="r" b="b"/>
            <a:pathLst>
              <a:path w="374275" h="374275">
                <a:moveTo>
                  <a:pt x="74855" y="0"/>
                </a:moveTo>
                <a:lnTo>
                  <a:pt x="299420" y="0"/>
                </a:lnTo>
                <a:cubicBezTo>
                  <a:pt x="340733" y="0"/>
                  <a:pt x="374275" y="33541"/>
                  <a:pt x="374275" y="74855"/>
                </a:cubicBezTo>
                <a:lnTo>
                  <a:pt x="374275" y="299420"/>
                </a:lnTo>
                <a:cubicBezTo>
                  <a:pt x="374275" y="340733"/>
                  <a:pt x="340733" y="374275"/>
                  <a:pt x="299420" y="374275"/>
                </a:cubicBezTo>
                <a:lnTo>
                  <a:pt x="74855" y="374275"/>
                </a:lnTo>
                <a:cubicBezTo>
                  <a:pt x="33541" y="374275"/>
                  <a:pt x="0" y="340733"/>
                  <a:pt x="0" y="299420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42604" y="4626972"/>
            <a:ext cx="112282" cy="149710"/>
          </a:xfrm>
          <a:custGeom>
            <a:avLst/>
            <a:gdLst/>
            <a:ahLst/>
            <a:cxnLst/>
            <a:rect l="l" t="t" r="r" b="b"/>
            <a:pathLst>
              <a:path w="112282" h="149710">
                <a:moveTo>
                  <a:pt x="9357" y="0"/>
                </a:moveTo>
                <a:cubicBezTo>
                  <a:pt x="4181" y="0"/>
                  <a:pt x="0" y="4181"/>
                  <a:pt x="0" y="9357"/>
                </a:cubicBezTo>
                <a:cubicBezTo>
                  <a:pt x="0" y="14532"/>
                  <a:pt x="4181" y="18714"/>
                  <a:pt x="9357" y="18714"/>
                </a:cubicBezTo>
                <a:lnTo>
                  <a:pt x="9357" y="21930"/>
                </a:lnTo>
                <a:cubicBezTo>
                  <a:pt x="9357" y="34328"/>
                  <a:pt x="14298" y="46229"/>
                  <a:pt x="23071" y="55001"/>
                </a:cubicBezTo>
                <a:lnTo>
                  <a:pt x="42925" y="74855"/>
                </a:lnTo>
                <a:lnTo>
                  <a:pt x="23071" y="94709"/>
                </a:lnTo>
                <a:cubicBezTo>
                  <a:pt x="14298" y="103481"/>
                  <a:pt x="9357" y="115382"/>
                  <a:pt x="9357" y="127780"/>
                </a:cubicBezTo>
                <a:lnTo>
                  <a:pt x="9357" y="130996"/>
                </a:lnTo>
                <a:cubicBezTo>
                  <a:pt x="4181" y="130996"/>
                  <a:pt x="0" y="135178"/>
                  <a:pt x="0" y="140353"/>
                </a:cubicBezTo>
                <a:cubicBezTo>
                  <a:pt x="0" y="145529"/>
                  <a:pt x="4181" y="149710"/>
                  <a:pt x="9357" y="149710"/>
                </a:cubicBezTo>
                <a:lnTo>
                  <a:pt x="102926" y="149710"/>
                </a:lnTo>
                <a:cubicBezTo>
                  <a:pt x="108101" y="149710"/>
                  <a:pt x="112282" y="145529"/>
                  <a:pt x="112282" y="140353"/>
                </a:cubicBezTo>
                <a:cubicBezTo>
                  <a:pt x="112282" y="135178"/>
                  <a:pt x="108101" y="130996"/>
                  <a:pt x="102926" y="130996"/>
                </a:cubicBezTo>
                <a:lnTo>
                  <a:pt x="102926" y="127780"/>
                </a:lnTo>
                <a:cubicBezTo>
                  <a:pt x="102926" y="115382"/>
                  <a:pt x="97984" y="103481"/>
                  <a:pt x="89212" y="94709"/>
                </a:cubicBezTo>
                <a:lnTo>
                  <a:pt x="69358" y="74855"/>
                </a:lnTo>
                <a:lnTo>
                  <a:pt x="89212" y="55001"/>
                </a:lnTo>
                <a:cubicBezTo>
                  <a:pt x="97984" y="46229"/>
                  <a:pt x="102926" y="34328"/>
                  <a:pt x="102926" y="21930"/>
                </a:cubicBezTo>
                <a:lnTo>
                  <a:pt x="102926" y="18714"/>
                </a:lnTo>
                <a:cubicBezTo>
                  <a:pt x="108101" y="18714"/>
                  <a:pt x="112282" y="14532"/>
                  <a:pt x="112282" y="9357"/>
                </a:cubicBezTo>
                <a:cubicBezTo>
                  <a:pt x="112282" y="4181"/>
                  <a:pt x="108101" y="0"/>
                  <a:pt x="102926" y="0"/>
                </a:cubicBezTo>
                <a:lnTo>
                  <a:pt x="9357" y="0"/>
                </a:lnTo>
                <a:close/>
                <a:moveTo>
                  <a:pt x="28071" y="21930"/>
                </a:moveTo>
                <a:lnTo>
                  <a:pt x="28071" y="18714"/>
                </a:lnTo>
                <a:lnTo>
                  <a:pt x="84212" y="18714"/>
                </a:lnTo>
                <a:lnTo>
                  <a:pt x="84212" y="21930"/>
                </a:lnTo>
                <a:cubicBezTo>
                  <a:pt x="84212" y="27486"/>
                  <a:pt x="82574" y="32866"/>
                  <a:pt x="79533" y="37427"/>
                </a:cubicBezTo>
                <a:lnTo>
                  <a:pt x="32749" y="37427"/>
                </a:lnTo>
                <a:cubicBezTo>
                  <a:pt x="29737" y="32866"/>
                  <a:pt x="28071" y="27486"/>
                  <a:pt x="28071" y="21930"/>
                </a:cubicBezTo>
                <a:close/>
                <a:moveTo>
                  <a:pt x="32749" y="112282"/>
                </a:moveTo>
                <a:cubicBezTo>
                  <a:pt x="33772" y="110733"/>
                  <a:pt x="34971" y="109271"/>
                  <a:pt x="36287" y="107926"/>
                </a:cubicBezTo>
                <a:lnTo>
                  <a:pt x="56141" y="88072"/>
                </a:lnTo>
                <a:lnTo>
                  <a:pt x="75995" y="107926"/>
                </a:lnTo>
                <a:cubicBezTo>
                  <a:pt x="77340" y="109271"/>
                  <a:pt x="78510" y="110733"/>
                  <a:pt x="79563" y="112282"/>
                </a:cubicBezTo>
                <a:lnTo>
                  <a:pt x="32749" y="112282"/>
                </a:ln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3" name="Text 41"/>
          <p:cNvSpPr/>
          <p:nvPr/>
        </p:nvSpPr>
        <p:spPr>
          <a:xfrm>
            <a:off x="4860737" y="4589544"/>
            <a:ext cx="729836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 Cache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11608" y="4963819"/>
            <a:ext cx="3433971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provide data </a:t>
            </a:r>
            <a:pPr>
              <a:lnSpc>
                <a:spcPct val="120000"/>
              </a:lnSpc>
            </a:pPr>
            <a:r>
              <a:rPr lang="en-US" sz="103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enough</a:t>
            </a:r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keep SMs busy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6696" y="5257779"/>
            <a:ext cx="98247" cy="130996"/>
          </a:xfrm>
          <a:custGeom>
            <a:avLst/>
            <a:gdLst/>
            <a:ahLst/>
            <a:cxnLst/>
            <a:rect l="l" t="t" r="r" b="b"/>
            <a:pathLst>
              <a:path w="98247" h="130996">
                <a:moveTo>
                  <a:pt x="43341" y="128591"/>
                </a:moveTo>
                <a:cubicBezTo>
                  <a:pt x="46539" y="131789"/>
                  <a:pt x="51733" y="131789"/>
                  <a:pt x="54931" y="128591"/>
                </a:cubicBezTo>
                <a:lnTo>
                  <a:pt x="95868" y="87655"/>
                </a:lnTo>
                <a:cubicBezTo>
                  <a:pt x="99066" y="84457"/>
                  <a:pt x="99066" y="79263"/>
                  <a:pt x="95868" y="76065"/>
                </a:cubicBezTo>
                <a:cubicBezTo>
                  <a:pt x="92670" y="72867"/>
                  <a:pt x="87476" y="72867"/>
                  <a:pt x="84278" y="76065"/>
                </a:cubicBezTo>
                <a:lnTo>
                  <a:pt x="57311" y="103032"/>
                </a:lnTo>
                <a:lnTo>
                  <a:pt x="57311" y="8187"/>
                </a:lnTo>
                <a:cubicBezTo>
                  <a:pt x="57311" y="3659"/>
                  <a:pt x="53652" y="0"/>
                  <a:pt x="49124" y="0"/>
                </a:cubicBezTo>
                <a:cubicBezTo>
                  <a:pt x="44595" y="0"/>
                  <a:pt x="40936" y="3659"/>
                  <a:pt x="40936" y="8187"/>
                </a:cubicBezTo>
                <a:lnTo>
                  <a:pt x="40936" y="103032"/>
                </a:lnTo>
                <a:lnTo>
                  <a:pt x="13970" y="76065"/>
                </a:lnTo>
                <a:cubicBezTo>
                  <a:pt x="10771" y="72867"/>
                  <a:pt x="5578" y="72867"/>
                  <a:pt x="2379" y="76065"/>
                </a:cubicBezTo>
                <a:cubicBezTo>
                  <a:pt x="-819" y="79263"/>
                  <a:pt x="-819" y="84457"/>
                  <a:pt x="2379" y="87655"/>
                </a:cubicBezTo>
                <a:lnTo>
                  <a:pt x="43316" y="128591"/>
                </a:ln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6" name="Text 44"/>
          <p:cNvSpPr/>
          <p:nvPr/>
        </p:nvSpPr>
        <p:spPr>
          <a:xfrm>
            <a:off x="4580031" y="5225811"/>
            <a:ext cx="748550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Bottleneck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5172" y="4398507"/>
            <a:ext cx="3600835" cy="1130622"/>
          </a:xfrm>
          <a:custGeom>
            <a:avLst/>
            <a:gdLst/>
            <a:ahLst/>
            <a:cxnLst/>
            <a:rect l="l" t="t" r="r" b="b"/>
            <a:pathLst>
              <a:path w="3600835" h="1130622">
                <a:moveTo>
                  <a:pt x="74858" y="0"/>
                </a:moveTo>
                <a:lnTo>
                  <a:pt x="3525977" y="0"/>
                </a:lnTo>
                <a:cubicBezTo>
                  <a:pt x="3567320" y="0"/>
                  <a:pt x="3600835" y="33515"/>
                  <a:pt x="3600835" y="74858"/>
                </a:cubicBezTo>
                <a:lnTo>
                  <a:pt x="3600835" y="1055763"/>
                </a:lnTo>
                <a:cubicBezTo>
                  <a:pt x="3600835" y="1097106"/>
                  <a:pt x="3567320" y="1130622"/>
                  <a:pt x="3525977" y="1130622"/>
                </a:cubicBezTo>
                <a:lnTo>
                  <a:pt x="74858" y="1130622"/>
                </a:lnTo>
                <a:cubicBezTo>
                  <a:pt x="33543" y="1130622"/>
                  <a:pt x="0" y="1097079"/>
                  <a:pt x="0" y="1055763"/>
                </a:cubicBezTo>
                <a:lnTo>
                  <a:pt x="0" y="74858"/>
                </a:lnTo>
                <a:cubicBezTo>
                  <a:pt x="0" y="33543"/>
                  <a:pt x="33543" y="0"/>
                  <a:pt x="7485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71353" y="4514689"/>
            <a:ext cx="374275" cy="374275"/>
          </a:xfrm>
          <a:custGeom>
            <a:avLst/>
            <a:gdLst/>
            <a:ahLst/>
            <a:cxnLst/>
            <a:rect l="l" t="t" r="r" b="b"/>
            <a:pathLst>
              <a:path w="374275" h="374275">
                <a:moveTo>
                  <a:pt x="74855" y="0"/>
                </a:moveTo>
                <a:lnTo>
                  <a:pt x="299420" y="0"/>
                </a:lnTo>
                <a:cubicBezTo>
                  <a:pt x="340733" y="0"/>
                  <a:pt x="374275" y="33541"/>
                  <a:pt x="374275" y="74855"/>
                </a:cubicBezTo>
                <a:lnTo>
                  <a:pt x="374275" y="299420"/>
                </a:lnTo>
                <a:cubicBezTo>
                  <a:pt x="374275" y="340733"/>
                  <a:pt x="340733" y="374275"/>
                  <a:pt x="299420" y="374275"/>
                </a:cubicBezTo>
                <a:lnTo>
                  <a:pt x="74855" y="374275"/>
                </a:lnTo>
                <a:cubicBezTo>
                  <a:pt x="33541" y="374275"/>
                  <a:pt x="0" y="340733"/>
                  <a:pt x="0" y="299420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83636" y="4626972"/>
            <a:ext cx="149710" cy="149710"/>
          </a:xfrm>
          <a:custGeom>
            <a:avLst/>
            <a:gdLst/>
            <a:ahLst/>
            <a:cxnLst/>
            <a:rect l="l" t="t" r="r" b="b"/>
            <a:pathLst>
              <a:path w="149710" h="149710">
                <a:moveTo>
                  <a:pt x="18714" y="18714"/>
                </a:moveTo>
                <a:cubicBezTo>
                  <a:pt x="8392" y="18714"/>
                  <a:pt x="0" y="27106"/>
                  <a:pt x="0" y="37427"/>
                </a:cubicBezTo>
                <a:lnTo>
                  <a:pt x="0" y="39591"/>
                </a:lnTo>
                <a:cubicBezTo>
                  <a:pt x="0" y="41580"/>
                  <a:pt x="1287" y="43276"/>
                  <a:pt x="2953" y="44357"/>
                </a:cubicBezTo>
                <a:cubicBezTo>
                  <a:pt x="6813" y="46872"/>
                  <a:pt x="9357" y="51200"/>
                  <a:pt x="9357" y="56141"/>
                </a:cubicBezTo>
                <a:cubicBezTo>
                  <a:pt x="9357" y="61083"/>
                  <a:pt x="6813" y="65410"/>
                  <a:pt x="2953" y="67925"/>
                </a:cubicBezTo>
                <a:cubicBezTo>
                  <a:pt x="1287" y="69007"/>
                  <a:pt x="0" y="70703"/>
                  <a:pt x="0" y="72691"/>
                </a:cubicBezTo>
                <a:lnTo>
                  <a:pt x="0" y="88890"/>
                </a:lnTo>
                <a:lnTo>
                  <a:pt x="149710" y="88890"/>
                </a:lnTo>
                <a:lnTo>
                  <a:pt x="149710" y="72691"/>
                </a:lnTo>
                <a:cubicBezTo>
                  <a:pt x="149710" y="70703"/>
                  <a:pt x="148423" y="69007"/>
                  <a:pt x="146757" y="67925"/>
                </a:cubicBezTo>
                <a:cubicBezTo>
                  <a:pt x="142897" y="65410"/>
                  <a:pt x="140353" y="61083"/>
                  <a:pt x="140353" y="56141"/>
                </a:cubicBezTo>
                <a:cubicBezTo>
                  <a:pt x="140353" y="51200"/>
                  <a:pt x="142897" y="46872"/>
                  <a:pt x="146757" y="44357"/>
                </a:cubicBezTo>
                <a:cubicBezTo>
                  <a:pt x="148423" y="43276"/>
                  <a:pt x="149710" y="41580"/>
                  <a:pt x="149710" y="39591"/>
                </a:cubicBezTo>
                <a:lnTo>
                  <a:pt x="149710" y="37427"/>
                </a:lnTo>
                <a:cubicBezTo>
                  <a:pt x="149710" y="27106"/>
                  <a:pt x="141318" y="18714"/>
                  <a:pt x="130996" y="18714"/>
                </a:cubicBezTo>
                <a:lnTo>
                  <a:pt x="18714" y="18714"/>
                </a:lnTo>
                <a:close/>
                <a:moveTo>
                  <a:pt x="149710" y="121639"/>
                </a:moveTo>
                <a:lnTo>
                  <a:pt x="149710" y="102926"/>
                </a:lnTo>
                <a:lnTo>
                  <a:pt x="0" y="102926"/>
                </a:lnTo>
                <a:lnTo>
                  <a:pt x="0" y="121639"/>
                </a:lnTo>
                <a:cubicBezTo>
                  <a:pt x="0" y="126815"/>
                  <a:pt x="4181" y="130996"/>
                  <a:pt x="9357" y="130996"/>
                </a:cubicBezTo>
                <a:lnTo>
                  <a:pt x="28071" y="130996"/>
                </a:lnTo>
                <a:lnTo>
                  <a:pt x="28071" y="123979"/>
                </a:lnTo>
                <a:cubicBezTo>
                  <a:pt x="28071" y="120090"/>
                  <a:pt x="31199" y="116961"/>
                  <a:pt x="35088" y="116961"/>
                </a:cubicBezTo>
                <a:cubicBezTo>
                  <a:pt x="38977" y="116961"/>
                  <a:pt x="42106" y="120090"/>
                  <a:pt x="42106" y="123979"/>
                </a:cubicBezTo>
                <a:lnTo>
                  <a:pt x="42106" y="130996"/>
                </a:lnTo>
                <a:lnTo>
                  <a:pt x="67837" y="130996"/>
                </a:lnTo>
                <a:lnTo>
                  <a:pt x="67837" y="123979"/>
                </a:lnTo>
                <a:cubicBezTo>
                  <a:pt x="67837" y="120090"/>
                  <a:pt x="70966" y="116961"/>
                  <a:pt x="74855" y="116961"/>
                </a:cubicBezTo>
                <a:cubicBezTo>
                  <a:pt x="78744" y="116961"/>
                  <a:pt x="81873" y="120090"/>
                  <a:pt x="81873" y="123979"/>
                </a:cubicBezTo>
                <a:lnTo>
                  <a:pt x="81873" y="130996"/>
                </a:lnTo>
                <a:lnTo>
                  <a:pt x="107604" y="130996"/>
                </a:lnTo>
                <a:lnTo>
                  <a:pt x="107604" y="123979"/>
                </a:lnTo>
                <a:cubicBezTo>
                  <a:pt x="107604" y="120090"/>
                  <a:pt x="110733" y="116961"/>
                  <a:pt x="114622" y="116961"/>
                </a:cubicBezTo>
                <a:cubicBezTo>
                  <a:pt x="118511" y="116961"/>
                  <a:pt x="121639" y="120090"/>
                  <a:pt x="121639" y="123979"/>
                </a:cubicBezTo>
                <a:lnTo>
                  <a:pt x="121639" y="130996"/>
                </a:lnTo>
                <a:lnTo>
                  <a:pt x="140353" y="130996"/>
                </a:lnTo>
                <a:cubicBezTo>
                  <a:pt x="145529" y="130996"/>
                  <a:pt x="149710" y="126815"/>
                  <a:pt x="149710" y="121639"/>
                </a:cubicBezTo>
                <a:close/>
                <a:moveTo>
                  <a:pt x="46784" y="46784"/>
                </a:moveTo>
                <a:lnTo>
                  <a:pt x="46784" y="65498"/>
                </a:lnTo>
                <a:cubicBezTo>
                  <a:pt x="46784" y="70674"/>
                  <a:pt x="42603" y="74855"/>
                  <a:pt x="37427" y="74855"/>
                </a:cubicBezTo>
                <a:cubicBezTo>
                  <a:pt x="32252" y="74855"/>
                  <a:pt x="28071" y="70674"/>
                  <a:pt x="28071" y="65498"/>
                </a:cubicBezTo>
                <a:lnTo>
                  <a:pt x="28071" y="46784"/>
                </a:lnTo>
                <a:cubicBezTo>
                  <a:pt x="28071" y="41609"/>
                  <a:pt x="32252" y="37427"/>
                  <a:pt x="37427" y="37427"/>
                </a:cubicBezTo>
                <a:cubicBezTo>
                  <a:pt x="42603" y="37427"/>
                  <a:pt x="46784" y="41609"/>
                  <a:pt x="46784" y="46784"/>
                </a:cubicBezTo>
                <a:close/>
                <a:moveTo>
                  <a:pt x="84212" y="46784"/>
                </a:moveTo>
                <a:lnTo>
                  <a:pt x="84212" y="65498"/>
                </a:lnTo>
                <a:cubicBezTo>
                  <a:pt x="84212" y="70674"/>
                  <a:pt x="80030" y="74855"/>
                  <a:pt x="74855" y="74855"/>
                </a:cubicBezTo>
                <a:cubicBezTo>
                  <a:pt x="69679" y="74855"/>
                  <a:pt x="65498" y="70674"/>
                  <a:pt x="65498" y="65498"/>
                </a:cubicBezTo>
                <a:lnTo>
                  <a:pt x="65498" y="46784"/>
                </a:lnTo>
                <a:cubicBezTo>
                  <a:pt x="65498" y="41609"/>
                  <a:pt x="69679" y="37427"/>
                  <a:pt x="74855" y="37427"/>
                </a:cubicBezTo>
                <a:cubicBezTo>
                  <a:pt x="80030" y="37427"/>
                  <a:pt x="84212" y="41609"/>
                  <a:pt x="84212" y="46784"/>
                </a:cubicBezTo>
                <a:close/>
                <a:moveTo>
                  <a:pt x="121639" y="46784"/>
                </a:moveTo>
                <a:lnTo>
                  <a:pt x="121639" y="65498"/>
                </a:lnTo>
                <a:cubicBezTo>
                  <a:pt x="121639" y="70674"/>
                  <a:pt x="117458" y="74855"/>
                  <a:pt x="112282" y="74855"/>
                </a:cubicBezTo>
                <a:cubicBezTo>
                  <a:pt x="107107" y="74855"/>
                  <a:pt x="102926" y="70674"/>
                  <a:pt x="102926" y="65498"/>
                </a:cubicBezTo>
                <a:lnTo>
                  <a:pt x="102926" y="46784"/>
                </a:lnTo>
                <a:cubicBezTo>
                  <a:pt x="102926" y="41609"/>
                  <a:pt x="107107" y="37427"/>
                  <a:pt x="112282" y="37427"/>
                </a:cubicBezTo>
                <a:cubicBezTo>
                  <a:pt x="117458" y="37427"/>
                  <a:pt x="121639" y="41609"/>
                  <a:pt x="121639" y="46784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50" name="Text 48"/>
          <p:cNvSpPr/>
          <p:nvPr/>
        </p:nvSpPr>
        <p:spPr>
          <a:xfrm>
            <a:off x="8620483" y="4589544"/>
            <a:ext cx="523985" cy="224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9" b="1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71353" y="4963819"/>
            <a:ext cx="3433971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at </a:t>
            </a:r>
            <a:pPr>
              <a:lnSpc>
                <a:spcPct val="120000"/>
              </a:lnSpc>
            </a:pPr>
            <a:r>
              <a:rPr lang="en-US" sz="1031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92% efficiency</a:t>
            </a:r>
            <a:pPr>
              <a:lnSpc>
                <a:spcPct val="120000"/>
              </a:lnSpc>
            </a:pPr>
            <a:r>
              <a:rPr lang="en-US" sz="103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nearly saturated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98254" y="5257779"/>
            <a:ext cx="114622" cy="130996"/>
          </a:xfrm>
          <a:custGeom>
            <a:avLst/>
            <a:gdLst/>
            <a:ahLst/>
            <a:cxnLst/>
            <a:rect l="l" t="t" r="r" b="b"/>
            <a:pathLst>
              <a:path w="114622" h="130996">
                <a:moveTo>
                  <a:pt x="111244" y="17935"/>
                </a:moveTo>
                <a:cubicBezTo>
                  <a:pt x="114903" y="20596"/>
                  <a:pt x="115722" y="25713"/>
                  <a:pt x="113061" y="29372"/>
                </a:cubicBezTo>
                <a:lnTo>
                  <a:pt x="47563" y="119432"/>
                </a:lnTo>
                <a:cubicBezTo>
                  <a:pt x="46156" y="121376"/>
                  <a:pt x="43981" y="122579"/>
                  <a:pt x="41576" y="122783"/>
                </a:cubicBezTo>
                <a:cubicBezTo>
                  <a:pt x="39171" y="122988"/>
                  <a:pt x="36843" y="122093"/>
                  <a:pt x="35154" y="120404"/>
                </a:cubicBezTo>
                <a:lnTo>
                  <a:pt x="2405" y="87655"/>
                </a:lnTo>
                <a:cubicBezTo>
                  <a:pt x="-793" y="84457"/>
                  <a:pt x="-793" y="79263"/>
                  <a:pt x="2405" y="76065"/>
                </a:cubicBezTo>
                <a:cubicBezTo>
                  <a:pt x="5603" y="72867"/>
                  <a:pt x="10797" y="72867"/>
                  <a:pt x="13995" y="76065"/>
                </a:cubicBezTo>
                <a:lnTo>
                  <a:pt x="39964" y="102034"/>
                </a:lnTo>
                <a:lnTo>
                  <a:pt x="99833" y="19726"/>
                </a:lnTo>
                <a:cubicBezTo>
                  <a:pt x="102494" y="16067"/>
                  <a:pt x="107611" y="15249"/>
                  <a:pt x="111270" y="1791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3" name="Text 51"/>
          <p:cNvSpPr/>
          <p:nvPr/>
        </p:nvSpPr>
        <p:spPr>
          <a:xfrm>
            <a:off x="8339777" y="5225811"/>
            <a:ext cx="589483" cy="187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5681" y="5649211"/>
            <a:ext cx="11123757" cy="681492"/>
          </a:xfrm>
          <a:custGeom>
            <a:avLst/>
            <a:gdLst/>
            <a:ahLst/>
            <a:cxnLst/>
            <a:rect l="l" t="t" r="r" b="b"/>
            <a:pathLst>
              <a:path w="11123757" h="681492">
                <a:moveTo>
                  <a:pt x="74855" y="0"/>
                </a:moveTo>
                <a:lnTo>
                  <a:pt x="11048902" y="0"/>
                </a:lnTo>
                <a:cubicBezTo>
                  <a:pt x="11090244" y="0"/>
                  <a:pt x="11123757" y="33514"/>
                  <a:pt x="11123757" y="74855"/>
                </a:cubicBezTo>
                <a:lnTo>
                  <a:pt x="11123757" y="606637"/>
                </a:lnTo>
                <a:cubicBezTo>
                  <a:pt x="11123757" y="647978"/>
                  <a:pt x="11090244" y="681492"/>
                  <a:pt x="11048902" y="681492"/>
                </a:cubicBezTo>
                <a:lnTo>
                  <a:pt x="74855" y="681492"/>
                </a:lnTo>
                <a:cubicBezTo>
                  <a:pt x="33514" y="681492"/>
                  <a:pt x="0" y="647978"/>
                  <a:pt x="0" y="606637"/>
                </a:cubicBezTo>
                <a:lnTo>
                  <a:pt x="0" y="74855"/>
                </a:lnTo>
                <a:cubicBezTo>
                  <a:pt x="0" y="33541"/>
                  <a:pt x="33541" y="0"/>
                  <a:pt x="7485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34" y="5765389"/>
            <a:ext cx="10966250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9" b="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Problem:</a:t>
            </a:r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efficient memory coalescing from DRAM, the L1 cache latency is causing </a:t>
            </a:r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FF7B72"/>
                </a:solidFill>
                <a:highlight>
                  <a:srgbClr val="FF7B7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units to starve </a:t>
            </a:r>
            <a:pPr algn="ctr">
              <a:lnSpc>
                <a:spcPct val="130000"/>
              </a:lnSpc>
            </a:pPr>
            <a:r>
              <a:rPr lang="en-US" sz="1179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they're ready to work but waiting on data.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807" y="336682"/>
            <a:ext cx="435240" cy="435240"/>
          </a:xfrm>
          <a:custGeom>
            <a:avLst/>
            <a:gdLst/>
            <a:ahLst/>
            <a:cxnLst/>
            <a:rect l="l" t="t" r="r" b="b"/>
            <a:pathLst>
              <a:path w="435240" h="435240">
                <a:moveTo>
                  <a:pt x="95248" y="0"/>
                </a:moveTo>
                <a:lnTo>
                  <a:pt x="339992" y="0"/>
                </a:lnTo>
                <a:cubicBezTo>
                  <a:pt x="392560" y="0"/>
                  <a:pt x="435240" y="42679"/>
                  <a:pt x="435240" y="95248"/>
                </a:cubicBezTo>
                <a:lnTo>
                  <a:pt x="435240" y="339992"/>
                </a:lnTo>
                <a:cubicBezTo>
                  <a:pt x="435240" y="392560"/>
                  <a:pt x="392560" y="435240"/>
                  <a:pt x="339992" y="435240"/>
                </a:cubicBezTo>
                <a:lnTo>
                  <a:pt x="95248" y="435240"/>
                </a:lnTo>
                <a:cubicBezTo>
                  <a:pt x="42679" y="435240"/>
                  <a:pt x="0" y="392560"/>
                  <a:pt x="0" y="33999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88" y="460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317500"/>
            <a:ext cx="495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Opportunity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9000" y="476250"/>
            <a:ext cx="5040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"Instruction Mix" Opportunity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807" y="924057"/>
            <a:ext cx="5705740" cy="3840427"/>
          </a:xfrm>
          <a:custGeom>
            <a:avLst/>
            <a:gdLst/>
            <a:ahLst/>
            <a:cxnLst/>
            <a:rect l="l" t="t" r="r" b="b"/>
            <a:pathLst>
              <a:path w="5705740" h="3840427">
                <a:moveTo>
                  <a:pt x="95243" y="0"/>
                </a:moveTo>
                <a:lnTo>
                  <a:pt x="5610497" y="0"/>
                </a:lnTo>
                <a:cubicBezTo>
                  <a:pt x="5663098" y="0"/>
                  <a:pt x="5705740" y="42642"/>
                  <a:pt x="5705740" y="95243"/>
                </a:cubicBezTo>
                <a:lnTo>
                  <a:pt x="5705740" y="3745184"/>
                </a:lnTo>
                <a:cubicBezTo>
                  <a:pt x="5705740" y="3797786"/>
                  <a:pt x="5663098" y="3840427"/>
                  <a:pt x="5610497" y="3840427"/>
                </a:cubicBezTo>
                <a:lnTo>
                  <a:pt x="95243" y="3840427"/>
                </a:lnTo>
                <a:cubicBezTo>
                  <a:pt x="42642" y="3840427"/>
                  <a:pt x="0" y="3797786"/>
                  <a:pt x="0" y="3745184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58" y="108611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4570" y="0"/>
                </a:moveTo>
                <a:cubicBezTo>
                  <a:pt x="46354" y="0"/>
                  <a:pt x="39688" y="6666"/>
                  <a:pt x="39688" y="14883"/>
                </a:cubicBezTo>
                <a:lnTo>
                  <a:pt x="39688" y="79375"/>
                </a:lnTo>
                <a:cubicBezTo>
                  <a:pt x="39688" y="87592"/>
                  <a:pt x="46354" y="94258"/>
                  <a:pt x="54570" y="94258"/>
                </a:cubicBezTo>
                <a:lnTo>
                  <a:pt x="74414" y="94258"/>
                </a:lnTo>
                <a:cubicBezTo>
                  <a:pt x="82631" y="94258"/>
                  <a:pt x="89297" y="87592"/>
                  <a:pt x="89297" y="79375"/>
                </a:cubicBezTo>
                <a:lnTo>
                  <a:pt x="89297" y="59531"/>
                </a:lnTo>
                <a:lnTo>
                  <a:pt x="99219" y="59531"/>
                </a:lnTo>
                <a:cubicBezTo>
                  <a:pt x="121140" y="59531"/>
                  <a:pt x="138906" y="77298"/>
                  <a:pt x="138906" y="99219"/>
                </a:cubicBezTo>
                <a:cubicBezTo>
                  <a:pt x="138906" y="121140"/>
                  <a:pt x="121140" y="138906"/>
                  <a:pt x="99219" y="138906"/>
                </a:cubicBezTo>
                <a:lnTo>
                  <a:pt x="9922" y="138906"/>
                </a:lnTo>
                <a:cubicBezTo>
                  <a:pt x="4434" y="138906"/>
                  <a:pt x="0" y="143340"/>
                  <a:pt x="0" y="148828"/>
                </a:cubicBezTo>
                <a:cubicBezTo>
                  <a:pt x="0" y="154316"/>
                  <a:pt x="4434" y="158750"/>
                  <a:pt x="9922" y="158750"/>
                </a:cubicBezTo>
                <a:lnTo>
                  <a:pt x="148828" y="158750"/>
                </a:lnTo>
                <a:cubicBezTo>
                  <a:pt x="154316" y="158750"/>
                  <a:pt x="158750" y="154316"/>
                  <a:pt x="158750" y="148828"/>
                </a:cubicBezTo>
                <a:cubicBezTo>
                  <a:pt x="158750" y="143340"/>
                  <a:pt x="154316" y="138906"/>
                  <a:pt x="148828" y="138906"/>
                </a:cubicBezTo>
                <a:lnTo>
                  <a:pt x="143588" y="138906"/>
                </a:lnTo>
                <a:cubicBezTo>
                  <a:pt x="153014" y="128364"/>
                  <a:pt x="158750" y="114474"/>
                  <a:pt x="158750" y="99219"/>
                </a:cubicBezTo>
                <a:cubicBezTo>
                  <a:pt x="158750" y="66353"/>
                  <a:pt x="132085" y="39688"/>
                  <a:pt x="99219" y="39688"/>
                </a:cubicBezTo>
                <a:lnTo>
                  <a:pt x="89297" y="39688"/>
                </a:lnTo>
                <a:lnTo>
                  <a:pt x="89297" y="14883"/>
                </a:lnTo>
                <a:cubicBezTo>
                  <a:pt x="89297" y="6666"/>
                  <a:pt x="82631" y="0"/>
                  <a:pt x="74414" y="0"/>
                </a:cubicBezTo>
                <a:lnTo>
                  <a:pt x="54570" y="0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91777" y="124023"/>
                </a:lnTo>
                <a:cubicBezTo>
                  <a:pt x="95901" y="124023"/>
                  <a:pt x="99219" y="120706"/>
                  <a:pt x="99219" y="116582"/>
                </a:cubicBezTo>
                <a:cubicBezTo>
                  <a:pt x="99219" y="112458"/>
                  <a:pt x="95901" y="109141"/>
                  <a:pt x="91777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49552" y="1054366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Nsight Insight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4422" y="1375173"/>
            <a:ext cx="5443802" cy="1848115"/>
          </a:xfrm>
          <a:custGeom>
            <a:avLst/>
            <a:gdLst/>
            <a:ahLst/>
            <a:cxnLst/>
            <a:rect l="l" t="t" r="r" b="b"/>
            <a:pathLst>
              <a:path w="5443802" h="1848115">
                <a:moveTo>
                  <a:pt x="63501" y="0"/>
                </a:moveTo>
                <a:lnTo>
                  <a:pt x="5380301" y="0"/>
                </a:lnTo>
                <a:cubicBezTo>
                  <a:pt x="5415372" y="0"/>
                  <a:pt x="5443802" y="28430"/>
                  <a:pt x="5443802" y="63501"/>
                </a:cubicBezTo>
                <a:lnTo>
                  <a:pt x="5443802" y="1784613"/>
                </a:lnTo>
                <a:cubicBezTo>
                  <a:pt x="5443802" y="1819684"/>
                  <a:pt x="5415372" y="1848115"/>
                  <a:pt x="5380301" y="1848115"/>
                </a:cubicBezTo>
                <a:lnTo>
                  <a:pt x="63501" y="1848115"/>
                </a:lnTo>
                <a:cubicBezTo>
                  <a:pt x="28430" y="1848115"/>
                  <a:pt x="0" y="1819684"/>
                  <a:pt x="0" y="1784613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729" y="1505478"/>
            <a:ext cx="5246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profiler detected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instruction pattern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FP32 (single-precision floating-point) pipeline: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729" y="2013478"/>
            <a:ext cx="5183188" cy="508000"/>
          </a:xfrm>
          <a:custGeom>
            <a:avLst/>
            <a:gdLst/>
            <a:ahLst/>
            <a:cxnLst/>
            <a:rect l="l" t="t" r="r" b="b"/>
            <a:pathLst>
              <a:path w="5183188" h="508000">
                <a:moveTo>
                  <a:pt x="63500" y="0"/>
                </a:moveTo>
                <a:lnTo>
                  <a:pt x="5119688" y="0"/>
                </a:lnTo>
                <a:cubicBezTo>
                  <a:pt x="5154734" y="0"/>
                  <a:pt x="5183188" y="28453"/>
                  <a:pt x="5183188" y="63500"/>
                </a:cubicBezTo>
                <a:lnTo>
                  <a:pt x="5183188" y="444500"/>
                </a:lnTo>
                <a:cubicBezTo>
                  <a:pt x="5183188" y="479547"/>
                  <a:pt x="5154734" y="508000"/>
                  <a:pt x="5119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79979" y="21087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7292" y="220397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729" y="2108728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Fused Instructions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729" y="2299228"/>
            <a:ext cx="1230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FMA operations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0157" y="2140478"/>
            <a:ext cx="484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729" y="2584978"/>
            <a:ext cx="5183188" cy="508000"/>
          </a:xfrm>
          <a:custGeom>
            <a:avLst/>
            <a:gdLst/>
            <a:ahLst/>
            <a:cxnLst/>
            <a:rect l="l" t="t" r="r" b="b"/>
            <a:pathLst>
              <a:path w="5183188" h="508000">
                <a:moveTo>
                  <a:pt x="63500" y="0"/>
                </a:moveTo>
                <a:lnTo>
                  <a:pt x="5119688" y="0"/>
                </a:lnTo>
                <a:cubicBezTo>
                  <a:pt x="5154734" y="0"/>
                  <a:pt x="5183188" y="28453"/>
                  <a:pt x="5183188" y="63500"/>
                </a:cubicBezTo>
                <a:lnTo>
                  <a:pt x="5183188" y="444500"/>
                </a:lnTo>
                <a:cubicBezTo>
                  <a:pt x="5183188" y="479547"/>
                  <a:pt x="5154734" y="508000"/>
                  <a:pt x="5119688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979" y="26802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67292" y="277547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170" y="-6176"/>
                </a:moveTo>
                <a:cubicBezTo>
                  <a:pt x="7838" y="-8508"/>
                  <a:pt x="4068" y="-8508"/>
                  <a:pt x="1761" y="-6176"/>
                </a:cubicBezTo>
                <a:cubicBezTo>
                  <a:pt x="-546" y="-3845"/>
                  <a:pt x="-571" y="-74"/>
                  <a:pt x="1736" y="2257"/>
                </a:cubicBezTo>
                <a:lnTo>
                  <a:pt x="132705" y="133226"/>
                </a:lnTo>
                <a:cubicBezTo>
                  <a:pt x="135037" y="135558"/>
                  <a:pt x="138807" y="135558"/>
                  <a:pt x="141114" y="133226"/>
                </a:cubicBezTo>
                <a:cubicBezTo>
                  <a:pt x="143421" y="130894"/>
                  <a:pt x="143446" y="127124"/>
                  <a:pt x="141114" y="124817"/>
                </a:cubicBezTo>
                <a:lnTo>
                  <a:pt x="110852" y="94555"/>
                </a:lnTo>
                <a:cubicBezTo>
                  <a:pt x="111894" y="93712"/>
                  <a:pt x="112911" y="92794"/>
                  <a:pt x="113854" y="91852"/>
                </a:cubicBezTo>
                <a:lnTo>
                  <a:pt x="131490" y="74216"/>
                </a:lnTo>
                <a:cubicBezTo>
                  <a:pt x="138757" y="66948"/>
                  <a:pt x="142850" y="57076"/>
                  <a:pt x="142850" y="46782"/>
                </a:cubicBezTo>
                <a:cubicBezTo>
                  <a:pt x="142850" y="25350"/>
                  <a:pt x="125487" y="7962"/>
                  <a:pt x="104031" y="7962"/>
                </a:cubicBezTo>
                <a:cubicBezTo>
                  <a:pt x="94779" y="7962"/>
                  <a:pt x="85899" y="11261"/>
                  <a:pt x="78904" y="17190"/>
                </a:cubicBezTo>
                <a:cubicBezTo>
                  <a:pt x="83939" y="19695"/>
                  <a:pt x="88503" y="23019"/>
                  <a:pt x="92422" y="26988"/>
                </a:cubicBezTo>
                <a:cubicBezTo>
                  <a:pt x="95920" y="24929"/>
                  <a:pt x="99913" y="23837"/>
                  <a:pt x="104031" y="23837"/>
                </a:cubicBezTo>
                <a:cubicBezTo>
                  <a:pt x="116706" y="23837"/>
                  <a:pt x="126975" y="34106"/>
                  <a:pt x="126975" y="46782"/>
                </a:cubicBezTo>
                <a:cubicBezTo>
                  <a:pt x="126975" y="52859"/>
                  <a:pt x="124569" y="58688"/>
                  <a:pt x="120253" y="63004"/>
                </a:cubicBezTo>
                <a:lnTo>
                  <a:pt x="102617" y="80640"/>
                </a:lnTo>
                <a:cubicBezTo>
                  <a:pt x="101650" y="81607"/>
                  <a:pt x="100608" y="82476"/>
                  <a:pt x="99492" y="83245"/>
                </a:cubicBezTo>
                <a:lnTo>
                  <a:pt x="87709" y="71462"/>
                </a:lnTo>
                <a:cubicBezTo>
                  <a:pt x="91802" y="71239"/>
                  <a:pt x="95076" y="67890"/>
                  <a:pt x="95200" y="63748"/>
                </a:cubicBezTo>
                <a:cubicBezTo>
                  <a:pt x="95200" y="63426"/>
                  <a:pt x="95200" y="63103"/>
                  <a:pt x="95200" y="62781"/>
                </a:cubicBezTo>
                <a:cubicBezTo>
                  <a:pt x="95200" y="41374"/>
                  <a:pt x="77862" y="23862"/>
                  <a:pt x="56381" y="23862"/>
                </a:cubicBezTo>
                <a:cubicBezTo>
                  <a:pt x="51619" y="23862"/>
                  <a:pt x="46980" y="24730"/>
                  <a:pt x="42614" y="26392"/>
                </a:cubicBezTo>
                <a:lnTo>
                  <a:pt x="10170" y="-6176"/>
                </a:lnTo>
                <a:close/>
                <a:moveTo>
                  <a:pt x="56034" y="39688"/>
                </a:moveTo>
                <a:cubicBezTo>
                  <a:pt x="56183" y="39688"/>
                  <a:pt x="56307" y="39688"/>
                  <a:pt x="56455" y="39688"/>
                </a:cubicBezTo>
                <a:cubicBezTo>
                  <a:pt x="60201" y="39688"/>
                  <a:pt x="63773" y="40605"/>
                  <a:pt x="66898" y="42218"/>
                </a:cubicBezTo>
                <a:cubicBezTo>
                  <a:pt x="67345" y="42515"/>
                  <a:pt x="67791" y="42788"/>
                  <a:pt x="68263" y="42987"/>
                </a:cubicBezTo>
                <a:cubicBezTo>
                  <a:pt x="74910" y="47030"/>
                  <a:pt x="79375" y="54372"/>
                  <a:pt x="79375" y="62731"/>
                </a:cubicBezTo>
                <a:cubicBezTo>
                  <a:pt x="79375" y="62830"/>
                  <a:pt x="79375" y="62929"/>
                  <a:pt x="79375" y="63029"/>
                </a:cubicBezTo>
                <a:lnTo>
                  <a:pt x="56034" y="39688"/>
                </a:lnTo>
                <a:close/>
                <a:moveTo>
                  <a:pt x="85874" y="103188"/>
                </a:moveTo>
                <a:lnTo>
                  <a:pt x="47625" y="64939"/>
                </a:lnTo>
                <a:cubicBezTo>
                  <a:pt x="47923" y="85923"/>
                  <a:pt x="64889" y="102865"/>
                  <a:pt x="85849" y="103163"/>
                </a:cubicBezTo>
                <a:close/>
                <a:moveTo>
                  <a:pt x="34652" y="51966"/>
                </a:moveTo>
                <a:lnTo>
                  <a:pt x="23416" y="40729"/>
                </a:lnTo>
                <a:lnTo>
                  <a:pt x="11361" y="52784"/>
                </a:lnTo>
                <a:cubicBezTo>
                  <a:pt x="4093" y="60052"/>
                  <a:pt x="0" y="69924"/>
                  <a:pt x="0" y="80218"/>
                </a:cubicBezTo>
                <a:cubicBezTo>
                  <a:pt x="0" y="101650"/>
                  <a:pt x="17363" y="119038"/>
                  <a:pt x="38819" y="119038"/>
                </a:cubicBezTo>
                <a:cubicBezTo>
                  <a:pt x="48047" y="119038"/>
                  <a:pt x="56952" y="115739"/>
                  <a:pt x="63946" y="109810"/>
                </a:cubicBezTo>
                <a:cubicBezTo>
                  <a:pt x="58911" y="107305"/>
                  <a:pt x="54322" y="103981"/>
                  <a:pt x="50403" y="100013"/>
                </a:cubicBezTo>
                <a:cubicBezTo>
                  <a:pt x="46930" y="102046"/>
                  <a:pt x="42937" y="103138"/>
                  <a:pt x="38819" y="103138"/>
                </a:cubicBezTo>
                <a:cubicBezTo>
                  <a:pt x="26144" y="103138"/>
                  <a:pt x="15875" y="92869"/>
                  <a:pt x="15875" y="80194"/>
                </a:cubicBezTo>
                <a:cubicBezTo>
                  <a:pt x="15875" y="74116"/>
                  <a:pt x="18281" y="68287"/>
                  <a:pt x="22597" y="63971"/>
                </a:cubicBezTo>
                <a:lnTo>
                  <a:pt x="34652" y="51916"/>
                </a:ln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29" y="2680228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Non-Fused Instructions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729" y="2870728"/>
            <a:ext cx="1531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MUL + ADD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80157" y="2711978"/>
            <a:ext cx="484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4422" y="3325151"/>
            <a:ext cx="5443802" cy="784490"/>
          </a:xfrm>
          <a:custGeom>
            <a:avLst/>
            <a:gdLst/>
            <a:ahLst/>
            <a:cxnLst/>
            <a:rect l="l" t="t" r="r" b="b"/>
            <a:pathLst>
              <a:path w="5443802" h="784490">
                <a:moveTo>
                  <a:pt x="63497" y="0"/>
                </a:moveTo>
                <a:lnTo>
                  <a:pt x="5380305" y="0"/>
                </a:lnTo>
                <a:cubicBezTo>
                  <a:pt x="5415374" y="0"/>
                  <a:pt x="5443802" y="28428"/>
                  <a:pt x="5443802" y="63497"/>
                </a:cubicBezTo>
                <a:lnTo>
                  <a:pt x="5443802" y="720993"/>
                </a:lnTo>
                <a:cubicBezTo>
                  <a:pt x="5443802" y="756061"/>
                  <a:pt x="5415374" y="784490"/>
                  <a:pt x="5380305" y="784490"/>
                </a:cubicBezTo>
                <a:lnTo>
                  <a:pt x="63497" y="784490"/>
                </a:lnTo>
                <a:cubicBezTo>
                  <a:pt x="28428" y="784490"/>
                  <a:pt x="0" y="756061"/>
                  <a:pt x="0" y="72099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854" y="345082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5542" y="3423710"/>
            <a:ext cx="511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979" y="3645960"/>
            <a:ext cx="530225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38% of FP32 operations are using </a:t>
            </a:r>
            <a:pPr>
              <a:lnSpc>
                <a:spcPct val="140000"/>
              </a:lnSpc>
            </a:pPr>
            <a:r>
              <a:rPr lang="en-US" sz="875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multiply and add instructions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combined FMA operations.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2807" y="924057"/>
            <a:ext cx="5705740" cy="3840427"/>
          </a:xfrm>
          <a:custGeom>
            <a:avLst/>
            <a:gdLst/>
            <a:ahLst/>
            <a:cxnLst/>
            <a:rect l="l" t="t" r="r" b="b"/>
            <a:pathLst>
              <a:path w="5705740" h="3840427">
                <a:moveTo>
                  <a:pt x="95243" y="0"/>
                </a:moveTo>
                <a:lnTo>
                  <a:pt x="5610497" y="0"/>
                </a:lnTo>
                <a:cubicBezTo>
                  <a:pt x="5663098" y="0"/>
                  <a:pt x="5705740" y="42642"/>
                  <a:pt x="5705740" y="95243"/>
                </a:cubicBezTo>
                <a:lnTo>
                  <a:pt x="5705740" y="3745184"/>
                </a:lnTo>
                <a:cubicBezTo>
                  <a:pt x="5705740" y="3797786"/>
                  <a:pt x="5663098" y="3840427"/>
                  <a:pt x="5610497" y="3840427"/>
                </a:cubicBezTo>
                <a:lnTo>
                  <a:pt x="95243" y="3840427"/>
                </a:lnTo>
                <a:cubicBezTo>
                  <a:pt x="42642" y="3840427"/>
                  <a:pt x="0" y="3797786"/>
                  <a:pt x="0" y="3745184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12958" y="108611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1552" y="1054366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96422" y="1375173"/>
            <a:ext cx="5443802" cy="2006865"/>
          </a:xfrm>
          <a:custGeom>
            <a:avLst/>
            <a:gdLst/>
            <a:ahLst/>
            <a:cxnLst/>
            <a:rect l="l" t="t" r="r" b="b"/>
            <a:pathLst>
              <a:path w="5443802" h="2006865">
                <a:moveTo>
                  <a:pt x="63497" y="0"/>
                </a:moveTo>
                <a:lnTo>
                  <a:pt x="5380305" y="0"/>
                </a:lnTo>
                <a:cubicBezTo>
                  <a:pt x="5415373" y="0"/>
                  <a:pt x="5443802" y="28429"/>
                  <a:pt x="5443802" y="63497"/>
                </a:cubicBezTo>
                <a:lnTo>
                  <a:pt x="5443802" y="1943367"/>
                </a:lnTo>
                <a:cubicBezTo>
                  <a:pt x="5443802" y="1978436"/>
                  <a:pt x="5415373" y="2006865"/>
                  <a:pt x="5380305" y="2006865"/>
                </a:cubicBezTo>
                <a:lnTo>
                  <a:pt x="63497" y="2006865"/>
                </a:lnTo>
                <a:cubicBezTo>
                  <a:pt x="28429" y="2006865"/>
                  <a:pt x="0" y="1978436"/>
                  <a:pt x="0" y="1943367"/>
                </a:cubicBezTo>
                <a:lnTo>
                  <a:pt x="0" y="63497"/>
                </a:lnTo>
                <a:cubicBezTo>
                  <a:pt x="0" y="28429"/>
                  <a:pt x="28429" y="0"/>
                  <a:pt x="63497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6729" y="1505478"/>
            <a:ext cx="5246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pairs of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non-fused instructions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fused multiply-add (FMA)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operations could yield: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7667" y="2140478"/>
            <a:ext cx="542131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7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33%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91011" y="2680228"/>
            <a:ext cx="525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Performance Gain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8948" y="2965978"/>
            <a:ext cx="523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the compute stage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6422" y="3483901"/>
            <a:ext cx="5443802" cy="1149615"/>
          </a:xfrm>
          <a:custGeom>
            <a:avLst/>
            <a:gdLst/>
            <a:ahLst/>
            <a:cxnLst/>
            <a:rect l="l" t="t" r="r" b="b"/>
            <a:pathLst>
              <a:path w="5443802" h="1149615">
                <a:moveTo>
                  <a:pt x="63505" y="0"/>
                </a:moveTo>
                <a:lnTo>
                  <a:pt x="5380297" y="0"/>
                </a:lnTo>
                <a:cubicBezTo>
                  <a:pt x="5415370" y="0"/>
                  <a:pt x="5443802" y="28432"/>
                  <a:pt x="5443802" y="63505"/>
                </a:cubicBezTo>
                <a:lnTo>
                  <a:pt x="5443802" y="1086110"/>
                </a:lnTo>
                <a:cubicBezTo>
                  <a:pt x="5443802" y="1121183"/>
                  <a:pt x="5415370" y="1149615"/>
                  <a:pt x="5380297" y="1149615"/>
                </a:cubicBezTo>
                <a:lnTo>
                  <a:pt x="63505" y="1149615"/>
                </a:lnTo>
                <a:cubicBezTo>
                  <a:pt x="28432" y="1149615"/>
                  <a:pt x="0" y="1121183"/>
                  <a:pt x="0" y="1086110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4745" y="360957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3891" y="0"/>
                </a:moveTo>
                <a:cubicBezTo>
                  <a:pt x="6229" y="0"/>
                  <a:pt x="0" y="6229"/>
                  <a:pt x="0" y="13891"/>
                </a:cubicBezTo>
                <a:lnTo>
                  <a:pt x="0" y="97234"/>
                </a:lnTo>
                <a:cubicBezTo>
                  <a:pt x="0" y="104896"/>
                  <a:pt x="6229" y="111125"/>
                  <a:pt x="13891" y="111125"/>
                </a:cubicBezTo>
                <a:lnTo>
                  <a:pt x="69453" y="111125"/>
                </a:lnTo>
                <a:cubicBezTo>
                  <a:pt x="77115" y="111125"/>
                  <a:pt x="83344" y="104896"/>
                  <a:pt x="83344" y="97234"/>
                </a:cubicBezTo>
                <a:lnTo>
                  <a:pt x="83344" y="13891"/>
                </a:lnTo>
                <a:cubicBezTo>
                  <a:pt x="83344" y="6229"/>
                  <a:pt x="77115" y="0"/>
                  <a:pt x="69453" y="0"/>
                </a:cubicBezTo>
                <a:lnTo>
                  <a:pt x="13891" y="0"/>
                </a:lnTo>
                <a:close/>
                <a:moveTo>
                  <a:pt x="20836" y="13891"/>
                </a:moveTo>
                <a:lnTo>
                  <a:pt x="62508" y="13891"/>
                </a:lnTo>
                <a:cubicBezTo>
                  <a:pt x="66349" y="13891"/>
                  <a:pt x="69453" y="16994"/>
                  <a:pt x="69453" y="20836"/>
                </a:cubicBezTo>
                <a:lnTo>
                  <a:pt x="69453" y="27781"/>
                </a:lnTo>
                <a:cubicBezTo>
                  <a:pt x="69453" y="31623"/>
                  <a:pt x="66349" y="34727"/>
                  <a:pt x="62508" y="34727"/>
                </a:cubicBezTo>
                <a:lnTo>
                  <a:pt x="20836" y="34727"/>
                </a:lnTo>
                <a:cubicBezTo>
                  <a:pt x="16994" y="34727"/>
                  <a:pt x="13891" y="31623"/>
                  <a:pt x="13891" y="27781"/>
                </a:cubicBezTo>
                <a:lnTo>
                  <a:pt x="13891" y="20836"/>
                </a:lnTo>
                <a:cubicBezTo>
                  <a:pt x="13891" y="16994"/>
                  <a:pt x="16994" y="13891"/>
                  <a:pt x="20836" y="13891"/>
                </a:cubicBezTo>
                <a:close/>
                <a:moveTo>
                  <a:pt x="24309" y="50354"/>
                </a:moveTo>
                <a:cubicBezTo>
                  <a:pt x="24309" y="53228"/>
                  <a:pt x="21975" y="55563"/>
                  <a:pt x="19100" y="55563"/>
                </a:cubicBezTo>
                <a:cubicBezTo>
                  <a:pt x="16225" y="55563"/>
                  <a:pt x="13891" y="53228"/>
                  <a:pt x="13891" y="50354"/>
                </a:cubicBezTo>
                <a:cubicBezTo>
                  <a:pt x="13891" y="47479"/>
                  <a:pt x="16225" y="45145"/>
                  <a:pt x="19100" y="45145"/>
                </a:cubicBezTo>
                <a:cubicBezTo>
                  <a:pt x="21975" y="45145"/>
                  <a:pt x="24309" y="47479"/>
                  <a:pt x="24309" y="50354"/>
                </a:cubicBezTo>
                <a:close/>
                <a:moveTo>
                  <a:pt x="41672" y="55563"/>
                </a:moveTo>
                <a:cubicBezTo>
                  <a:pt x="38797" y="55563"/>
                  <a:pt x="36463" y="53228"/>
                  <a:pt x="36463" y="50354"/>
                </a:cubicBezTo>
                <a:cubicBezTo>
                  <a:pt x="36463" y="47479"/>
                  <a:pt x="38797" y="45145"/>
                  <a:pt x="41672" y="45145"/>
                </a:cubicBezTo>
                <a:cubicBezTo>
                  <a:pt x="44547" y="45145"/>
                  <a:pt x="46881" y="47479"/>
                  <a:pt x="46881" y="50354"/>
                </a:cubicBezTo>
                <a:cubicBezTo>
                  <a:pt x="46881" y="53228"/>
                  <a:pt x="44547" y="55563"/>
                  <a:pt x="41672" y="55563"/>
                </a:cubicBezTo>
                <a:close/>
                <a:moveTo>
                  <a:pt x="69453" y="50354"/>
                </a:moveTo>
                <a:cubicBezTo>
                  <a:pt x="69453" y="53228"/>
                  <a:pt x="67119" y="55563"/>
                  <a:pt x="64244" y="55563"/>
                </a:cubicBezTo>
                <a:cubicBezTo>
                  <a:pt x="61369" y="55563"/>
                  <a:pt x="59035" y="53228"/>
                  <a:pt x="59035" y="50354"/>
                </a:cubicBezTo>
                <a:cubicBezTo>
                  <a:pt x="59035" y="47479"/>
                  <a:pt x="61369" y="45145"/>
                  <a:pt x="64244" y="45145"/>
                </a:cubicBezTo>
                <a:cubicBezTo>
                  <a:pt x="67119" y="45145"/>
                  <a:pt x="69453" y="47479"/>
                  <a:pt x="69453" y="50354"/>
                </a:cubicBezTo>
                <a:close/>
                <a:moveTo>
                  <a:pt x="19100" y="76398"/>
                </a:moveTo>
                <a:cubicBezTo>
                  <a:pt x="16225" y="76398"/>
                  <a:pt x="13891" y="74064"/>
                  <a:pt x="13891" y="71189"/>
                </a:cubicBezTo>
                <a:cubicBezTo>
                  <a:pt x="13891" y="68315"/>
                  <a:pt x="16225" y="65980"/>
                  <a:pt x="19100" y="65980"/>
                </a:cubicBezTo>
                <a:cubicBezTo>
                  <a:pt x="21975" y="65980"/>
                  <a:pt x="24309" y="68315"/>
                  <a:pt x="24309" y="71189"/>
                </a:cubicBezTo>
                <a:cubicBezTo>
                  <a:pt x="24309" y="74064"/>
                  <a:pt x="21975" y="76398"/>
                  <a:pt x="19100" y="76398"/>
                </a:cubicBezTo>
                <a:close/>
                <a:moveTo>
                  <a:pt x="46881" y="71189"/>
                </a:moveTo>
                <a:cubicBezTo>
                  <a:pt x="46881" y="74064"/>
                  <a:pt x="44547" y="76398"/>
                  <a:pt x="41672" y="76398"/>
                </a:cubicBezTo>
                <a:cubicBezTo>
                  <a:pt x="38797" y="76398"/>
                  <a:pt x="36463" y="74064"/>
                  <a:pt x="36463" y="71189"/>
                </a:cubicBezTo>
                <a:cubicBezTo>
                  <a:pt x="36463" y="68315"/>
                  <a:pt x="38797" y="65980"/>
                  <a:pt x="41672" y="65980"/>
                </a:cubicBezTo>
                <a:cubicBezTo>
                  <a:pt x="44547" y="65980"/>
                  <a:pt x="46881" y="68315"/>
                  <a:pt x="46881" y="71189"/>
                </a:cubicBezTo>
                <a:close/>
                <a:moveTo>
                  <a:pt x="64244" y="76398"/>
                </a:moveTo>
                <a:cubicBezTo>
                  <a:pt x="61369" y="76398"/>
                  <a:pt x="59035" y="74064"/>
                  <a:pt x="59035" y="71189"/>
                </a:cubicBezTo>
                <a:cubicBezTo>
                  <a:pt x="59035" y="68315"/>
                  <a:pt x="61369" y="65980"/>
                  <a:pt x="64244" y="65980"/>
                </a:cubicBezTo>
                <a:cubicBezTo>
                  <a:pt x="67119" y="65980"/>
                  <a:pt x="69453" y="68315"/>
                  <a:pt x="69453" y="71189"/>
                </a:cubicBezTo>
                <a:cubicBezTo>
                  <a:pt x="69453" y="74064"/>
                  <a:pt x="67119" y="76398"/>
                  <a:pt x="64244" y="76398"/>
                </a:cubicBezTo>
                <a:close/>
                <a:moveTo>
                  <a:pt x="13891" y="92025"/>
                </a:moveTo>
                <a:cubicBezTo>
                  <a:pt x="13891" y="89139"/>
                  <a:pt x="16213" y="86816"/>
                  <a:pt x="19100" y="86816"/>
                </a:cubicBezTo>
                <a:lnTo>
                  <a:pt x="43408" y="86816"/>
                </a:lnTo>
                <a:cubicBezTo>
                  <a:pt x="46295" y="86816"/>
                  <a:pt x="48617" y="89139"/>
                  <a:pt x="48617" y="92025"/>
                </a:cubicBezTo>
                <a:cubicBezTo>
                  <a:pt x="48617" y="94912"/>
                  <a:pt x="46295" y="97234"/>
                  <a:pt x="43408" y="97234"/>
                </a:cubicBezTo>
                <a:lnTo>
                  <a:pt x="19100" y="97234"/>
                </a:lnTo>
                <a:cubicBezTo>
                  <a:pt x="16213" y="97234"/>
                  <a:pt x="13891" y="94912"/>
                  <a:pt x="13891" y="92025"/>
                </a:cubicBezTo>
                <a:close/>
                <a:moveTo>
                  <a:pt x="64244" y="86816"/>
                </a:moveTo>
                <a:cubicBezTo>
                  <a:pt x="67131" y="86816"/>
                  <a:pt x="69453" y="89139"/>
                  <a:pt x="69453" y="92025"/>
                </a:cubicBezTo>
                <a:cubicBezTo>
                  <a:pt x="69453" y="94912"/>
                  <a:pt x="67131" y="97234"/>
                  <a:pt x="64244" y="97234"/>
                </a:cubicBezTo>
                <a:cubicBezTo>
                  <a:pt x="61357" y="97234"/>
                  <a:pt x="59035" y="94912"/>
                  <a:pt x="59035" y="92025"/>
                </a:cubicBezTo>
                <a:cubicBezTo>
                  <a:pt x="59035" y="89139"/>
                  <a:pt x="61357" y="86816"/>
                  <a:pt x="64244" y="86816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77542" y="3582460"/>
            <a:ext cx="511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FMA Benefits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94979" y="3804710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instruction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two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4979" y="3995210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throughput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SM units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94979" y="4185706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register pressure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94979" y="4376206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precision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(single rounding)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0807" y="4900745"/>
            <a:ext cx="11547740" cy="1871927"/>
          </a:xfrm>
          <a:custGeom>
            <a:avLst/>
            <a:gdLst/>
            <a:ahLst/>
            <a:cxnLst/>
            <a:rect l="l" t="t" r="r" b="b"/>
            <a:pathLst>
              <a:path w="11547740" h="1871927">
                <a:moveTo>
                  <a:pt x="95244" y="0"/>
                </a:moveTo>
                <a:lnTo>
                  <a:pt x="11452496" y="0"/>
                </a:lnTo>
                <a:cubicBezTo>
                  <a:pt x="11505098" y="0"/>
                  <a:pt x="11547740" y="42642"/>
                  <a:pt x="11547740" y="95244"/>
                </a:cubicBezTo>
                <a:lnTo>
                  <a:pt x="11547740" y="1776683"/>
                </a:lnTo>
                <a:cubicBezTo>
                  <a:pt x="11547740" y="1829285"/>
                  <a:pt x="11505098" y="1871927"/>
                  <a:pt x="11452496" y="1871927"/>
                </a:cubicBezTo>
                <a:lnTo>
                  <a:pt x="95244" y="1871927"/>
                </a:lnTo>
                <a:cubicBezTo>
                  <a:pt x="42642" y="1871927"/>
                  <a:pt x="0" y="1829285"/>
                  <a:pt x="0" y="1776683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036" y="506279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9552" y="5031049"/>
            <a:ext cx="1116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Instruction-Level Optimization Example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4422" y="5351857"/>
            <a:ext cx="5578740" cy="1284552"/>
          </a:xfrm>
          <a:custGeom>
            <a:avLst/>
            <a:gdLst/>
            <a:ahLst/>
            <a:cxnLst/>
            <a:rect l="l" t="t" r="r" b="b"/>
            <a:pathLst>
              <a:path w="5578740" h="1284552">
                <a:moveTo>
                  <a:pt x="63495" y="0"/>
                </a:moveTo>
                <a:lnTo>
                  <a:pt x="5515244" y="0"/>
                </a:lnTo>
                <a:cubicBezTo>
                  <a:pt x="5550312" y="0"/>
                  <a:pt x="5578740" y="28428"/>
                  <a:pt x="5578740" y="63495"/>
                </a:cubicBezTo>
                <a:lnTo>
                  <a:pt x="5578740" y="1221057"/>
                </a:lnTo>
                <a:cubicBezTo>
                  <a:pt x="5578740" y="1256124"/>
                  <a:pt x="5550312" y="1284552"/>
                  <a:pt x="5515244" y="1284552"/>
                </a:cubicBezTo>
                <a:lnTo>
                  <a:pt x="63495" y="1284552"/>
                </a:lnTo>
                <a:cubicBezTo>
                  <a:pt x="28428" y="1284552"/>
                  <a:pt x="0" y="1256124"/>
                  <a:pt x="0" y="1221057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729" y="5355169"/>
            <a:ext cx="5572125" cy="289057"/>
          </a:xfrm>
          <a:custGeom>
            <a:avLst/>
            <a:gdLst/>
            <a:ahLst/>
            <a:cxnLst/>
            <a:rect l="l" t="t" r="r" b="b"/>
            <a:pathLst>
              <a:path w="5572125" h="289057">
                <a:moveTo>
                  <a:pt x="0" y="0"/>
                </a:moveTo>
                <a:lnTo>
                  <a:pt x="5572125" y="0"/>
                </a:lnTo>
                <a:lnTo>
                  <a:pt x="5572125" y="289057"/>
                </a:lnTo>
                <a:lnTo>
                  <a:pt x="0" y="289057"/>
                </a:lnTo>
                <a:lnTo>
                  <a:pt x="0" y="0"/>
                </a:lnTo>
                <a:close/>
              </a:path>
            </a:pathLst>
          </a:custGeom>
          <a:solidFill>
            <a:srgbClr val="FF7B72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729" y="5644227"/>
            <a:ext cx="5572125" cy="6615"/>
          </a:xfrm>
          <a:custGeom>
            <a:avLst/>
            <a:gdLst/>
            <a:ahLst/>
            <a:cxnLst/>
            <a:rect l="l" t="t" r="r" b="b"/>
            <a:pathLst>
              <a:path w="5572125" h="6615">
                <a:moveTo>
                  <a:pt x="0" y="0"/>
                </a:moveTo>
                <a:lnTo>
                  <a:pt x="5572125" y="0"/>
                </a:lnTo>
                <a:lnTo>
                  <a:pt x="5572125" y="6615"/>
                </a:lnTo>
                <a:lnTo>
                  <a:pt x="0" y="661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48" name="Shape 46"/>
          <p:cNvSpPr/>
          <p:nvPr/>
        </p:nvSpPr>
        <p:spPr>
          <a:xfrm>
            <a:off x="568854" y="54457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36246" y="36246"/>
                </a:moveTo>
                <a:cubicBezTo>
                  <a:pt x="38286" y="34206"/>
                  <a:pt x="41585" y="34206"/>
                  <a:pt x="43604" y="36246"/>
                </a:cubicBezTo>
                <a:lnTo>
                  <a:pt x="55541" y="48183"/>
                </a:lnTo>
                <a:lnTo>
                  <a:pt x="67478" y="36246"/>
                </a:lnTo>
                <a:cubicBezTo>
                  <a:pt x="69518" y="34206"/>
                  <a:pt x="72817" y="34206"/>
                  <a:pt x="74836" y="36246"/>
                </a:cubicBezTo>
                <a:cubicBezTo>
                  <a:pt x="76854" y="38286"/>
                  <a:pt x="76876" y="41585"/>
                  <a:pt x="74836" y="43604"/>
                </a:cubicBezTo>
                <a:lnTo>
                  <a:pt x="62898" y="55541"/>
                </a:lnTo>
                <a:lnTo>
                  <a:pt x="74836" y="67478"/>
                </a:lnTo>
                <a:cubicBezTo>
                  <a:pt x="76876" y="69518"/>
                  <a:pt x="76876" y="72817"/>
                  <a:pt x="74836" y="74836"/>
                </a:cubicBezTo>
                <a:cubicBezTo>
                  <a:pt x="72796" y="76854"/>
                  <a:pt x="69497" y="76876"/>
                  <a:pt x="67478" y="74836"/>
                </a:cubicBezTo>
                <a:lnTo>
                  <a:pt x="55541" y="62898"/>
                </a:lnTo>
                <a:lnTo>
                  <a:pt x="43604" y="74836"/>
                </a:lnTo>
                <a:cubicBezTo>
                  <a:pt x="41563" y="76876"/>
                  <a:pt x="38264" y="76876"/>
                  <a:pt x="36246" y="74836"/>
                </a:cubicBezTo>
                <a:cubicBezTo>
                  <a:pt x="34227" y="72796"/>
                  <a:pt x="34206" y="69497"/>
                  <a:pt x="36246" y="67478"/>
                </a:cubicBezTo>
                <a:lnTo>
                  <a:pt x="48183" y="55541"/>
                </a:lnTo>
                <a:lnTo>
                  <a:pt x="36246" y="43604"/>
                </a:lnTo>
                <a:cubicBezTo>
                  <a:pt x="34206" y="41563"/>
                  <a:pt x="34206" y="38264"/>
                  <a:pt x="36246" y="36246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9" name="Text 47"/>
          <p:cNvSpPr/>
          <p:nvPr/>
        </p:nvSpPr>
        <p:spPr>
          <a:xfrm>
            <a:off x="735542" y="5418669"/>
            <a:ext cx="5254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Non-Fused (Current)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2979" y="5752703"/>
            <a:ext cx="1970617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Two separate instructions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52979" y="5901531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temp = x * y;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MUL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52979" y="6060281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result = temp + z;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ADD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52979" y="6228953"/>
            <a:ext cx="1423458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Latency: 2 cycles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2979" y="6387703"/>
            <a:ext cx="1970617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Throughput: 0.5 ops/cycle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2807" y="5351857"/>
            <a:ext cx="5578740" cy="1284552"/>
          </a:xfrm>
          <a:custGeom>
            <a:avLst/>
            <a:gdLst/>
            <a:ahLst/>
            <a:cxnLst/>
            <a:rect l="l" t="t" r="r" b="b"/>
            <a:pathLst>
              <a:path w="5578740" h="1284552">
                <a:moveTo>
                  <a:pt x="63495" y="0"/>
                </a:moveTo>
                <a:lnTo>
                  <a:pt x="5515244" y="0"/>
                </a:lnTo>
                <a:cubicBezTo>
                  <a:pt x="5550312" y="0"/>
                  <a:pt x="5578740" y="28428"/>
                  <a:pt x="5578740" y="63495"/>
                </a:cubicBezTo>
                <a:lnTo>
                  <a:pt x="5578740" y="1221057"/>
                </a:lnTo>
                <a:cubicBezTo>
                  <a:pt x="5578740" y="1256124"/>
                  <a:pt x="5550312" y="1284552"/>
                  <a:pt x="5515244" y="1284552"/>
                </a:cubicBezTo>
                <a:lnTo>
                  <a:pt x="63495" y="1284552"/>
                </a:lnTo>
                <a:cubicBezTo>
                  <a:pt x="28428" y="1284552"/>
                  <a:pt x="0" y="1256124"/>
                  <a:pt x="0" y="1221057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61B22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6114" y="5355169"/>
            <a:ext cx="5572125" cy="289057"/>
          </a:xfrm>
          <a:custGeom>
            <a:avLst/>
            <a:gdLst/>
            <a:ahLst/>
            <a:cxnLst/>
            <a:rect l="l" t="t" r="r" b="b"/>
            <a:pathLst>
              <a:path w="5572125" h="289057">
                <a:moveTo>
                  <a:pt x="0" y="0"/>
                </a:moveTo>
                <a:lnTo>
                  <a:pt x="5572125" y="0"/>
                </a:lnTo>
                <a:lnTo>
                  <a:pt x="5572125" y="289057"/>
                </a:lnTo>
                <a:lnTo>
                  <a:pt x="0" y="289057"/>
                </a:lnTo>
                <a:lnTo>
                  <a:pt x="0" y="0"/>
                </a:ln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66114" y="5644227"/>
            <a:ext cx="5572125" cy="6615"/>
          </a:xfrm>
          <a:custGeom>
            <a:avLst/>
            <a:gdLst/>
            <a:ahLst/>
            <a:cxnLst/>
            <a:rect l="l" t="t" r="r" b="b"/>
            <a:pathLst>
              <a:path w="5572125" h="6615">
                <a:moveTo>
                  <a:pt x="0" y="0"/>
                </a:moveTo>
                <a:lnTo>
                  <a:pt x="5572125" y="0"/>
                </a:lnTo>
                <a:lnTo>
                  <a:pt x="5572125" y="6615"/>
                </a:lnTo>
                <a:lnTo>
                  <a:pt x="0" y="661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58" name="Shape 56"/>
          <p:cNvSpPr/>
          <p:nvPr/>
        </p:nvSpPr>
        <p:spPr>
          <a:xfrm>
            <a:off x="6277239" y="54457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9" name="Text 57"/>
          <p:cNvSpPr/>
          <p:nvPr/>
        </p:nvSpPr>
        <p:spPr>
          <a:xfrm>
            <a:off x="6443927" y="5418669"/>
            <a:ext cx="5254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Fused (Target)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61364" y="5752703"/>
            <a:ext cx="1765432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Single FMA instruction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261364" y="5901531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result = fma(x, y, z);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FMA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61364" y="6070203"/>
            <a:ext cx="1355064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Latency: 1 cycle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61364" y="6228953"/>
            <a:ext cx="1765432" cy="1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Throughput: 1 op/cycle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416" y="377202"/>
            <a:ext cx="487621" cy="487621"/>
          </a:xfrm>
          <a:custGeom>
            <a:avLst/>
            <a:gdLst/>
            <a:ahLst/>
            <a:cxnLst/>
            <a:rect l="l" t="t" r="r" b="b"/>
            <a:pathLst>
              <a:path w="487621" h="487621">
                <a:moveTo>
                  <a:pt x="106711" y="0"/>
                </a:moveTo>
                <a:lnTo>
                  <a:pt x="380910" y="0"/>
                </a:lnTo>
                <a:cubicBezTo>
                  <a:pt x="439845" y="0"/>
                  <a:pt x="487621" y="47776"/>
                  <a:pt x="487621" y="106711"/>
                </a:cubicBezTo>
                <a:lnTo>
                  <a:pt x="487621" y="380910"/>
                </a:lnTo>
                <a:cubicBezTo>
                  <a:pt x="487621" y="439845"/>
                  <a:pt x="439845" y="487621"/>
                  <a:pt x="380910" y="487621"/>
                </a:cubicBezTo>
                <a:lnTo>
                  <a:pt x="106711" y="487621"/>
                </a:lnTo>
                <a:cubicBezTo>
                  <a:pt x="47776" y="487621"/>
                  <a:pt x="0" y="439845"/>
                  <a:pt x="0" y="380910"/>
                </a:cubicBezTo>
                <a:lnTo>
                  <a:pt x="0" y="106711"/>
                </a:lnTo>
                <a:cubicBezTo>
                  <a:pt x="0" y="47776"/>
                  <a:pt x="47776" y="0"/>
                  <a:pt x="106711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7996" y="515781"/>
            <a:ext cx="213427" cy="213427"/>
          </a:xfrm>
          <a:custGeom>
            <a:avLst/>
            <a:gdLst/>
            <a:ahLst/>
            <a:cxnLst/>
            <a:rect l="l" t="t" r="r" b="b"/>
            <a:pathLst>
              <a:path w="213427" h="213427">
                <a:moveTo>
                  <a:pt x="72490" y="165656"/>
                </a:moveTo>
                <a:cubicBezTo>
                  <a:pt x="72490" y="166489"/>
                  <a:pt x="71531" y="167156"/>
                  <a:pt x="70322" y="167156"/>
                </a:cubicBezTo>
                <a:cubicBezTo>
                  <a:pt x="68947" y="167282"/>
                  <a:pt x="67988" y="166615"/>
                  <a:pt x="67988" y="165656"/>
                </a:cubicBezTo>
                <a:cubicBezTo>
                  <a:pt x="67988" y="164822"/>
                  <a:pt x="68947" y="164155"/>
                  <a:pt x="70156" y="164155"/>
                </a:cubicBezTo>
                <a:cubicBezTo>
                  <a:pt x="71406" y="164030"/>
                  <a:pt x="72490" y="164697"/>
                  <a:pt x="72490" y="165656"/>
                </a:cubicBezTo>
                <a:close/>
                <a:moveTo>
                  <a:pt x="59526" y="163780"/>
                </a:moveTo>
                <a:cubicBezTo>
                  <a:pt x="59234" y="164614"/>
                  <a:pt x="60068" y="165572"/>
                  <a:pt x="61318" y="165823"/>
                </a:cubicBezTo>
                <a:cubicBezTo>
                  <a:pt x="62402" y="166239"/>
                  <a:pt x="63653" y="165823"/>
                  <a:pt x="63903" y="164989"/>
                </a:cubicBezTo>
                <a:cubicBezTo>
                  <a:pt x="64153" y="164155"/>
                  <a:pt x="63361" y="163196"/>
                  <a:pt x="62111" y="162821"/>
                </a:cubicBezTo>
                <a:cubicBezTo>
                  <a:pt x="61027" y="162529"/>
                  <a:pt x="59818" y="162946"/>
                  <a:pt x="59526" y="163780"/>
                </a:cubicBezTo>
                <a:close/>
                <a:moveTo>
                  <a:pt x="77951" y="163071"/>
                </a:moveTo>
                <a:cubicBezTo>
                  <a:pt x="76742" y="163363"/>
                  <a:pt x="75908" y="164155"/>
                  <a:pt x="76033" y="165114"/>
                </a:cubicBezTo>
                <a:cubicBezTo>
                  <a:pt x="76158" y="165948"/>
                  <a:pt x="77242" y="166489"/>
                  <a:pt x="78493" y="166198"/>
                </a:cubicBezTo>
                <a:cubicBezTo>
                  <a:pt x="79702" y="165906"/>
                  <a:pt x="80535" y="165114"/>
                  <a:pt x="80410" y="164280"/>
                </a:cubicBezTo>
                <a:cubicBezTo>
                  <a:pt x="80285" y="163488"/>
                  <a:pt x="79160" y="162946"/>
                  <a:pt x="77951" y="163071"/>
                </a:cubicBezTo>
                <a:close/>
                <a:moveTo>
                  <a:pt x="105379" y="3335"/>
                </a:moveTo>
                <a:cubicBezTo>
                  <a:pt x="47562" y="3335"/>
                  <a:pt x="3335" y="47229"/>
                  <a:pt x="3335" y="105046"/>
                </a:cubicBezTo>
                <a:cubicBezTo>
                  <a:pt x="3335" y="151275"/>
                  <a:pt x="32431" y="190833"/>
                  <a:pt x="73991" y="204756"/>
                </a:cubicBezTo>
                <a:cubicBezTo>
                  <a:pt x="79326" y="205715"/>
                  <a:pt x="81202" y="202422"/>
                  <a:pt x="81202" y="199712"/>
                </a:cubicBezTo>
                <a:cubicBezTo>
                  <a:pt x="81202" y="197128"/>
                  <a:pt x="81077" y="182872"/>
                  <a:pt x="81077" y="174118"/>
                </a:cubicBezTo>
                <a:cubicBezTo>
                  <a:pt x="81077" y="174118"/>
                  <a:pt x="51898" y="180371"/>
                  <a:pt x="45770" y="161696"/>
                </a:cubicBezTo>
                <a:cubicBezTo>
                  <a:pt x="45770" y="161696"/>
                  <a:pt x="41018" y="149565"/>
                  <a:pt x="34182" y="146439"/>
                </a:cubicBezTo>
                <a:cubicBezTo>
                  <a:pt x="34182" y="146439"/>
                  <a:pt x="24636" y="139895"/>
                  <a:pt x="34849" y="140020"/>
                </a:cubicBezTo>
                <a:cubicBezTo>
                  <a:pt x="34849" y="140020"/>
                  <a:pt x="45228" y="140853"/>
                  <a:pt x="50939" y="150774"/>
                </a:cubicBezTo>
                <a:cubicBezTo>
                  <a:pt x="60068" y="166865"/>
                  <a:pt x="75366" y="162238"/>
                  <a:pt x="81327" y="159486"/>
                </a:cubicBezTo>
                <a:cubicBezTo>
                  <a:pt x="82286" y="152817"/>
                  <a:pt x="84996" y="148190"/>
                  <a:pt x="87997" y="145439"/>
                </a:cubicBezTo>
                <a:cubicBezTo>
                  <a:pt x="64695" y="142854"/>
                  <a:pt x="41185" y="139478"/>
                  <a:pt x="41185" y="99377"/>
                </a:cubicBezTo>
                <a:cubicBezTo>
                  <a:pt x="41185" y="87913"/>
                  <a:pt x="44353" y="82161"/>
                  <a:pt x="51022" y="74824"/>
                </a:cubicBezTo>
                <a:cubicBezTo>
                  <a:pt x="49939" y="72115"/>
                  <a:pt x="46395" y="60943"/>
                  <a:pt x="52106" y="46520"/>
                </a:cubicBezTo>
                <a:cubicBezTo>
                  <a:pt x="60818" y="43811"/>
                  <a:pt x="80869" y="57775"/>
                  <a:pt x="80869" y="57775"/>
                </a:cubicBezTo>
                <a:cubicBezTo>
                  <a:pt x="89206" y="55441"/>
                  <a:pt x="98168" y="54232"/>
                  <a:pt x="107047" y="54232"/>
                </a:cubicBezTo>
                <a:cubicBezTo>
                  <a:pt x="115926" y="54232"/>
                  <a:pt x="124888" y="55441"/>
                  <a:pt x="133225" y="57775"/>
                </a:cubicBezTo>
                <a:cubicBezTo>
                  <a:pt x="133225" y="57775"/>
                  <a:pt x="153275" y="43769"/>
                  <a:pt x="161988" y="46520"/>
                </a:cubicBezTo>
                <a:cubicBezTo>
                  <a:pt x="167698" y="60985"/>
                  <a:pt x="164155" y="72115"/>
                  <a:pt x="163071" y="74824"/>
                </a:cubicBezTo>
                <a:cubicBezTo>
                  <a:pt x="169741" y="82203"/>
                  <a:pt x="173826" y="87955"/>
                  <a:pt x="173826" y="99377"/>
                </a:cubicBezTo>
                <a:cubicBezTo>
                  <a:pt x="173826" y="139603"/>
                  <a:pt x="149274" y="142812"/>
                  <a:pt x="125972" y="145439"/>
                </a:cubicBezTo>
                <a:cubicBezTo>
                  <a:pt x="129807" y="148732"/>
                  <a:pt x="133058" y="154984"/>
                  <a:pt x="133058" y="164780"/>
                </a:cubicBezTo>
                <a:cubicBezTo>
                  <a:pt x="133058" y="178828"/>
                  <a:pt x="132933" y="196211"/>
                  <a:pt x="132933" y="199629"/>
                </a:cubicBezTo>
                <a:cubicBezTo>
                  <a:pt x="132933" y="202339"/>
                  <a:pt x="134851" y="205632"/>
                  <a:pt x="140145" y="204673"/>
                </a:cubicBezTo>
                <a:cubicBezTo>
                  <a:pt x="181830" y="190833"/>
                  <a:pt x="210092" y="151275"/>
                  <a:pt x="210092" y="105046"/>
                </a:cubicBezTo>
                <a:cubicBezTo>
                  <a:pt x="210092" y="47229"/>
                  <a:pt x="163196" y="3335"/>
                  <a:pt x="105379" y="3335"/>
                </a:cubicBezTo>
                <a:close/>
                <a:moveTo>
                  <a:pt x="43853" y="147106"/>
                </a:moveTo>
                <a:cubicBezTo>
                  <a:pt x="43311" y="147523"/>
                  <a:pt x="43436" y="148482"/>
                  <a:pt x="44144" y="149274"/>
                </a:cubicBezTo>
                <a:cubicBezTo>
                  <a:pt x="44811" y="149941"/>
                  <a:pt x="45770" y="150232"/>
                  <a:pt x="46312" y="149690"/>
                </a:cubicBezTo>
                <a:cubicBezTo>
                  <a:pt x="46854" y="149274"/>
                  <a:pt x="46729" y="148315"/>
                  <a:pt x="46020" y="147523"/>
                </a:cubicBezTo>
                <a:cubicBezTo>
                  <a:pt x="45353" y="146856"/>
                  <a:pt x="44394" y="146564"/>
                  <a:pt x="43853" y="147106"/>
                </a:cubicBezTo>
                <a:close/>
                <a:moveTo>
                  <a:pt x="39351" y="143730"/>
                </a:moveTo>
                <a:cubicBezTo>
                  <a:pt x="39059" y="144271"/>
                  <a:pt x="39476" y="144938"/>
                  <a:pt x="40309" y="145355"/>
                </a:cubicBezTo>
                <a:cubicBezTo>
                  <a:pt x="40976" y="145772"/>
                  <a:pt x="41810" y="145647"/>
                  <a:pt x="42102" y="145063"/>
                </a:cubicBezTo>
                <a:cubicBezTo>
                  <a:pt x="42394" y="144522"/>
                  <a:pt x="41977" y="143855"/>
                  <a:pt x="41143" y="143438"/>
                </a:cubicBezTo>
                <a:cubicBezTo>
                  <a:pt x="40309" y="143188"/>
                  <a:pt x="39642" y="143313"/>
                  <a:pt x="39351" y="143730"/>
                </a:cubicBezTo>
                <a:close/>
                <a:moveTo>
                  <a:pt x="52856" y="158569"/>
                </a:moveTo>
                <a:cubicBezTo>
                  <a:pt x="52189" y="159111"/>
                  <a:pt x="52440" y="160362"/>
                  <a:pt x="53398" y="161154"/>
                </a:cubicBezTo>
                <a:cubicBezTo>
                  <a:pt x="54357" y="162113"/>
                  <a:pt x="55566" y="162238"/>
                  <a:pt x="56108" y="161571"/>
                </a:cubicBezTo>
                <a:cubicBezTo>
                  <a:pt x="56650" y="161029"/>
                  <a:pt x="56400" y="159778"/>
                  <a:pt x="55566" y="158986"/>
                </a:cubicBezTo>
                <a:cubicBezTo>
                  <a:pt x="54649" y="158027"/>
                  <a:pt x="53398" y="157902"/>
                  <a:pt x="52856" y="158569"/>
                </a:cubicBezTo>
                <a:close/>
                <a:moveTo>
                  <a:pt x="48104" y="152442"/>
                </a:moveTo>
                <a:cubicBezTo>
                  <a:pt x="47437" y="152859"/>
                  <a:pt x="47437" y="153942"/>
                  <a:pt x="48104" y="154901"/>
                </a:cubicBezTo>
                <a:cubicBezTo>
                  <a:pt x="48771" y="155860"/>
                  <a:pt x="49897" y="156277"/>
                  <a:pt x="50439" y="155860"/>
                </a:cubicBezTo>
                <a:cubicBezTo>
                  <a:pt x="51106" y="155318"/>
                  <a:pt x="51106" y="154234"/>
                  <a:pt x="50439" y="153275"/>
                </a:cubicBezTo>
                <a:cubicBezTo>
                  <a:pt x="49855" y="152317"/>
                  <a:pt x="48771" y="151900"/>
                  <a:pt x="48104" y="152442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995991" y="355711"/>
            <a:ext cx="555798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spc="49" kern="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Repository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5991" y="533567"/>
            <a:ext cx="5655807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1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 Progress &amp; Version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416" y="1035268"/>
            <a:ext cx="7592951" cy="4436015"/>
          </a:xfrm>
          <a:custGeom>
            <a:avLst/>
            <a:gdLst/>
            <a:ahLst/>
            <a:cxnLst/>
            <a:rect l="l" t="t" r="r" b="b"/>
            <a:pathLst>
              <a:path w="7592951" h="4436015">
                <a:moveTo>
                  <a:pt x="106731" y="0"/>
                </a:moveTo>
                <a:lnTo>
                  <a:pt x="7486221" y="0"/>
                </a:lnTo>
                <a:cubicBezTo>
                  <a:pt x="7545166" y="0"/>
                  <a:pt x="7592951" y="47785"/>
                  <a:pt x="7592951" y="106731"/>
                </a:cubicBezTo>
                <a:lnTo>
                  <a:pt x="7592951" y="4329284"/>
                </a:lnTo>
                <a:cubicBezTo>
                  <a:pt x="7592951" y="4388230"/>
                  <a:pt x="7545166" y="4436015"/>
                  <a:pt x="7486221" y="4436015"/>
                </a:cubicBezTo>
                <a:lnTo>
                  <a:pt x="106731" y="4436015"/>
                </a:lnTo>
                <a:cubicBezTo>
                  <a:pt x="47785" y="4436015"/>
                  <a:pt x="0" y="4388230"/>
                  <a:pt x="0" y="4329284"/>
                </a:cubicBezTo>
                <a:lnTo>
                  <a:pt x="0" y="106731"/>
                </a:lnTo>
                <a:cubicBezTo>
                  <a:pt x="0" y="47824"/>
                  <a:pt x="47824" y="0"/>
                  <a:pt x="106731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9112" y="1202745"/>
            <a:ext cx="416478" cy="416478"/>
          </a:xfrm>
          <a:custGeom>
            <a:avLst/>
            <a:gdLst/>
            <a:ahLst/>
            <a:cxnLst/>
            <a:rect l="l" t="t" r="r" b="b"/>
            <a:pathLst>
              <a:path w="416478" h="416478">
                <a:moveTo>
                  <a:pt x="106714" y="0"/>
                </a:moveTo>
                <a:lnTo>
                  <a:pt x="309764" y="0"/>
                </a:lnTo>
                <a:cubicBezTo>
                  <a:pt x="368701" y="0"/>
                  <a:pt x="416478" y="47778"/>
                  <a:pt x="416478" y="106714"/>
                </a:cubicBezTo>
                <a:lnTo>
                  <a:pt x="416478" y="309764"/>
                </a:lnTo>
                <a:cubicBezTo>
                  <a:pt x="416478" y="368701"/>
                  <a:pt x="368701" y="416478"/>
                  <a:pt x="309764" y="416478"/>
                </a:cubicBezTo>
                <a:lnTo>
                  <a:pt x="106714" y="416478"/>
                </a:lnTo>
                <a:cubicBezTo>
                  <a:pt x="47778" y="416478"/>
                  <a:pt x="0" y="368701"/>
                  <a:pt x="0" y="309764"/>
                </a:cubicBezTo>
                <a:lnTo>
                  <a:pt x="0" y="106714"/>
                </a:lnTo>
                <a:cubicBezTo>
                  <a:pt x="0" y="47778"/>
                  <a:pt x="47778" y="0"/>
                  <a:pt x="106714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905" y="1323539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60408" y="138046"/>
                </a:moveTo>
                <a:cubicBezTo>
                  <a:pt x="60408" y="138741"/>
                  <a:pt x="59609" y="139297"/>
                  <a:pt x="58602" y="139297"/>
                </a:cubicBezTo>
                <a:cubicBezTo>
                  <a:pt x="57456" y="139401"/>
                  <a:pt x="56657" y="138845"/>
                  <a:pt x="56657" y="138046"/>
                </a:cubicBezTo>
                <a:cubicBezTo>
                  <a:pt x="56657" y="137352"/>
                  <a:pt x="57456" y="136796"/>
                  <a:pt x="58463" y="136796"/>
                </a:cubicBezTo>
                <a:cubicBezTo>
                  <a:pt x="59505" y="136692"/>
                  <a:pt x="60408" y="137248"/>
                  <a:pt x="60408" y="138046"/>
                </a:cubicBezTo>
                <a:close/>
                <a:moveTo>
                  <a:pt x="49605" y="136483"/>
                </a:moveTo>
                <a:cubicBezTo>
                  <a:pt x="49362" y="137178"/>
                  <a:pt x="50057" y="137977"/>
                  <a:pt x="51099" y="138185"/>
                </a:cubicBezTo>
                <a:cubicBezTo>
                  <a:pt x="52002" y="138533"/>
                  <a:pt x="53044" y="138185"/>
                  <a:pt x="53252" y="137491"/>
                </a:cubicBezTo>
                <a:cubicBezTo>
                  <a:pt x="53461" y="136796"/>
                  <a:pt x="52801" y="135997"/>
                  <a:pt x="51759" y="135684"/>
                </a:cubicBezTo>
                <a:cubicBezTo>
                  <a:pt x="50856" y="135441"/>
                  <a:pt x="49848" y="135789"/>
                  <a:pt x="49605" y="136483"/>
                </a:cubicBezTo>
                <a:close/>
                <a:moveTo>
                  <a:pt x="64959" y="135893"/>
                </a:moveTo>
                <a:cubicBezTo>
                  <a:pt x="63952" y="136136"/>
                  <a:pt x="63257" y="136796"/>
                  <a:pt x="63361" y="137595"/>
                </a:cubicBezTo>
                <a:cubicBezTo>
                  <a:pt x="63465" y="138290"/>
                  <a:pt x="64368" y="138741"/>
                  <a:pt x="65411" y="138498"/>
                </a:cubicBezTo>
                <a:cubicBezTo>
                  <a:pt x="66418" y="138255"/>
                  <a:pt x="67113" y="137595"/>
                  <a:pt x="67008" y="136900"/>
                </a:cubicBezTo>
                <a:cubicBezTo>
                  <a:pt x="66904" y="136240"/>
                  <a:pt x="65966" y="135789"/>
                  <a:pt x="64959" y="135893"/>
                </a:cubicBezTo>
                <a:close/>
                <a:moveTo>
                  <a:pt x="87816" y="2779"/>
                </a:moveTo>
                <a:cubicBezTo>
                  <a:pt x="39635" y="2779"/>
                  <a:pt x="2779" y="39357"/>
                  <a:pt x="2779" y="87538"/>
                </a:cubicBezTo>
                <a:cubicBezTo>
                  <a:pt x="2779" y="126062"/>
                  <a:pt x="27026" y="159028"/>
                  <a:pt x="61659" y="170630"/>
                </a:cubicBezTo>
                <a:cubicBezTo>
                  <a:pt x="66105" y="171429"/>
                  <a:pt x="67668" y="168685"/>
                  <a:pt x="67668" y="166427"/>
                </a:cubicBezTo>
                <a:cubicBezTo>
                  <a:pt x="67668" y="164273"/>
                  <a:pt x="67564" y="152393"/>
                  <a:pt x="67564" y="145098"/>
                </a:cubicBezTo>
                <a:cubicBezTo>
                  <a:pt x="67564" y="145098"/>
                  <a:pt x="43248" y="150309"/>
                  <a:pt x="38142" y="134746"/>
                </a:cubicBezTo>
                <a:cubicBezTo>
                  <a:pt x="38142" y="134746"/>
                  <a:pt x="34182" y="124638"/>
                  <a:pt x="28485" y="122033"/>
                </a:cubicBezTo>
                <a:cubicBezTo>
                  <a:pt x="28485" y="122033"/>
                  <a:pt x="20530" y="116579"/>
                  <a:pt x="29040" y="116683"/>
                </a:cubicBezTo>
                <a:cubicBezTo>
                  <a:pt x="29040" y="116683"/>
                  <a:pt x="37690" y="117378"/>
                  <a:pt x="42449" y="125645"/>
                </a:cubicBezTo>
                <a:cubicBezTo>
                  <a:pt x="50057" y="139054"/>
                  <a:pt x="62805" y="135198"/>
                  <a:pt x="67773" y="132905"/>
                </a:cubicBezTo>
                <a:cubicBezTo>
                  <a:pt x="68572" y="127347"/>
                  <a:pt x="70830" y="123492"/>
                  <a:pt x="73331" y="121199"/>
                </a:cubicBezTo>
                <a:cubicBezTo>
                  <a:pt x="53912" y="119045"/>
                  <a:pt x="34321" y="116231"/>
                  <a:pt x="34321" y="82814"/>
                </a:cubicBezTo>
                <a:cubicBezTo>
                  <a:pt x="34321" y="73261"/>
                  <a:pt x="36961" y="68467"/>
                  <a:pt x="42519" y="62354"/>
                </a:cubicBezTo>
                <a:cubicBezTo>
                  <a:pt x="41615" y="60096"/>
                  <a:pt x="38663" y="50786"/>
                  <a:pt x="43422" y="38767"/>
                </a:cubicBezTo>
                <a:cubicBezTo>
                  <a:pt x="50682" y="36509"/>
                  <a:pt x="67391" y="48146"/>
                  <a:pt x="67391" y="48146"/>
                </a:cubicBezTo>
                <a:cubicBezTo>
                  <a:pt x="74338" y="46201"/>
                  <a:pt x="81807" y="45193"/>
                  <a:pt x="89206" y="45193"/>
                </a:cubicBezTo>
                <a:cubicBezTo>
                  <a:pt x="96605" y="45193"/>
                  <a:pt x="104073" y="46201"/>
                  <a:pt x="111021" y="48146"/>
                </a:cubicBezTo>
                <a:cubicBezTo>
                  <a:pt x="111021" y="48146"/>
                  <a:pt x="127729" y="36474"/>
                  <a:pt x="134990" y="38767"/>
                </a:cubicBezTo>
                <a:cubicBezTo>
                  <a:pt x="139749" y="50821"/>
                  <a:pt x="136796" y="60096"/>
                  <a:pt x="135893" y="62354"/>
                </a:cubicBezTo>
                <a:cubicBezTo>
                  <a:pt x="141451" y="68502"/>
                  <a:pt x="144855" y="73296"/>
                  <a:pt x="144855" y="82814"/>
                </a:cubicBezTo>
                <a:cubicBezTo>
                  <a:pt x="144855" y="116336"/>
                  <a:pt x="124395" y="119010"/>
                  <a:pt x="104976" y="121199"/>
                </a:cubicBezTo>
                <a:cubicBezTo>
                  <a:pt x="108172" y="123943"/>
                  <a:pt x="110882" y="129154"/>
                  <a:pt x="110882" y="137317"/>
                </a:cubicBezTo>
                <a:cubicBezTo>
                  <a:pt x="110882" y="149024"/>
                  <a:pt x="110778" y="163509"/>
                  <a:pt x="110778" y="166357"/>
                </a:cubicBezTo>
                <a:cubicBezTo>
                  <a:pt x="110778" y="168615"/>
                  <a:pt x="112376" y="171360"/>
                  <a:pt x="116787" y="170561"/>
                </a:cubicBezTo>
                <a:cubicBezTo>
                  <a:pt x="151525" y="159028"/>
                  <a:pt x="175077" y="126062"/>
                  <a:pt x="175077" y="87538"/>
                </a:cubicBezTo>
                <a:cubicBezTo>
                  <a:pt x="175077" y="39357"/>
                  <a:pt x="135997" y="2779"/>
                  <a:pt x="87816" y="2779"/>
                </a:cubicBezTo>
                <a:close/>
                <a:moveTo>
                  <a:pt x="36544" y="122588"/>
                </a:moveTo>
                <a:cubicBezTo>
                  <a:pt x="36092" y="122936"/>
                  <a:pt x="36196" y="123735"/>
                  <a:pt x="36787" y="124395"/>
                </a:cubicBezTo>
                <a:cubicBezTo>
                  <a:pt x="37343" y="124950"/>
                  <a:pt x="38142" y="125194"/>
                  <a:pt x="38593" y="124742"/>
                </a:cubicBezTo>
                <a:cubicBezTo>
                  <a:pt x="39045" y="124395"/>
                  <a:pt x="38941" y="123596"/>
                  <a:pt x="38350" y="122936"/>
                </a:cubicBezTo>
                <a:cubicBezTo>
                  <a:pt x="37794" y="122380"/>
                  <a:pt x="36995" y="122137"/>
                  <a:pt x="36544" y="122588"/>
                </a:cubicBezTo>
                <a:close/>
                <a:moveTo>
                  <a:pt x="32792" y="119775"/>
                </a:moveTo>
                <a:cubicBezTo>
                  <a:pt x="32549" y="120226"/>
                  <a:pt x="32896" y="120782"/>
                  <a:pt x="33591" y="121129"/>
                </a:cubicBezTo>
                <a:cubicBezTo>
                  <a:pt x="34147" y="121477"/>
                  <a:pt x="34842" y="121373"/>
                  <a:pt x="35085" y="120886"/>
                </a:cubicBezTo>
                <a:cubicBezTo>
                  <a:pt x="35328" y="120435"/>
                  <a:pt x="34981" y="119879"/>
                  <a:pt x="34286" y="119531"/>
                </a:cubicBezTo>
                <a:cubicBezTo>
                  <a:pt x="33591" y="119323"/>
                  <a:pt x="33035" y="119427"/>
                  <a:pt x="32792" y="119775"/>
                </a:cubicBezTo>
                <a:close/>
                <a:moveTo>
                  <a:pt x="44047" y="132141"/>
                </a:moveTo>
                <a:cubicBezTo>
                  <a:pt x="43491" y="132593"/>
                  <a:pt x="43700" y="133635"/>
                  <a:pt x="44499" y="134295"/>
                </a:cubicBezTo>
                <a:cubicBezTo>
                  <a:pt x="45298" y="135094"/>
                  <a:pt x="46305" y="135198"/>
                  <a:pt x="46757" y="134642"/>
                </a:cubicBezTo>
                <a:cubicBezTo>
                  <a:pt x="47208" y="134191"/>
                  <a:pt x="47000" y="133149"/>
                  <a:pt x="46305" y="132489"/>
                </a:cubicBezTo>
                <a:cubicBezTo>
                  <a:pt x="45541" y="131690"/>
                  <a:pt x="44499" y="131585"/>
                  <a:pt x="44047" y="132141"/>
                </a:cubicBezTo>
                <a:close/>
                <a:moveTo>
                  <a:pt x="40087" y="127035"/>
                </a:moveTo>
                <a:cubicBezTo>
                  <a:pt x="39531" y="127382"/>
                  <a:pt x="39531" y="128285"/>
                  <a:pt x="40087" y="129084"/>
                </a:cubicBezTo>
                <a:cubicBezTo>
                  <a:pt x="40643" y="129883"/>
                  <a:pt x="41581" y="130231"/>
                  <a:pt x="42032" y="129883"/>
                </a:cubicBezTo>
                <a:cubicBezTo>
                  <a:pt x="42588" y="129432"/>
                  <a:pt x="42588" y="128528"/>
                  <a:pt x="42032" y="127729"/>
                </a:cubicBezTo>
                <a:cubicBezTo>
                  <a:pt x="41546" y="126931"/>
                  <a:pt x="40643" y="126583"/>
                  <a:pt x="40087" y="12703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038973" y="1181255"/>
            <a:ext cx="263226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8973" y="1465824"/>
            <a:ext cx="2587799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moonboyknm/Pragna1B_Custom_Kernel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112" y="1754098"/>
            <a:ext cx="7299489" cy="1643682"/>
          </a:xfrm>
          <a:custGeom>
            <a:avLst/>
            <a:gdLst/>
            <a:ahLst/>
            <a:cxnLst/>
            <a:rect l="l" t="t" r="r" b="b"/>
            <a:pathLst>
              <a:path w="7299489" h="1643682">
                <a:moveTo>
                  <a:pt x="71139" y="0"/>
                </a:moveTo>
                <a:lnTo>
                  <a:pt x="7228351" y="0"/>
                </a:lnTo>
                <a:cubicBezTo>
                  <a:pt x="7267640" y="0"/>
                  <a:pt x="7299489" y="31850"/>
                  <a:pt x="7299489" y="71139"/>
                </a:cubicBezTo>
                <a:lnTo>
                  <a:pt x="7299489" y="1572543"/>
                </a:lnTo>
                <a:cubicBezTo>
                  <a:pt x="7299489" y="1611832"/>
                  <a:pt x="7267640" y="1643682"/>
                  <a:pt x="7228351" y="1643682"/>
                </a:cubicBezTo>
                <a:lnTo>
                  <a:pt x="71139" y="1643682"/>
                </a:lnTo>
                <a:cubicBezTo>
                  <a:pt x="31850" y="1643682"/>
                  <a:pt x="0" y="1611832"/>
                  <a:pt x="0" y="1572543"/>
                </a:cubicBezTo>
                <a:lnTo>
                  <a:pt x="0" y="71139"/>
                </a:lnTo>
                <a:cubicBezTo>
                  <a:pt x="0" y="31876"/>
                  <a:pt x="31876" y="0"/>
                  <a:pt x="71139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097" y="1894900"/>
            <a:ext cx="108937" cy="124499"/>
          </a:xfrm>
          <a:custGeom>
            <a:avLst/>
            <a:gdLst/>
            <a:ahLst/>
            <a:cxnLst/>
            <a:rect l="l" t="t" r="r" b="b"/>
            <a:pathLst>
              <a:path w="108937" h="124499">
                <a:moveTo>
                  <a:pt x="19453" y="25289"/>
                </a:moveTo>
                <a:cubicBezTo>
                  <a:pt x="22674" y="25289"/>
                  <a:pt x="25289" y="22674"/>
                  <a:pt x="25289" y="19453"/>
                </a:cubicBezTo>
                <a:cubicBezTo>
                  <a:pt x="25289" y="16232"/>
                  <a:pt x="22674" y="13617"/>
                  <a:pt x="19453" y="13617"/>
                </a:cubicBezTo>
                <a:cubicBezTo>
                  <a:pt x="16232" y="13617"/>
                  <a:pt x="13617" y="16232"/>
                  <a:pt x="13617" y="19453"/>
                </a:cubicBezTo>
                <a:cubicBezTo>
                  <a:pt x="13617" y="22674"/>
                  <a:pt x="16232" y="25289"/>
                  <a:pt x="19453" y="25289"/>
                </a:cubicBezTo>
                <a:close/>
                <a:moveTo>
                  <a:pt x="38906" y="19453"/>
                </a:moveTo>
                <a:cubicBezTo>
                  <a:pt x="38906" y="27429"/>
                  <a:pt x="34116" y="34286"/>
                  <a:pt x="27234" y="37277"/>
                </a:cubicBezTo>
                <a:lnTo>
                  <a:pt x="27234" y="54468"/>
                </a:lnTo>
                <a:lnTo>
                  <a:pt x="70031" y="54468"/>
                </a:lnTo>
                <a:cubicBezTo>
                  <a:pt x="76474" y="54468"/>
                  <a:pt x="81702" y="49240"/>
                  <a:pt x="81702" y="42796"/>
                </a:cubicBezTo>
                <a:lnTo>
                  <a:pt x="81702" y="37277"/>
                </a:lnTo>
                <a:cubicBezTo>
                  <a:pt x="74821" y="34286"/>
                  <a:pt x="70031" y="27429"/>
                  <a:pt x="70031" y="19453"/>
                </a:cubicBezTo>
                <a:cubicBezTo>
                  <a:pt x="70031" y="8705"/>
                  <a:pt x="78736" y="0"/>
                  <a:pt x="89484" y="0"/>
                </a:cubicBezTo>
                <a:cubicBezTo>
                  <a:pt x="100231" y="0"/>
                  <a:pt x="108937" y="8705"/>
                  <a:pt x="108937" y="19453"/>
                </a:cubicBezTo>
                <a:cubicBezTo>
                  <a:pt x="108937" y="27429"/>
                  <a:pt x="104146" y="34286"/>
                  <a:pt x="97265" y="37277"/>
                </a:cubicBezTo>
                <a:lnTo>
                  <a:pt x="97265" y="42796"/>
                </a:lnTo>
                <a:cubicBezTo>
                  <a:pt x="97265" y="57848"/>
                  <a:pt x="85082" y="70031"/>
                  <a:pt x="70031" y="70031"/>
                </a:cubicBezTo>
                <a:lnTo>
                  <a:pt x="27234" y="70031"/>
                </a:lnTo>
                <a:lnTo>
                  <a:pt x="27234" y="87222"/>
                </a:lnTo>
                <a:cubicBezTo>
                  <a:pt x="34116" y="90213"/>
                  <a:pt x="38906" y="97070"/>
                  <a:pt x="38906" y="105046"/>
                </a:cubicBezTo>
                <a:cubicBezTo>
                  <a:pt x="38906" y="115794"/>
                  <a:pt x="30201" y="124499"/>
                  <a:pt x="19453" y="124499"/>
                </a:cubicBezTo>
                <a:cubicBezTo>
                  <a:pt x="8705" y="124499"/>
                  <a:pt x="0" y="115794"/>
                  <a:pt x="0" y="105046"/>
                </a:cubicBezTo>
                <a:cubicBezTo>
                  <a:pt x="0" y="97070"/>
                  <a:pt x="4790" y="90213"/>
                  <a:pt x="11672" y="87222"/>
                </a:cubicBezTo>
                <a:lnTo>
                  <a:pt x="11672" y="37301"/>
                </a:lnTo>
                <a:cubicBezTo>
                  <a:pt x="4790" y="34286"/>
                  <a:pt x="0" y="27429"/>
                  <a:pt x="0" y="19453"/>
                </a:cubicBezTo>
                <a:cubicBezTo>
                  <a:pt x="0" y="8705"/>
                  <a:pt x="8705" y="0"/>
                  <a:pt x="19453" y="0"/>
                </a:cubicBezTo>
                <a:cubicBezTo>
                  <a:pt x="30201" y="0"/>
                  <a:pt x="38906" y="8705"/>
                  <a:pt x="38906" y="19453"/>
                </a:cubicBezTo>
                <a:close/>
                <a:moveTo>
                  <a:pt x="95319" y="19453"/>
                </a:moveTo>
                <a:cubicBezTo>
                  <a:pt x="95319" y="16232"/>
                  <a:pt x="92705" y="13617"/>
                  <a:pt x="89484" y="13617"/>
                </a:cubicBezTo>
                <a:cubicBezTo>
                  <a:pt x="86263" y="13617"/>
                  <a:pt x="83648" y="16232"/>
                  <a:pt x="83648" y="19453"/>
                </a:cubicBezTo>
                <a:cubicBezTo>
                  <a:pt x="83648" y="22674"/>
                  <a:pt x="86263" y="25289"/>
                  <a:pt x="89484" y="25289"/>
                </a:cubicBezTo>
                <a:cubicBezTo>
                  <a:pt x="92705" y="25289"/>
                  <a:pt x="95319" y="22674"/>
                  <a:pt x="95319" y="19453"/>
                </a:cubicBezTo>
                <a:close/>
                <a:moveTo>
                  <a:pt x="19453" y="110882"/>
                </a:moveTo>
                <a:cubicBezTo>
                  <a:pt x="22674" y="110882"/>
                  <a:pt x="25289" y="108267"/>
                  <a:pt x="25289" y="105046"/>
                </a:cubicBezTo>
                <a:cubicBezTo>
                  <a:pt x="25289" y="101825"/>
                  <a:pt x="22674" y="99210"/>
                  <a:pt x="19453" y="99210"/>
                </a:cubicBezTo>
                <a:cubicBezTo>
                  <a:pt x="16232" y="99210"/>
                  <a:pt x="13617" y="101825"/>
                  <a:pt x="13617" y="105046"/>
                </a:cubicBezTo>
                <a:cubicBezTo>
                  <a:pt x="13617" y="108267"/>
                  <a:pt x="16232" y="110882"/>
                  <a:pt x="19453" y="110882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13" name="Text 11"/>
          <p:cNvSpPr/>
          <p:nvPr/>
        </p:nvSpPr>
        <p:spPr>
          <a:xfrm>
            <a:off x="829415" y="1864522"/>
            <a:ext cx="693101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 History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530" y="2166877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797386" y="2131306"/>
            <a:ext cx="515781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a1b2c3d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63708" y="2113520"/>
            <a:ext cx="263226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project setup and environment config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30" y="2415875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7386" y="2380303"/>
            <a:ext cx="515781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e4f5g6h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63708" y="2362518"/>
            <a:ext cx="222319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baseline Triton RMSNorm kernel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530" y="2664872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797386" y="2629301"/>
            <a:ext cx="515781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i7j8k9l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63708" y="2611516"/>
            <a:ext cx="2365479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profiling automation scripts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30" y="2913870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97386" y="2878299"/>
            <a:ext cx="515781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m0n1o2p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63708" y="2860513"/>
            <a:ext cx="254333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HF authentication and ncu permissions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30" y="3162868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7386" y="3127297"/>
            <a:ext cx="515781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q3r4s5t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63708" y="3109511"/>
            <a:ext cx="257890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Nsight profiling results and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9112" y="3511907"/>
            <a:ext cx="2355104" cy="718833"/>
          </a:xfrm>
          <a:custGeom>
            <a:avLst/>
            <a:gdLst/>
            <a:ahLst/>
            <a:cxnLst/>
            <a:rect l="l" t="t" r="r" b="b"/>
            <a:pathLst>
              <a:path w="2355104" h="718833">
                <a:moveTo>
                  <a:pt x="71143" y="0"/>
                </a:moveTo>
                <a:lnTo>
                  <a:pt x="2283961" y="0"/>
                </a:lnTo>
                <a:cubicBezTo>
                  <a:pt x="2323226" y="0"/>
                  <a:pt x="2355104" y="31878"/>
                  <a:pt x="2355104" y="71143"/>
                </a:cubicBezTo>
                <a:lnTo>
                  <a:pt x="2355104" y="647690"/>
                </a:lnTo>
                <a:cubicBezTo>
                  <a:pt x="2355104" y="686981"/>
                  <a:pt x="2323253" y="718833"/>
                  <a:pt x="2283961" y="718833"/>
                </a:cubicBezTo>
                <a:lnTo>
                  <a:pt x="71143" y="718833"/>
                </a:lnTo>
                <a:cubicBezTo>
                  <a:pt x="31878" y="718833"/>
                  <a:pt x="0" y="686955"/>
                  <a:pt x="0" y="647690"/>
                </a:cubicBezTo>
                <a:lnTo>
                  <a:pt x="0" y="71143"/>
                </a:lnTo>
                <a:cubicBezTo>
                  <a:pt x="0" y="31878"/>
                  <a:pt x="31878" y="0"/>
                  <a:pt x="71143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834" y="3622322"/>
            <a:ext cx="2267659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8406" y="3942462"/>
            <a:ext cx="219651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979674" y="3511907"/>
            <a:ext cx="2355104" cy="718833"/>
          </a:xfrm>
          <a:custGeom>
            <a:avLst/>
            <a:gdLst/>
            <a:ahLst/>
            <a:cxnLst/>
            <a:rect l="l" t="t" r="r" b="b"/>
            <a:pathLst>
              <a:path w="2355104" h="718833">
                <a:moveTo>
                  <a:pt x="71143" y="0"/>
                </a:moveTo>
                <a:lnTo>
                  <a:pt x="2283961" y="0"/>
                </a:lnTo>
                <a:cubicBezTo>
                  <a:pt x="2323226" y="0"/>
                  <a:pt x="2355104" y="31878"/>
                  <a:pt x="2355104" y="71143"/>
                </a:cubicBezTo>
                <a:lnTo>
                  <a:pt x="2355104" y="647690"/>
                </a:lnTo>
                <a:cubicBezTo>
                  <a:pt x="2355104" y="686981"/>
                  <a:pt x="2323253" y="718833"/>
                  <a:pt x="2283961" y="718833"/>
                </a:cubicBezTo>
                <a:lnTo>
                  <a:pt x="71143" y="718833"/>
                </a:lnTo>
                <a:cubicBezTo>
                  <a:pt x="31878" y="718833"/>
                  <a:pt x="0" y="686955"/>
                  <a:pt x="0" y="647690"/>
                </a:cubicBezTo>
                <a:lnTo>
                  <a:pt x="0" y="71143"/>
                </a:lnTo>
                <a:cubicBezTo>
                  <a:pt x="0" y="31878"/>
                  <a:pt x="31878" y="0"/>
                  <a:pt x="71143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23397" y="3622322"/>
            <a:ext cx="2267659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058968" y="3942462"/>
            <a:ext cx="219651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50236" y="3511907"/>
            <a:ext cx="2355104" cy="718833"/>
          </a:xfrm>
          <a:custGeom>
            <a:avLst/>
            <a:gdLst/>
            <a:ahLst/>
            <a:cxnLst/>
            <a:rect l="l" t="t" r="r" b="b"/>
            <a:pathLst>
              <a:path w="2355104" h="718833">
                <a:moveTo>
                  <a:pt x="71143" y="0"/>
                </a:moveTo>
                <a:lnTo>
                  <a:pt x="2283961" y="0"/>
                </a:lnTo>
                <a:cubicBezTo>
                  <a:pt x="2323226" y="0"/>
                  <a:pt x="2355104" y="31878"/>
                  <a:pt x="2355104" y="71143"/>
                </a:cubicBezTo>
                <a:lnTo>
                  <a:pt x="2355104" y="647690"/>
                </a:lnTo>
                <a:cubicBezTo>
                  <a:pt x="2355104" y="686981"/>
                  <a:pt x="2323253" y="718833"/>
                  <a:pt x="2283961" y="718833"/>
                </a:cubicBezTo>
                <a:lnTo>
                  <a:pt x="71143" y="718833"/>
                </a:lnTo>
                <a:cubicBezTo>
                  <a:pt x="31878" y="718833"/>
                  <a:pt x="0" y="686955"/>
                  <a:pt x="0" y="647690"/>
                </a:cubicBezTo>
                <a:lnTo>
                  <a:pt x="0" y="71143"/>
                </a:lnTo>
                <a:cubicBezTo>
                  <a:pt x="0" y="31878"/>
                  <a:pt x="31878" y="0"/>
                  <a:pt x="71143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3959" y="3622322"/>
            <a:ext cx="2267659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1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29530" y="3942462"/>
            <a:ext cx="219651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Releases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5916" y="1035268"/>
            <a:ext cx="3724592" cy="2915349"/>
          </a:xfrm>
          <a:custGeom>
            <a:avLst/>
            <a:gdLst/>
            <a:ahLst/>
            <a:cxnLst/>
            <a:rect l="l" t="t" r="r" b="b"/>
            <a:pathLst>
              <a:path w="3724592" h="2915349">
                <a:moveTo>
                  <a:pt x="106702" y="0"/>
                </a:moveTo>
                <a:lnTo>
                  <a:pt x="3617890" y="0"/>
                </a:lnTo>
                <a:cubicBezTo>
                  <a:pt x="3676820" y="0"/>
                  <a:pt x="3724592" y="47772"/>
                  <a:pt x="3724592" y="106702"/>
                </a:cubicBezTo>
                <a:lnTo>
                  <a:pt x="3724592" y="2808648"/>
                </a:lnTo>
                <a:cubicBezTo>
                  <a:pt x="3724592" y="2867577"/>
                  <a:pt x="3676820" y="2915349"/>
                  <a:pt x="3617890" y="2915349"/>
                </a:cubicBezTo>
                <a:lnTo>
                  <a:pt x="106702" y="2915349"/>
                </a:lnTo>
                <a:cubicBezTo>
                  <a:pt x="47772" y="2915349"/>
                  <a:pt x="0" y="2867577"/>
                  <a:pt x="0" y="2808648"/>
                </a:cubicBezTo>
                <a:lnTo>
                  <a:pt x="0" y="106702"/>
                </a:lnTo>
                <a:cubicBezTo>
                  <a:pt x="0" y="47772"/>
                  <a:pt x="47772" y="0"/>
                  <a:pt x="1067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4134" y="1225718"/>
            <a:ext cx="180079" cy="160070"/>
          </a:xfrm>
          <a:custGeom>
            <a:avLst/>
            <a:gdLst/>
            <a:ahLst/>
            <a:cxnLst/>
            <a:rect l="l" t="t" r="r" b="b"/>
            <a:pathLst>
              <a:path w="180079" h="160070">
                <a:moveTo>
                  <a:pt x="17508" y="70531"/>
                </a:moveTo>
                <a:lnTo>
                  <a:pt x="10129" y="92603"/>
                </a:lnTo>
                <a:lnTo>
                  <a:pt x="10129" y="30013"/>
                </a:lnTo>
                <a:cubicBezTo>
                  <a:pt x="10129" y="18977"/>
                  <a:pt x="19102" y="10004"/>
                  <a:pt x="30138" y="10004"/>
                </a:cubicBezTo>
                <a:lnTo>
                  <a:pt x="73501" y="10004"/>
                </a:lnTo>
                <a:cubicBezTo>
                  <a:pt x="77815" y="10004"/>
                  <a:pt x="82036" y="11411"/>
                  <a:pt x="85506" y="14006"/>
                </a:cubicBezTo>
                <a:lnTo>
                  <a:pt x="97511" y="23010"/>
                </a:lnTo>
                <a:cubicBezTo>
                  <a:pt x="99231" y="24323"/>
                  <a:pt x="101357" y="25011"/>
                  <a:pt x="103514" y="25011"/>
                </a:cubicBezTo>
                <a:lnTo>
                  <a:pt x="140186" y="25011"/>
                </a:lnTo>
                <a:cubicBezTo>
                  <a:pt x="151222" y="25011"/>
                  <a:pt x="160195" y="33984"/>
                  <a:pt x="160195" y="45020"/>
                </a:cubicBezTo>
                <a:lnTo>
                  <a:pt x="160195" y="50022"/>
                </a:lnTo>
                <a:lnTo>
                  <a:pt x="45958" y="50022"/>
                </a:lnTo>
                <a:cubicBezTo>
                  <a:pt x="33046" y="50022"/>
                  <a:pt x="21572" y="58275"/>
                  <a:pt x="17476" y="70531"/>
                </a:cubicBezTo>
                <a:close/>
                <a:moveTo>
                  <a:pt x="149378" y="140061"/>
                </a:moveTo>
                <a:lnTo>
                  <a:pt x="30951" y="140061"/>
                </a:lnTo>
                <a:cubicBezTo>
                  <a:pt x="20697" y="140061"/>
                  <a:pt x="13475" y="130026"/>
                  <a:pt x="16726" y="120303"/>
                </a:cubicBezTo>
                <a:lnTo>
                  <a:pt x="31733" y="75283"/>
                </a:lnTo>
                <a:cubicBezTo>
                  <a:pt x="33765" y="69155"/>
                  <a:pt x="39517" y="65028"/>
                  <a:pt x="45958" y="65028"/>
                </a:cubicBezTo>
                <a:lnTo>
                  <a:pt x="164384" y="65028"/>
                </a:lnTo>
                <a:cubicBezTo>
                  <a:pt x="174639" y="65028"/>
                  <a:pt x="181861" y="75064"/>
                  <a:pt x="178609" y="84787"/>
                </a:cubicBezTo>
                <a:lnTo>
                  <a:pt x="163603" y="129807"/>
                </a:lnTo>
                <a:cubicBezTo>
                  <a:pt x="161571" y="135934"/>
                  <a:pt x="155818" y="140061"/>
                  <a:pt x="149378" y="140061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8456440" y="1181255"/>
            <a:ext cx="330811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3FB9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Files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5612" y="1540671"/>
            <a:ext cx="3422238" cy="505406"/>
          </a:xfrm>
          <a:custGeom>
            <a:avLst/>
            <a:gdLst/>
            <a:ahLst/>
            <a:cxnLst/>
            <a:rect l="l" t="t" r="r" b="b"/>
            <a:pathLst>
              <a:path w="3422238" h="505406">
                <a:moveTo>
                  <a:pt x="71141" y="0"/>
                </a:moveTo>
                <a:lnTo>
                  <a:pt x="3351097" y="0"/>
                </a:lnTo>
                <a:cubicBezTo>
                  <a:pt x="3390387" y="0"/>
                  <a:pt x="3422238" y="31851"/>
                  <a:pt x="3422238" y="71141"/>
                </a:cubicBezTo>
                <a:lnTo>
                  <a:pt x="3422238" y="434265"/>
                </a:lnTo>
                <a:cubicBezTo>
                  <a:pt x="3422238" y="473555"/>
                  <a:pt x="3390387" y="505406"/>
                  <a:pt x="3351097" y="505406"/>
                </a:cubicBezTo>
                <a:lnTo>
                  <a:pt x="71141" y="505406"/>
                </a:lnTo>
                <a:cubicBezTo>
                  <a:pt x="31877" y="505406"/>
                  <a:pt x="0" y="473529"/>
                  <a:pt x="0" y="434265"/>
                </a:cubicBezTo>
                <a:lnTo>
                  <a:pt x="0" y="71141"/>
                </a:lnTo>
                <a:cubicBezTo>
                  <a:pt x="0" y="31877"/>
                  <a:pt x="31877" y="0"/>
                  <a:pt x="7114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7137" y="1633310"/>
            <a:ext cx="124499" cy="142284"/>
          </a:xfrm>
          <a:custGeom>
            <a:avLst/>
            <a:gdLst/>
            <a:ahLst/>
            <a:cxnLst/>
            <a:rect l="l" t="t" r="r" b="b"/>
            <a:pathLst>
              <a:path w="124499" h="142284">
                <a:moveTo>
                  <a:pt x="122220" y="55719"/>
                </a:moveTo>
                <a:cubicBezTo>
                  <a:pt x="120080" y="47132"/>
                  <a:pt x="116023" y="40657"/>
                  <a:pt x="107380" y="40657"/>
                </a:cubicBezTo>
                <a:lnTo>
                  <a:pt x="96237" y="40657"/>
                </a:lnTo>
                <a:lnTo>
                  <a:pt x="96237" y="53829"/>
                </a:lnTo>
                <a:cubicBezTo>
                  <a:pt x="96237" y="64056"/>
                  <a:pt x="87566" y="72671"/>
                  <a:pt x="77673" y="72671"/>
                </a:cubicBezTo>
                <a:lnTo>
                  <a:pt x="47993" y="72671"/>
                </a:lnTo>
                <a:cubicBezTo>
                  <a:pt x="39879" y="72671"/>
                  <a:pt x="33153" y="79618"/>
                  <a:pt x="33153" y="87761"/>
                </a:cubicBezTo>
                <a:lnTo>
                  <a:pt x="33153" y="116051"/>
                </a:lnTo>
                <a:cubicBezTo>
                  <a:pt x="33153" y="124110"/>
                  <a:pt x="40156" y="128834"/>
                  <a:pt x="47993" y="131141"/>
                </a:cubicBezTo>
                <a:cubicBezTo>
                  <a:pt x="57386" y="133892"/>
                  <a:pt x="66418" y="134392"/>
                  <a:pt x="77673" y="131141"/>
                </a:cubicBezTo>
                <a:cubicBezTo>
                  <a:pt x="85148" y="128973"/>
                  <a:pt x="92513" y="124610"/>
                  <a:pt x="92513" y="116051"/>
                </a:cubicBezTo>
                <a:lnTo>
                  <a:pt x="92513" y="104740"/>
                </a:lnTo>
                <a:lnTo>
                  <a:pt x="62861" y="104740"/>
                </a:lnTo>
                <a:lnTo>
                  <a:pt x="62861" y="100961"/>
                </a:lnTo>
                <a:lnTo>
                  <a:pt x="107380" y="100961"/>
                </a:lnTo>
                <a:cubicBezTo>
                  <a:pt x="116023" y="100961"/>
                  <a:pt x="119219" y="94930"/>
                  <a:pt x="122220" y="85899"/>
                </a:cubicBezTo>
                <a:cubicBezTo>
                  <a:pt x="125333" y="76589"/>
                  <a:pt x="125194" y="67641"/>
                  <a:pt x="122220" y="55719"/>
                </a:cubicBezTo>
                <a:close/>
                <a:moveTo>
                  <a:pt x="79535" y="123582"/>
                </a:moveTo>
                <a:cubicBezTo>
                  <a:pt x="77420" y="123730"/>
                  <a:pt x="75399" y="122686"/>
                  <a:pt x="74296" y="120875"/>
                </a:cubicBezTo>
                <a:cubicBezTo>
                  <a:pt x="73193" y="119064"/>
                  <a:pt x="73193" y="116789"/>
                  <a:pt x="74296" y="114978"/>
                </a:cubicBezTo>
                <a:cubicBezTo>
                  <a:pt x="75399" y="113167"/>
                  <a:pt x="77420" y="112123"/>
                  <a:pt x="79535" y="112271"/>
                </a:cubicBezTo>
                <a:cubicBezTo>
                  <a:pt x="81650" y="112123"/>
                  <a:pt x="83671" y="113167"/>
                  <a:pt x="84774" y="114978"/>
                </a:cubicBezTo>
                <a:cubicBezTo>
                  <a:pt x="85876" y="116789"/>
                  <a:pt x="85876" y="119064"/>
                  <a:pt x="84774" y="120875"/>
                </a:cubicBezTo>
                <a:cubicBezTo>
                  <a:pt x="83671" y="122686"/>
                  <a:pt x="81650" y="123730"/>
                  <a:pt x="79535" y="123582"/>
                </a:cubicBezTo>
                <a:close/>
                <a:moveTo>
                  <a:pt x="46632" y="68947"/>
                </a:moveTo>
                <a:lnTo>
                  <a:pt x="76311" y="68947"/>
                </a:lnTo>
                <a:cubicBezTo>
                  <a:pt x="84565" y="68947"/>
                  <a:pt x="91151" y="62138"/>
                  <a:pt x="91151" y="53857"/>
                </a:cubicBezTo>
                <a:lnTo>
                  <a:pt x="91151" y="25539"/>
                </a:lnTo>
                <a:cubicBezTo>
                  <a:pt x="91151" y="17480"/>
                  <a:pt x="84370" y="11449"/>
                  <a:pt x="76311" y="10088"/>
                </a:cubicBezTo>
                <a:cubicBezTo>
                  <a:pt x="66362" y="8448"/>
                  <a:pt x="55552" y="8532"/>
                  <a:pt x="46632" y="10116"/>
                </a:cubicBezTo>
                <a:cubicBezTo>
                  <a:pt x="34070" y="12339"/>
                  <a:pt x="31792" y="16980"/>
                  <a:pt x="31792" y="25567"/>
                </a:cubicBezTo>
                <a:lnTo>
                  <a:pt x="31792" y="36877"/>
                </a:lnTo>
                <a:lnTo>
                  <a:pt x="61499" y="36877"/>
                </a:lnTo>
                <a:lnTo>
                  <a:pt x="61499" y="40657"/>
                </a:lnTo>
                <a:lnTo>
                  <a:pt x="20648" y="40657"/>
                </a:lnTo>
                <a:cubicBezTo>
                  <a:pt x="12005" y="40657"/>
                  <a:pt x="4446" y="45853"/>
                  <a:pt x="2084" y="55719"/>
                </a:cubicBezTo>
                <a:cubicBezTo>
                  <a:pt x="-639" y="67029"/>
                  <a:pt x="-750" y="74088"/>
                  <a:pt x="2084" y="85899"/>
                </a:cubicBezTo>
                <a:cubicBezTo>
                  <a:pt x="4196" y="94680"/>
                  <a:pt x="9226" y="100961"/>
                  <a:pt x="17869" y="100961"/>
                </a:cubicBezTo>
                <a:lnTo>
                  <a:pt x="28068" y="100961"/>
                </a:lnTo>
                <a:lnTo>
                  <a:pt x="28068" y="87399"/>
                </a:lnTo>
                <a:cubicBezTo>
                  <a:pt x="28068" y="77589"/>
                  <a:pt x="36544" y="68947"/>
                  <a:pt x="46632" y="68947"/>
                </a:cubicBezTo>
                <a:close/>
                <a:moveTo>
                  <a:pt x="44797" y="17980"/>
                </a:moveTo>
                <a:cubicBezTo>
                  <a:pt x="47926" y="17980"/>
                  <a:pt x="50467" y="20520"/>
                  <a:pt x="50467" y="23649"/>
                </a:cubicBezTo>
                <a:cubicBezTo>
                  <a:pt x="50467" y="26778"/>
                  <a:pt x="47926" y="29318"/>
                  <a:pt x="44797" y="29318"/>
                </a:cubicBezTo>
                <a:cubicBezTo>
                  <a:pt x="41668" y="29318"/>
                  <a:pt x="39128" y="26778"/>
                  <a:pt x="39128" y="23649"/>
                </a:cubicBezTo>
                <a:cubicBezTo>
                  <a:pt x="39128" y="20520"/>
                  <a:pt x="41668" y="17980"/>
                  <a:pt x="44797" y="1798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79457" y="1615524"/>
            <a:ext cx="136059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profile_triton.py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30459" y="1828951"/>
            <a:ext cx="3325899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profiling script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55612" y="2124633"/>
            <a:ext cx="3422238" cy="505406"/>
          </a:xfrm>
          <a:custGeom>
            <a:avLst/>
            <a:gdLst/>
            <a:ahLst/>
            <a:cxnLst/>
            <a:rect l="l" t="t" r="r" b="b"/>
            <a:pathLst>
              <a:path w="3422238" h="505406">
                <a:moveTo>
                  <a:pt x="71141" y="0"/>
                </a:moveTo>
                <a:lnTo>
                  <a:pt x="3351097" y="0"/>
                </a:lnTo>
                <a:cubicBezTo>
                  <a:pt x="3390387" y="0"/>
                  <a:pt x="3422238" y="31851"/>
                  <a:pt x="3422238" y="71141"/>
                </a:cubicBezTo>
                <a:lnTo>
                  <a:pt x="3422238" y="434265"/>
                </a:lnTo>
                <a:cubicBezTo>
                  <a:pt x="3422238" y="473555"/>
                  <a:pt x="3390387" y="505406"/>
                  <a:pt x="3351097" y="505406"/>
                </a:cubicBezTo>
                <a:lnTo>
                  <a:pt x="71141" y="505406"/>
                </a:lnTo>
                <a:cubicBezTo>
                  <a:pt x="31877" y="505406"/>
                  <a:pt x="0" y="473529"/>
                  <a:pt x="0" y="434265"/>
                </a:cubicBezTo>
                <a:lnTo>
                  <a:pt x="0" y="71141"/>
                </a:lnTo>
                <a:cubicBezTo>
                  <a:pt x="0" y="31877"/>
                  <a:pt x="31877" y="0"/>
                  <a:pt x="7114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48244" y="2217263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2612" y="32959"/>
                </a:moveTo>
                <a:cubicBezTo>
                  <a:pt x="-861" y="29485"/>
                  <a:pt x="-861" y="23844"/>
                  <a:pt x="2612" y="20370"/>
                </a:cubicBezTo>
                <a:cubicBezTo>
                  <a:pt x="6086" y="16896"/>
                  <a:pt x="11727" y="16896"/>
                  <a:pt x="15201" y="20370"/>
                </a:cubicBezTo>
                <a:lnTo>
                  <a:pt x="59665" y="64834"/>
                </a:lnTo>
                <a:cubicBezTo>
                  <a:pt x="63139" y="68308"/>
                  <a:pt x="63139" y="73949"/>
                  <a:pt x="59665" y="77423"/>
                </a:cubicBezTo>
                <a:lnTo>
                  <a:pt x="15201" y="121887"/>
                </a:lnTo>
                <a:cubicBezTo>
                  <a:pt x="11727" y="125360"/>
                  <a:pt x="6086" y="125360"/>
                  <a:pt x="2612" y="121887"/>
                </a:cubicBezTo>
                <a:cubicBezTo>
                  <a:pt x="-861" y="118413"/>
                  <a:pt x="-861" y="112772"/>
                  <a:pt x="2612" y="109298"/>
                </a:cubicBezTo>
                <a:lnTo>
                  <a:pt x="40768" y="71142"/>
                </a:lnTo>
                <a:lnTo>
                  <a:pt x="2612" y="32959"/>
                </a:lnTo>
                <a:close/>
                <a:moveTo>
                  <a:pt x="62249" y="106713"/>
                </a:moveTo>
                <a:lnTo>
                  <a:pt x="133392" y="106713"/>
                </a:lnTo>
                <a:cubicBezTo>
                  <a:pt x="138311" y="106713"/>
                  <a:pt x="142284" y="110687"/>
                  <a:pt x="142284" y="115606"/>
                </a:cubicBezTo>
                <a:cubicBezTo>
                  <a:pt x="142284" y="120525"/>
                  <a:pt x="138311" y="124499"/>
                  <a:pt x="133392" y="124499"/>
                </a:cubicBezTo>
                <a:lnTo>
                  <a:pt x="62249" y="124499"/>
                </a:lnTo>
                <a:cubicBezTo>
                  <a:pt x="57331" y="124499"/>
                  <a:pt x="53357" y="120525"/>
                  <a:pt x="53357" y="115606"/>
                </a:cubicBezTo>
                <a:cubicBezTo>
                  <a:pt x="53357" y="110687"/>
                  <a:pt x="57331" y="106713"/>
                  <a:pt x="62249" y="106713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7" name="Text 45"/>
          <p:cNvSpPr/>
          <p:nvPr/>
        </p:nvSpPr>
        <p:spPr>
          <a:xfrm>
            <a:off x="8579457" y="2199478"/>
            <a:ext cx="136059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profile_kernel.sh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30459" y="2412904"/>
            <a:ext cx="3325899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script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5612" y="2708595"/>
            <a:ext cx="3422238" cy="505406"/>
          </a:xfrm>
          <a:custGeom>
            <a:avLst/>
            <a:gdLst/>
            <a:ahLst/>
            <a:cxnLst/>
            <a:rect l="l" t="t" r="r" b="b"/>
            <a:pathLst>
              <a:path w="3422238" h="505406">
                <a:moveTo>
                  <a:pt x="71141" y="0"/>
                </a:moveTo>
                <a:lnTo>
                  <a:pt x="3351097" y="0"/>
                </a:lnTo>
                <a:cubicBezTo>
                  <a:pt x="3390387" y="0"/>
                  <a:pt x="3422238" y="31851"/>
                  <a:pt x="3422238" y="71141"/>
                </a:cubicBezTo>
                <a:lnTo>
                  <a:pt x="3422238" y="434265"/>
                </a:lnTo>
                <a:cubicBezTo>
                  <a:pt x="3422238" y="473555"/>
                  <a:pt x="3390387" y="505406"/>
                  <a:pt x="3351097" y="505406"/>
                </a:cubicBezTo>
                <a:lnTo>
                  <a:pt x="71141" y="505406"/>
                </a:lnTo>
                <a:cubicBezTo>
                  <a:pt x="31877" y="505406"/>
                  <a:pt x="0" y="473529"/>
                  <a:pt x="0" y="434265"/>
                </a:cubicBezTo>
                <a:lnTo>
                  <a:pt x="0" y="71141"/>
                </a:lnTo>
                <a:cubicBezTo>
                  <a:pt x="0" y="31877"/>
                  <a:pt x="31877" y="0"/>
                  <a:pt x="7114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66030" y="2801225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0" y="17786"/>
                </a:moveTo>
                <a:cubicBezTo>
                  <a:pt x="0" y="7976"/>
                  <a:pt x="7976" y="0"/>
                  <a:pt x="17786" y="0"/>
                </a:cubicBezTo>
                <a:lnTo>
                  <a:pt x="59332" y="0"/>
                </a:lnTo>
                <a:cubicBezTo>
                  <a:pt x="64056" y="0"/>
                  <a:pt x="68586" y="1862"/>
                  <a:pt x="71920" y="5197"/>
                </a:cubicBezTo>
                <a:lnTo>
                  <a:pt x="101517" y="34821"/>
                </a:lnTo>
                <a:cubicBezTo>
                  <a:pt x="104851" y="38156"/>
                  <a:pt x="106713" y="42685"/>
                  <a:pt x="106713" y="47410"/>
                </a:cubicBezTo>
                <a:lnTo>
                  <a:pt x="106713" y="124499"/>
                </a:lnTo>
                <a:cubicBezTo>
                  <a:pt x="106713" y="134309"/>
                  <a:pt x="98738" y="142284"/>
                  <a:pt x="88928" y="142284"/>
                </a:cubicBezTo>
                <a:lnTo>
                  <a:pt x="17786" y="142284"/>
                </a:lnTo>
                <a:cubicBezTo>
                  <a:pt x="7976" y="142284"/>
                  <a:pt x="0" y="134309"/>
                  <a:pt x="0" y="124499"/>
                </a:cubicBezTo>
                <a:lnTo>
                  <a:pt x="0" y="17786"/>
                </a:lnTo>
                <a:close/>
                <a:moveTo>
                  <a:pt x="57803" y="16257"/>
                </a:moveTo>
                <a:lnTo>
                  <a:pt x="57803" y="42241"/>
                </a:lnTo>
                <a:cubicBezTo>
                  <a:pt x="57803" y="45937"/>
                  <a:pt x="60777" y="48910"/>
                  <a:pt x="64473" y="48910"/>
                </a:cubicBezTo>
                <a:lnTo>
                  <a:pt x="90456" y="48910"/>
                </a:lnTo>
                <a:lnTo>
                  <a:pt x="57803" y="16257"/>
                </a:lnTo>
                <a:close/>
                <a:moveTo>
                  <a:pt x="33348" y="71142"/>
                </a:moveTo>
                <a:cubicBezTo>
                  <a:pt x="29652" y="71142"/>
                  <a:pt x="26678" y="74116"/>
                  <a:pt x="26678" y="77812"/>
                </a:cubicBezTo>
                <a:cubicBezTo>
                  <a:pt x="26678" y="81508"/>
                  <a:pt x="29652" y="84481"/>
                  <a:pt x="33348" y="84481"/>
                </a:cubicBezTo>
                <a:lnTo>
                  <a:pt x="73365" y="84481"/>
                </a:lnTo>
                <a:cubicBezTo>
                  <a:pt x="77061" y="84481"/>
                  <a:pt x="80035" y="81508"/>
                  <a:pt x="80035" y="77812"/>
                </a:cubicBezTo>
                <a:cubicBezTo>
                  <a:pt x="80035" y="74116"/>
                  <a:pt x="77061" y="71142"/>
                  <a:pt x="73365" y="71142"/>
                </a:cubicBezTo>
                <a:lnTo>
                  <a:pt x="33348" y="71142"/>
                </a:lnTo>
                <a:close/>
                <a:moveTo>
                  <a:pt x="33348" y="97821"/>
                </a:moveTo>
                <a:cubicBezTo>
                  <a:pt x="29652" y="97821"/>
                  <a:pt x="26678" y="100794"/>
                  <a:pt x="26678" y="104490"/>
                </a:cubicBezTo>
                <a:cubicBezTo>
                  <a:pt x="26678" y="108186"/>
                  <a:pt x="29652" y="111160"/>
                  <a:pt x="33348" y="111160"/>
                </a:cubicBezTo>
                <a:lnTo>
                  <a:pt x="73365" y="111160"/>
                </a:lnTo>
                <a:cubicBezTo>
                  <a:pt x="77061" y="111160"/>
                  <a:pt x="80035" y="108186"/>
                  <a:pt x="80035" y="104490"/>
                </a:cubicBezTo>
                <a:cubicBezTo>
                  <a:pt x="80035" y="100794"/>
                  <a:pt x="77061" y="97821"/>
                  <a:pt x="73365" y="97821"/>
                </a:cubicBezTo>
                <a:lnTo>
                  <a:pt x="33348" y="97821"/>
                </a:ln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51" name="Text 49"/>
          <p:cNvSpPr/>
          <p:nvPr/>
        </p:nvSpPr>
        <p:spPr>
          <a:xfrm>
            <a:off x="8579457" y="2783440"/>
            <a:ext cx="159180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profiling_summary.md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30459" y="2996867"/>
            <a:ext cx="3325899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analysis report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5612" y="3292549"/>
            <a:ext cx="3422238" cy="505406"/>
          </a:xfrm>
          <a:custGeom>
            <a:avLst/>
            <a:gdLst/>
            <a:ahLst/>
            <a:cxnLst/>
            <a:rect l="l" t="t" r="r" b="b"/>
            <a:pathLst>
              <a:path w="3422238" h="505406">
                <a:moveTo>
                  <a:pt x="71141" y="0"/>
                </a:moveTo>
                <a:lnTo>
                  <a:pt x="3351097" y="0"/>
                </a:lnTo>
                <a:cubicBezTo>
                  <a:pt x="3390387" y="0"/>
                  <a:pt x="3422238" y="31851"/>
                  <a:pt x="3422238" y="71141"/>
                </a:cubicBezTo>
                <a:lnTo>
                  <a:pt x="3422238" y="434265"/>
                </a:lnTo>
                <a:cubicBezTo>
                  <a:pt x="3422238" y="473555"/>
                  <a:pt x="3390387" y="505406"/>
                  <a:pt x="3351097" y="505406"/>
                </a:cubicBezTo>
                <a:lnTo>
                  <a:pt x="71141" y="505406"/>
                </a:lnTo>
                <a:cubicBezTo>
                  <a:pt x="31877" y="505406"/>
                  <a:pt x="0" y="473529"/>
                  <a:pt x="0" y="434265"/>
                </a:cubicBezTo>
                <a:lnTo>
                  <a:pt x="0" y="71141"/>
                </a:lnTo>
                <a:cubicBezTo>
                  <a:pt x="0" y="31877"/>
                  <a:pt x="31877" y="0"/>
                  <a:pt x="7114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9352" y="3385187"/>
            <a:ext cx="160070" cy="142284"/>
          </a:xfrm>
          <a:custGeom>
            <a:avLst/>
            <a:gdLst/>
            <a:ahLst/>
            <a:cxnLst/>
            <a:rect l="l" t="t" r="r" b="b"/>
            <a:pathLst>
              <a:path w="160070" h="142284">
                <a:moveTo>
                  <a:pt x="100266" y="333"/>
                </a:moveTo>
                <a:cubicBezTo>
                  <a:pt x="95542" y="-1028"/>
                  <a:pt x="90623" y="1723"/>
                  <a:pt x="89261" y="6447"/>
                </a:cubicBezTo>
                <a:lnTo>
                  <a:pt x="53690" y="130946"/>
                </a:lnTo>
                <a:cubicBezTo>
                  <a:pt x="52328" y="135670"/>
                  <a:pt x="55080" y="140589"/>
                  <a:pt x="59804" y="141951"/>
                </a:cubicBezTo>
                <a:cubicBezTo>
                  <a:pt x="64528" y="143313"/>
                  <a:pt x="69447" y="140561"/>
                  <a:pt x="70809" y="135837"/>
                </a:cubicBezTo>
                <a:lnTo>
                  <a:pt x="106380" y="11338"/>
                </a:lnTo>
                <a:cubicBezTo>
                  <a:pt x="107742" y="6614"/>
                  <a:pt x="104990" y="1695"/>
                  <a:pt x="100266" y="333"/>
                </a:cubicBezTo>
                <a:close/>
                <a:moveTo>
                  <a:pt x="118218" y="38156"/>
                </a:moveTo>
                <a:cubicBezTo>
                  <a:pt x="114745" y="41629"/>
                  <a:pt x="114745" y="47271"/>
                  <a:pt x="118218" y="50744"/>
                </a:cubicBezTo>
                <a:lnTo>
                  <a:pt x="138616" y="71142"/>
                </a:lnTo>
                <a:lnTo>
                  <a:pt x="118218" y="91540"/>
                </a:lnTo>
                <a:cubicBezTo>
                  <a:pt x="114745" y="95014"/>
                  <a:pt x="114745" y="100655"/>
                  <a:pt x="118218" y="104129"/>
                </a:cubicBezTo>
                <a:cubicBezTo>
                  <a:pt x="121692" y="107603"/>
                  <a:pt x="127333" y="107603"/>
                  <a:pt x="130807" y="104129"/>
                </a:cubicBezTo>
                <a:lnTo>
                  <a:pt x="157486" y="77451"/>
                </a:lnTo>
                <a:cubicBezTo>
                  <a:pt x="160959" y="73977"/>
                  <a:pt x="160959" y="68335"/>
                  <a:pt x="157486" y="64862"/>
                </a:cubicBezTo>
                <a:lnTo>
                  <a:pt x="130807" y="38183"/>
                </a:lnTo>
                <a:cubicBezTo>
                  <a:pt x="127333" y="34710"/>
                  <a:pt x="121692" y="34710"/>
                  <a:pt x="118218" y="38183"/>
                </a:cubicBezTo>
                <a:close/>
                <a:moveTo>
                  <a:pt x="41879" y="38156"/>
                </a:moveTo>
                <a:cubicBezTo>
                  <a:pt x="38406" y="34682"/>
                  <a:pt x="32764" y="34682"/>
                  <a:pt x="29291" y="38156"/>
                </a:cubicBezTo>
                <a:lnTo>
                  <a:pt x="2612" y="64834"/>
                </a:lnTo>
                <a:cubicBezTo>
                  <a:pt x="-861" y="68308"/>
                  <a:pt x="-861" y="73949"/>
                  <a:pt x="2612" y="77423"/>
                </a:cubicBezTo>
                <a:lnTo>
                  <a:pt x="29291" y="104101"/>
                </a:lnTo>
                <a:cubicBezTo>
                  <a:pt x="32764" y="107575"/>
                  <a:pt x="38406" y="107575"/>
                  <a:pt x="41879" y="104101"/>
                </a:cubicBezTo>
                <a:cubicBezTo>
                  <a:pt x="45353" y="100627"/>
                  <a:pt x="45353" y="94986"/>
                  <a:pt x="41879" y="91512"/>
                </a:cubicBezTo>
                <a:lnTo>
                  <a:pt x="21482" y="71142"/>
                </a:lnTo>
                <a:lnTo>
                  <a:pt x="41852" y="50744"/>
                </a:lnTo>
                <a:cubicBezTo>
                  <a:pt x="45325" y="47271"/>
                  <a:pt x="45325" y="41629"/>
                  <a:pt x="41852" y="38156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55" name="Text 53"/>
          <p:cNvSpPr/>
          <p:nvPr/>
        </p:nvSpPr>
        <p:spPr>
          <a:xfrm>
            <a:off x="8579457" y="3367402"/>
            <a:ext cx="144063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rms_norm_triton.py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0459" y="3580829"/>
            <a:ext cx="3325899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Triton kernel implementation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05916" y="4061774"/>
            <a:ext cx="3724592" cy="1412470"/>
          </a:xfrm>
          <a:custGeom>
            <a:avLst/>
            <a:gdLst/>
            <a:ahLst/>
            <a:cxnLst/>
            <a:rect l="l" t="t" r="r" b="b"/>
            <a:pathLst>
              <a:path w="3724592" h="1412470">
                <a:moveTo>
                  <a:pt x="106712" y="0"/>
                </a:moveTo>
                <a:lnTo>
                  <a:pt x="3617880" y="0"/>
                </a:lnTo>
                <a:cubicBezTo>
                  <a:pt x="3676776" y="0"/>
                  <a:pt x="3724592" y="47816"/>
                  <a:pt x="3724592" y="106712"/>
                </a:cubicBezTo>
                <a:lnTo>
                  <a:pt x="3724592" y="1305758"/>
                </a:lnTo>
                <a:cubicBezTo>
                  <a:pt x="3724592" y="1364654"/>
                  <a:pt x="3676776" y="1412470"/>
                  <a:pt x="3617880" y="1412470"/>
                </a:cubicBezTo>
                <a:lnTo>
                  <a:pt x="106712" y="1412470"/>
                </a:lnTo>
                <a:cubicBezTo>
                  <a:pt x="47816" y="1412470"/>
                  <a:pt x="0" y="1364654"/>
                  <a:pt x="0" y="1305758"/>
                </a:cubicBezTo>
                <a:lnTo>
                  <a:pt x="0" y="106712"/>
                </a:lnTo>
                <a:cubicBezTo>
                  <a:pt x="0" y="47816"/>
                  <a:pt x="47816" y="0"/>
                  <a:pt x="106712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64134" y="4252233"/>
            <a:ext cx="180079" cy="160070"/>
          </a:xfrm>
          <a:custGeom>
            <a:avLst/>
            <a:gdLst/>
            <a:ahLst/>
            <a:cxnLst/>
            <a:rect l="l" t="t" r="r" b="b"/>
            <a:pathLst>
              <a:path w="180079" h="160070">
                <a:moveTo>
                  <a:pt x="131151" y="30013"/>
                </a:moveTo>
                <a:cubicBezTo>
                  <a:pt x="125961" y="30013"/>
                  <a:pt x="120928" y="31420"/>
                  <a:pt x="116520" y="33984"/>
                </a:cubicBezTo>
                <a:cubicBezTo>
                  <a:pt x="111580" y="28981"/>
                  <a:pt x="105828" y="24792"/>
                  <a:pt x="99481" y="21634"/>
                </a:cubicBezTo>
                <a:cubicBezTo>
                  <a:pt x="108297" y="14131"/>
                  <a:pt x="119521" y="10004"/>
                  <a:pt x="131151" y="10004"/>
                </a:cubicBezTo>
                <a:cubicBezTo>
                  <a:pt x="158163" y="10004"/>
                  <a:pt x="180079" y="31889"/>
                  <a:pt x="180079" y="58932"/>
                </a:cubicBezTo>
                <a:cubicBezTo>
                  <a:pt x="180079" y="71906"/>
                  <a:pt x="174920" y="84349"/>
                  <a:pt x="165760" y="93510"/>
                </a:cubicBezTo>
                <a:lnTo>
                  <a:pt x="143532" y="115738"/>
                </a:lnTo>
                <a:cubicBezTo>
                  <a:pt x="134371" y="124898"/>
                  <a:pt x="121928" y="130057"/>
                  <a:pt x="108954" y="130057"/>
                </a:cubicBezTo>
                <a:cubicBezTo>
                  <a:pt x="81942" y="130057"/>
                  <a:pt x="60026" y="108172"/>
                  <a:pt x="60026" y="81129"/>
                </a:cubicBezTo>
                <a:cubicBezTo>
                  <a:pt x="60026" y="80660"/>
                  <a:pt x="60026" y="80191"/>
                  <a:pt x="60058" y="79722"/>
                </a:cubicBezTo>
                <a:cubicBezTo>
                  <a:pt x="60214" y="74189"/>
                  <a:pt x="64810" y="69843"/>
                  <a:pt x="70343" y="69999"/>
                </a:cubicBezTo>
                <a:cubicBezTo>
                  <a:pt x="75877" y="70156"/>
                  <a:pt x="80223" y="74751"/>
                  <a:pt x="80066" y="80285"/>
                </a:cubicBezTo>
                <a:cubicBezTo>
                  <a:pt x="80066" y="80566"/>
                  <a:pt x="80066" y="80848"/>
                  <a:pt x="80066" y="81098"/>
                </a:cubicBezTo>
                <a:cubicBezTo>
                  <a:pt x="80066" y="97074"/>
                  <a:pt x="93009" y="110017"/>
                  <a:pt x="108985" y="110017"/>
                </a:cubicBezTo>
                <a:cubicBezTo>
                  <a:pt x="116645" y="110017"/>
                  <a:pt x="123992" y="106984"/>
                  <a:pt x="129432" y="101544"/>
                </a:cubicBezTo>
                <a:lnTo>
                  <a:pt x="151660" y="79316"/>
                </a:lnTo>
                <a:cubicBezTo>
                  <a:pt x="157069" y="73907"/>
                  <a:pt x="160133" y="66529"/>
                  <a:pt x="160133" y="58870"/>
                </a:cubicBezTo>
                <a:cubicBezTo>
                  <a:pt x="160133" y="42894"/>
                  <a:pt x="147189" y="29951"/>
                  <a:pt x="131214" y="29951"/>
                </a:cubicBezTo>
                <a:close/>
                <a:moveTo>
                  <a:pt x="86038" y="54180"/>
                </a:moveTo>
                <a:cubicBezTo>
                  <a:pt x="85444" y="53930"/>
                  <a:pt x="84850" y="53586"/>
                  <a:pt x="84318" y="53211"/>
                </a:cubicBezTo>
                <a:cubicBezTo>
                  <a:pt x="80379" y="51179"/>
                  <a:pt x="75877" y="50022"/>
                  <a:pt x="71156" y="50022"/>
                </a:cubicBezTo>
                <a:cubicBezTo>
                  <a:pt x="63497" y="50022"/>
                  <a:pt x="56150" y="53054"/>
                  <a:pt x="50710" y="58494"/>
                </a:cubicBezTo>
                <a:lnTo>
                  <a:pt x="28481" y="80723"/>
                </a:lnTo>
                <a:cubicBezTo>
                  <a:pt x="23073" y="86131"/>
                  <a:pt x="20009" y="93510"/>
                  <a:pt x="20009" y="101169"/>
                </a:cubicBezTo>
                <a:cubicBezTo>
                  <a:pt x="20009" y="117145"/>
                  <a:pt x="32952" y="130088"/>
                  <a:pt x="48928" y="130088"/>
                </a:cubicBezTo>
                <a:cubicBezTo>
                  <a:pt x="54086" y="130088"/>
                  <a:pt x="59120" y="128713"/>
                  <a:pt x="63528" y="126149"/>
                </a:cubicBezTo>
                <a:cubicBezTo>
                  <a:pt x="68467" y="131151"/>
                  <a:pt x="74220" y="135340"/>
                  <a:pt x="80598" y="138498"/>
                </a:cubicBezTo>
                <a:cubicBezTo>
                  <a:pt x="71781" y="145970"/>
                  <a:pt x="60589" y="150128"/>
                  <a:pt x="48928" y="150128"/>
                </a:cubicBezTo>
                <a:cubicBezTo>
                  <a:pt x="21916" y="150128"/>
                  <a:pt x="0" y="128244"/>
                  <a:pt x="0" y="101201"/>
                </a:cubicBezTo>
                <a:cubicBezTo>
                  <a:pt x="0" y="88226"/>
                  <a:pt x="5159" y="75783"/>
                  <a:pt x="14319" y="66623"/>
                </a:cubicBezTo>
                <a:lnTo>
                  <a:pt x="36547" y="44394"/>
                </a:lnTo>
                <a:cubicBezTo>
                  <a:pt x="45707" y="35234"/>
                  <a:pt x="58150" y="30076"/>
                  <a:pt x="71125" y="30076"/>
                </a:cubicBezTo>
                <a:cubicBezTo>
                  <a:pt x="98199" y="30076"/>
                  <a:pt x="120053" y="52148"/>
                  <a:pt x="120053" y="79128"/>
                </a:cubicBezTo>
                <a:cubicBezTo>
                  <a:pt x="120053" y="79535"/>
                  <a:pt x="120053" y="79941"/>
                  <a:pt x="120053" y="80348"/>
                </a:cubicBezTo>
                <a:cubicBezTo>
                  <a:pt x="119927" y="85881"/>
                  <a:pt x="115332" y="90227"/>
                  <a:pt x="109798" y="90102"/>
                </a:cubicBezTo>
                <a:cubicBezTo>
                  <a:pt x="104264" y="89977"/>
                  <a:pt x="99919" y="85381"/>
                  <a:pt x="100044" y="79847"/>
                </a:cubicBezTo>
                <a:cubicBezTo>
                  <a:pt x="100044" y="79597"/>
                  <a:pt x="100044" y="79378"/>
                  <a:pt x="100044" y="79128"/>
                </a:cubicBezTo>
                <a:cubicBezTo>
                  <a:pt x="100044" y="68593"/>
                  <a:pt x="94416" y="59338"/>
                  <a:pt x="86038" y="54242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9" name="Text 57"/>
          <p:cNvSpPr/>
          <p:nvPr/>
        </p:nvSpPr>
        <p:spPr>
          <a:xfrm>
            <a:off x="8456440" y="4207769"/>
            <a:ext cx="3308114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 Access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55612" y="4531615"/>
            <a:ext cx="3422238" cy="789975"/>
          </a:xfrm>
          <a:custGeom>
            <a:avLst/>
            <a:gdLst/>
            <a:ahLst/>
            <a:cxnLst/>
            <a:rect l="l" t="t" r="r" b="b"/>
            <a:pathLst>
              <a:path w="3422238" h="789975">
                <a:moveTo>
                  <a:pt x="71145" y="0"/>
                </a:moveTo>
                <a:lnTo>
                  <a:pt x="3351093" y="0"/>
                </a:lnTo>
                <a:cubicBezTo>
                  <a:pt x="3390385" y="0"/>
                  <a:pt x="3422238" y="31853"/>
                  <a:pt x="3422238" y="71145"/>
                </a:cubicBezTo>
                <a:lnTo>
                  <a:pt x="3422238" y="718830"/>
                </a:lnTo>
                <a:cubicBezTo>
                  <a:pt x="3422238" y="758122"/>
                  <a:pt x="3390385" y="789975"/>
                  <a:pt x="3351093" y="789975"/>
                </a:cubicBezTo>
                <a:lnTo>
                  <a:pt x="71145" y="789975"/>
                </a:lnTo>
                <a:cubicBezTo>
                  <a:pt x="31879" y="789975"/>
                  <a:pt x="0" y="758096"/>
                  <a:pt x="0" y="718830"/>
                </a:cubicBezTo>
                <a:lnTo>
                  <a:pt x="0" y="71145"/>
                </a:lnTo>
                <a:cubicBezTo>
                  <a:pt x="0" y="31853"/>
                  <a:pt x="31853" y="0"/>
                  <a:pt x="71145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030" y="4642031"/>
            <a:ext cx="326365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Repository URL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6030" y="4855457"/>
            <a:ext cx="3263650" cy="355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github.com/moonboyknm/Pragna1B_Custom_Kernel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59416" y="5620980"/>
            <a:ext cx="11470203" cy="878903"/>
          </a:xfrm>
          <a:custGeom>
            <a:avLst/>
            <a:gdLst/>
            <a:ahLst/>
            <a:cxnLst/>
            <a:rect l="l" t="t" r="r" b="b"/>
            <a:pathLst>
              <a:path w="11470203" h="878903">
                <a:moveTo>
                  <a:pt x="106716" y="0"/>
                </a:moveTo>
                <a:lnTo>
                  <a:pt x="11363486" y="0"/>
                </a:lnTo>
                <a:cubicBezTo>
                  <a:pt x="11422424" y="0"/>
                  <a:pt x="11470203" y="47779"/>
                  <a:pt x="11470203" y="106716"/>
                </a:cubicBezTo>
                <a:lnTo>
                  <a:pt x="11470203" y="772187"/>
                </a:lnTo>
                <a:cubicBezTo>
                  <a:pt x="11470203" y="831124"/>
                  <a:pt x="11422424" y="878903"/>
                  <a:pt x="11363486" y="878903"/>
                </a:cubicBezTo>
                <a:lnTo>
                  <a:pt x="106716" y="878903"/>
                </a:lnTo>
                <a:cubicBezTo>
                  <a:pt x="47779" y="878903"/>
                  <a:pt x="0" y="831124"/>
                  <a:pt x="0" y="772187"/>
                </a:cubicBezTo>
                <a:lnTo>
                  <a:pt x="0" y="106716"/>
                </a:lnTo>
                <a:cubicBezTo>
                  <a:pt x="0" y="47818"/>
                  <a:pt x="47818" y="0"/>
                  <a:pt x="106716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0977" y="5925552"/>
            <a:ext cx="266783" cy="266783"/>
          </a:xfrm>
          <a:custGeom>
            <a:avLst/>
            <a:gdLst/>
            <a:ahLst/>
            <a:cxnLst/>
            <a:rect l="l" t="t" r="r" b="b"/>
            <a:pathLst>
              <a:path w="266783" h="266783">
                <a:moveTo>
                  <a:pt x="34338" y="119063"/>
                </a:moveTo>
                <a:cubicBezTo>
                  <a:pt x="41268" y="70604"/>
                  <a:pt x="83005" y="33348"/>
                  <a:pt x="133392" y="33348"/>
                </a:cubicBezTo>
                <a:cubicBezTo>
                  <a:pt x="161008" y="33348"/>
                  <a:pt x="186019" y="44551"/>
                  <a:pt x="204152" y="62632"/>
                </a:cubicBezTo>
                <a:cubicBezTo>
                  <a:pt x="204256" y="62736"/>
                  <a:pt x="204360" y="62840"/>
                  <a:pt x="204464" y="62944"/>
                </a:cubicBezTo>
                <a:lnTo>
                  <a:pt x="208425" y="66696"/>
                </a:lnTo>
                <a:lnTo>
                  <a:pt x="183466" y="66696"/>
                </a:lnTo>
                <a:cubicBezTo>
                  <a:pt x="174243" y="66696"/>
                  <a:pt x="166792" y="74147"/>
                  <a:pt x="166792" y="83370"/>
                </a:cubicBezTo>
                <a:cubicBezTo>
                  <a:pt x="166792" y="92593"/>
                  <a:pt x="174243" y="100044"/>
                  <a:pt x="183466" y="100044"/>
                </a:cubicBezTo>
                <a:lnTo>
                  <a:pt x="250162" y="100044"/>
                </a:lnTo>
                <a:cubicBezTo>
                  <a:pt x="259384" y="100044"/>
                  <a:pt x="266835" y="92593"/>
                  <a:pt x="266835" y="83370"/>
                </a:cubicBezTo>
                <a:lnTo>
                  <a:pt x="266835" y="16674"/>
                </a:lnTo>
                <a:cubicBezTo>
                  <a:pt x="266835" y="7451"/>
                  <a:pt x="259384" y="0"/>
                  <a:pt x="250162" y="0"/>
                </a:cubicBezTo>
                <a:cubicBezTo>
                  <a:pt x="240939" y="0"/>
                  <a:pt x="233488" y="7451"/>
                  <a:pt x="233488" y="16674"/>
                </a:cubicBezTo>
                <a:lnTo>
                  <a:pt x="233488" y="44499"/>
                </a:lnTo>
                <a:lnTo>
                  <a:pt x="227600" y="38923"/>
                </a:lnTo>
                <a:cubicBezTo>
                  <a:pt x="203474" y="14902"/>
                  <a:pt x="170127" y="0"/>
                  <a:pt x="133392" y="0"/>
                </a:cubicBezTo>
                <a:cubicBezTo>
                  <a:pt x="66175" y="0"/>
                  <a:pt x="10578" y="49709"/>
                  <a:pt x="1355" y="114373"/>
                </a:cubicBezTo>
                <a:cubicBezTo>
                  <a:pt x="52" y="123492"/>
                  <a:pt x="6357" y="131933"/>
                  <a:pt x="15476" y="133235"/>
                </a:cubicBezTo>
                <a:cubicBezTo>
                  <a:pt x="24594" y="134538"/>
                  <a:pt x="33035" y="128181"/>
                  <a:pt x="34338" y="119115"/>
                </a:cubicBezTo>
                <a:close/>
                <a:moveTo>
                  <a:pt x="265429" y="152410"/>
                </a:moveTo>
                <a:cubicBezTo>
                  <a:pt x="266731" y="143292"/>
                  <a:pt x="260374" y="134851"/>
                  <a:pt x="251308" y="133548"/>
                </a:cubicBezTo>
                <a:cubicBezTo>
                  <a:pt x="242241" y="132245"/>
                  <a:pt x="233748" y="138602"/>
                  <a:pt x="232445" y="147669"/>
                </a:cubicBezTo>
                <a:cubicBezTo>
                  <a:pt x="225515" y="196127"/>
                  <a:pt x="183778" y="233383"/>
                  <a:pt x="133392" y="233383"/>
                </a:cubicBezTo>
                <a:cubicBezTo>
                  <a:pt x="105775" y="233383"/>
                  <a:pt x="80764" y="222181"/>
                  <a:pt x="62632" y="204100"/>
                </a:cubicBezTo>
                <a:cubicBezTo>
                  <a:pt x="62527" y="203995"/>
                  <a:pt x="62423" y="203891"/>
                  <a:pt x="62319" y="203787"/>
                </a:cubicBezTo>
                <a:lnTo>
                  <a:pt x="58359" y="200035"/>
                </a:lnTo>
                <a:lnTo>
                  <a:pt x="83318" y="200035"/>
                </a:lnTo>
                <a:cubicBezTo>
                  <a:pt x="92540" y="200035"/>
                  <a:pt x="99992" y="192584"/>
                  <a:pt x="99992" y="183361"/>
                </a:cubicBezTo>
                <a:cubicBezTo>
                  <a:pt x="99992" y="174139"/>
                  <a:pt x="92540" y="166688"/>
                  <a:pt x="83318" y="166688"/>
                </a:cubicBezTo>
                <a:lnTo>
                  <a:pt x="16674" y="166740"/>
                </a:lnTo>
                <a:cubicBezTo>
                  <a:pt x="12245" y="166740"/>
                  <a:pt x="7972" y="168511"/>
                  <a:pt x="4846" y="171690"/>
                </a:cubicBezTo>
                <a:cubicBezTo>
                  <a:pt x="1720" y="174868"/>
                  <a:pt x="-52" y="179089"/>
                  <a:pt x="0" y="183570"/>
                </a:cubicBezTo>
                <a:lnTo>
                  <a:pt x="521" y="249745"/>
                </a:lnTo>
                <a:cubicBezTo>
                  <a:pt x="573" y="258967"/>
                  <a:pt x="8129" y="266367"/>
                  <a:pt x="17351" y="266262"/>
                </a:cubicBezTo>
                <a:cubicBezTo>
                  <a:pt x="26574" y="266158"/>
                  <a:pt x="33973" y="258655"/>
                  <a:pt x="33869" y="249432"/>
                </a:cubicBezTo>
                <a:lnTo>
                  <a:pt x="33661" y="222597"/>
                </a:lnTo>
                <a:lnTo>
                  <a:pt x="39236" y="227860"/>
                </a:lnTo>
                <a:cubicBezTo>
                  <a:pt x="63361" y="251881"/>
                  <a:pt x="96657" y="266783"/>
                  <a:pt x="133392" y="266783"/>
                </a:cubicBezTo>
                <a:cubicBezTo>
                  <a:pt x="200609" y="266783"/>
                  <a:pt x="256206" y="217074"/>
                  <a:pt x="265429" y="152410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65" name="Text 63"/>
          <p:cNvSpPr/>
          <p:nvPr/>
        </p:nvSpPr>
        <p:spPr>
          <a:xfrm>
            <a:off x="981170" y="5766967"/>
            <a:ext cx="10786941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Control Best Practices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84875" y="6090813"/>
            <a:ext cx="1163472" cy="256408"/>
          </a:xfrm>
          <a:custGeom>
            <a:avLst/>
            <a:gdLst/>
            <a:ahLst/>
            <a:cxnLst/>
            <a:rect l="l" t="t" r="r" b="b"/>
            <a:pathLst>
              <a:path w="1163472" h="256408">
                <a:moveTo>
                  <a:pt x="71143" y="0"/>
                </a:moveTo>
                <a:lnTo>
                  <a:pt x="1092329" y="0"/>
                </a:lnTo>
                <a:cubicBezTo>
                  <a:pt x="1131620" y="0"/>
                  <a:pt x="1163472" y="31852"/>
                  <a:pt x="1163472" y="71143"/>
                </a:cubicBezTo>
                <a:lnTo>
                  <a:pt x="1163472" y="185265"/>
                </a:lnTo>
                <a:cubicBezTo>
                  <a:pt x="1163472" y="224557"/>
                  <a:pt x="1131620" y="256408"/>
                  <a:pt x="1092329" y="256408"/>
                </a:cubicBezTo>
                <a:lnTo>
                  <a:pt x="71143" y="256408"/>
                </a:lnTo>
                <a:cubicBezTo>
                  <a:pt x="31852" y="256408"/>
                  <a:pt x="0" y="224557"/>
                  <a:pt x="0" y="185265"/>
                </a:cubicBezTo>
                <a:lnTo>
                  <a:pt x="0" y="71143"/>
                </a:lnTo>
                <a:cubicBezTo>
                  <a:pt x="0" y="31852"/>
                  <a:pt x="31852" y="0"/>
                  <a:pt x="71143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1170" y="6087107"/>
            <a:ext cx="1218311" cy="248998"/>
          </a:xfrm>
          <a:prstGeom prst="rect">
            <a:avLst/>
          </a:prstGeom>
          <a:noFill/>
          <a:ln/>
        </p:spPr>
        <p:txBody>
          <a:bodyPr wrap="square" lIns="106713" tIns="35571" rIns="106713" bIns="35571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commits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2228975" y="6090813"/>
            <a:ext cx="1483612" cy="256408"/>
          </a:xfrm>
          <a:custGeom>
            <a:avLst/>
            <a:gdLst/>
            <a:ahLst/>
            <a:cxnLst/>
            <a:rect l="l" t="t" r="r" b="b"/>
            <a:pathLst>
              <a:path w="1483612" h="256408">
                <a:moveTo>
                  <a:pt x="71143" y="0"/>
                </a:moveTo>
                <a:lnTo>
                  <a:pt x="1412469" y="0"/>
                </a:lnTo>
                <a:cubicBezTo>
                  <a:pt x="1451760" y="0"/>
                  <a:pt x="1483612" y="31852"/>
                  <a:pt x="1483612" y="71143"/>
                </a:cubicBezTo>
                <a:lnTo>
                  <a:pt x="1483612" y="185265"/>
                </a:lnTo>
                <a:cubicBezTo>
                  <a:pt x="1483612" y="224557"/>
                  <a:pt x="1451760" y="256408"/>
                  <a:pt x="1412469" y="256408"/>
                </a:cubicBezTo>
                <a:lnTo>
                  <a:pt x="71143" y="256408"/>
                </a:lnTo>
                <a:cubicBezTo>
                  <a:pt x="31852" y="256408"/>
                  <a:pt x="0" y="224557"/>
                  <a:pt x="0" y="185265"/>
                </a:cubicBezTo>
                <a:lnTo>
                  <a:pt x="0" y="71143"/>
                </a:lnTo>
                <a:cubicBezTo>
                  <a:pt x="0" y="31852"/>
                  <a:pt x="31852" y="0"/>
                  <a:pt x="71143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25270" y="6087107"/>
            <a:ext cx="1538451" cy="248998"/>
          </a:xfrm>
          <a:prstGeom prst="rect">
            <a:avLst/>
          </a:prstGeom>
          <a:noFill/>
          <a:ln/>
        </p:spPr>
        <p:txBody>
          <a:bodyPr wrap="square" lIns="106713" tIns="35571" rIns="106713" bIns="35571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messages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793956" y="6090813"/>
            <a:ext cx="1243507" cy="256408"/>
          </a:xfrm>
          <a:custGeom>
            <a:avLst/>
            <a:gdLst/>
            <a:ahLst/>
            <a:cxnLst/>
            <a:rect l="l" t="t" r="r" b="b"/>
            <a:pathLst>
              <a:path w="1243507" h="256408">
                <a:moveTo>
                  <a:pt x="71143" y="0"/>
                </a:moveTo>
                <a:lnTo>
                  <a:pt x="1172364" y="0"/>
                </a:lnTo>
                <a:cubicBezTo>
                  <a:pt x="1211655" y="0"/>
                  <a:pt x="1243507" y="31852"/>
                  <a:pt x="1243507" y="71143"/>
                </a:cubicBezTo>
                <a:lnTo>
                  <a:pt x="1243507" y="185265"/>
                </a:lnTo>
                <a:cubicBezTo>
                  <a:pt x="1243507" y="224557"/>
                  <a:pt x="1211655" y="256408"/>
                  <a:pt x="1172364" y="256408"/>
                </a:cubicBezTo>
                <a:lnTo>
                  <a:pt x="71143" y="256408"/>
                </a:lnTo>
                <a:cubicBezTo>
                  <a:pt x="31852" y="256408"/>
                  <a:pt x="0" y="224557"/>
                  <a:pt x="0" y="185265"/>
                </a:cubicBezTo>
                <a:lnTo>
                  <a:pt x="0" y="71143"/>
                </a:lnTo>
                <a:cubicBezTo>
                  <a:pt x="0" y="31852"/>
                  <a:pt x="31852" y="0"/>
                  <a:pt x="71143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90251" y="6087107"/>
            <a:ext cx="1298346" cy="248998"/>
          </a:xfrm>
          <a:prstGeom prst="rect">
            <a:avLst/>
          </a:prstGeom>
          <a:noFill/>
          <a:ln/>
        </p:spPr>
        <p:txBody>
          <a:bodyPr wrap="square" lIns="106713" tIns="35571" rIns="106713" bIns="35571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branches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115126" y="6090813"/>
            <a:ext cx="1385791" cy="256408"/>
          </a:xfrm>
          <a:custGeom>
            <a:avLst/>
            <a:gdLst/>
            <a:ahLst/>
            <a:cxnLst/>
            <a:rect l="l" t="t" r="r" b="b"/>
            <a:pathLst>
              <a:path w="1385791" h="256408">
                <a:moveTo>
                  <a:pt x="71143" y="0"/>
                </a:moveTo>
                <a:lnTo>
                  <a:pt x="1314648" y="0"/>
                </a:lnTo>
                <a:cubicBezTo>
                  <a:pt x="1353940" y="0"/>
                  <a:pt x="1385791" y="31852"/>
                  <a:pt x="1385791" y="71143"/>
                </a:cubicBezTo>
                <a:lnTo>
                  <a:pt x="1385791" y="185265"/>
                </a:lnTo>
                <a:cubicBezTo>
                  <a:pt x="1385791" y="224557"/>
                  <a:pt x="1353940" y="256408"/>
                  <a:pt x="1314648" y="256408"/>
                </a:cubicBezTo>
                <a:lnTo>
                  <a:pt x="71143" y="256408"/>
                </a:lnTo>
                <a:cubicBezTo>
                  <a:pt x="31852" y="256408"/>
                  <a:pt x="0" y="224557"/>
                  <a:pt x="0" y="185265"/>
                </a:cubicBezTo>
                <a:lnTo>
                  <a:pt x="0" y="71143"/>
                </a:lnTo>
                <a:cubicBezTo>
                  <a:pt x="0" y="31852"/>
                  <a:pt x="31852" y="0"/>
                  <a:pt x="71143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11421" y="6087107"/>
            <a:ext cx="1440630" cy="248998"/>
          </a:xfrm>
          <a:prstGeom prst="rect">
            <a:avLst/>
          </a:prstGeom>
          <a:noFill/>
          <a:ln/>
        </p:spPr>
        <p:txBody>
          <a:bodyPr wrap="square" lIns="106713" tIns="35571" rIns="106713" bIns="35571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 builds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of4g4dxkrf6s/code_optimization_visual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>
                  <a:alpha val="90000"/>
                </a:srgbClr>
              </a:gs>
              <a:gs pos="50000">
                <a:srgbClr val="0D1117">
                  <a:alpha val="95000"/>
                </a:srgbClr>
              </a:gs>
              <a:gs pos="100000">
                <a:srgbClr val="3FB950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20000"/>
                </a:srgbClr>
              </a:gs>
              <a:gs pos="100000">
                <a:srgbClr val="D2A8FF">
                  <a:alpha val="20000"/>
                </a:srgbClr>
              </a:gs>
            </a:gsLst>
            <a:lin ang="2700000" scaled="1"/>
          </a:gra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3400" y="55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81000"/>
            <a:ext cx="569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7B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Post-Midterm Roadmap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571500"/>
            <a:ext cx="5800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Work: The Custom Kernel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969" y="1108869"/>
            <a:ext cx="11418887" cy="1189037"/>
          </a:xfrm>
          <a:custGeom>
            <a:avLst/>
            <a:gdLst/>
            <a:ahLst/>
            <a:cxnLst/>
            <a:rect l="l" t="t" r="r" b="b"/>
            <a:pathLst>
              <a:path w="11418887" h="1189037">
                <a:moveTo>
                  <a:pt x="114302" y="0"/>
                </a:moveTo>
                <a:lnTo>
                  <a:pt x="11304585" y="0"/>
                </a:lnTo>
                <a:cubicBezTo>
                  <a:pt x="11367713" y="0"/>
                  <a:pt x="11418887" y="51175"/>
                  <a:pt x="11418887" y="114302"/>
                </a:cubicBezTo>
                <a:lnTo>
                  <a:pt x="11418887" y="1074735"/>
                </a:lnTo>
                <a:cubicBezTo>
                  <a:pt x="11418887" y="1137863"/>
                  <a:pt x="11367713" y="1189037"/>
                  <a:pt x="11304585" y="1189037"/>
                </a:cubicBezTo>
                <a:lnTo>
                  <a:pt x="114302" y="1189037"/>
                </a:lnTo>
                <a:cubicBezTo>
                  <a:pt x="51175" y="1189037"/>
                  <a:pt x="0" y="1137863"/>
                  <a:pt x="0" y="1074735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306" y="1440653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3737" y="15890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11" name="Text 8"/>
          <p:cNvSpPr/>
          <p:nvPr/>
        </p:nvSpPr>
        <p:spPr>
          <a:xfrm>
            <a:off x="1227137" y="1265234"/>
            <a:ext cx="866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27137" y="1646234"/>
            <a:ext cx="8629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C++ CUDA kernel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beat the Triton baseline by targeting the identified bottlenecks: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B72"/>
                </a:solidFill>
                <a:highlight>
                  <a:srgbClr val="FF7B7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 cache latency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7B72"/>
                </a:solidFill>
                <a:highlight>
                  <a:srgbClr val="FF7B72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instruction fusion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04095" y="1360484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Speedup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823133" y="1589084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1.3-1.5x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969" y="2458247"/>
            <a:ext cx="3703637" cy="2932112"/>
          </a:xfrm>
          <a:custGeom>
            <a:avLst/>
            <a:gdLst/>
            <a:ahLst/>
            <a:cxnLst/>
            <a:rect l="l" t="t" r="r" b="b"/>
            <a:pathLst>
              <a:path w="3703637" h="2932112">
                <a:moveTo>
                  <a:pt x="114294" y="0"/>
                </a:moveTo>
                <a:lnTo>
                  <a:pt x="3589344" y="0"/>
                </a:lnTo>
                <a:cubicBezTo>
                  <a:pt x="3652466" y="0"/>
                  <a:pt x="3703637" y="51171"/>
                  <a:pt x="3703637" y="114294"/>
                </a:cubicBezTo>
                <a:lnTo>
                  <a:pt x="3703637" y="2817819"/>
                </a:lnTo>
                <a:cubicBezTo>
                  <a:pt x="3703637" y="2880941"/>
                  <a:pt x="3652466" y="2932112"/>
                  <a:pt x="3589344" y="2932112"/>
                </a:cubicBezTo>
                <a:lnTo>
                  <a:pt x="114294" y="2932112"/>
                </a:lnTo>
                <a:cubicBezTo>
                  <a:pt x="51171" y="2932112"/>
                  <a:pt x="0" y="2880941"/>
                  <a:pt x="0" y="2817819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5306" y="261858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532" y="269081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12837" y="2709863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Manual Coalescing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5306" y="3190081"/>
            <a:ext cx="3379787" cy="1208087"/>
          </a:xfrm>
          <a:custGeom>
            <a:avLst/>
            <a:gdLst/>
            <a:ahLst/>
            <a:cxnLst/>
            <a:rect l="l" t="t" r="r" b="b"/>
            <a:pathLst>
              <a:path w="3379787" h="1208087">
                <a:moveTo>
                  <a:pt x="76194" y="0"/>
                </a:moveTo>
                <a:lnTo>
                  <a:pt x="3303593" y="0"/>
                </a:lnTo>
                <a:cubicBezTo>
                  <a:pt x="3345646" y="0"/>
                  <a:pt x="3379787" y="34141"/>
                  <a:pt x="3379787" y="76194"/>
                </a:cubicBezTo>
                <a:lnTo>
                  <a:pt x="3379787" y="1131893"/>
                </a:lnTo>
                <a:cubicBezTo>
                  <a:pt x="3379787" y="1173946"/>
                  <a:pt x="3345646" y="1208087"/>
                  <a:pt x="3303593" y="1208087"/>
                </a:cubicBezTo>
                <a:lnTo>
                  <a:pt x="76194" y="1208087"/>
                </a:lnTo>
                <a:cubicBezTo>
                  <a:pt x="34141" y="1208087"/>
                  <a:pt x="0" y="1173946"/>
                  <a:pt x="0" y="1131893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3575" y="3308347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float4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vectorized loads to optimize memory transactions beyond Triton's defaults.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3575" y="3825878"/>
            <a:ext cx="3143250" cy="457200"/>
          </a:xfrm>
          <a:custGeom>
            <a:avLst/>
            <a:gdLst/>
            <a:ahLst/>
            <a:cxnLst/>
            <a:rect l="l" t="t" r="r" b="b"/>
            <a:pathLst>
              <a:path w="3143250" h="457200">
                <a:moveTo>
                  <a:pt x="38098" y="0"/>
                </a:moveTo>
                <a:lnTo>
                  <a:pt x="3105152" y="0"/>
                </a:lnTo>
                <a:cubicBezTo>
                  <a:pt x="3126193" y="0"/>
                  <a:pt x="3143250" y="17057"/>
                  <a:pt x="3143250" y="38098"/>
                </a:cubicBezTo>
                <a:lnTo>
                  <a:pt x="3143250" y="419102"/>
                </a:lnTo>
                <a:cubicBezTo>
                  <a:pt x="3143250" y="440143"/>
                  <a:pt x="3126193" y="457200"/>
                  <a:pt x="310515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22" name="Text 19"/>
          <p:cNvSpPr/>
          <p:nvPr/>
        </p:nvSpPr>
        <p:spPr>
          <a:xfrm>
            <a:off x="739775" y="3910803"/>
            <a:ext cx="2096611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Vectorized load (128 bits)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9775" y="4054478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float4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= *(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float4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*)(x_ptr + offset);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0387" y="45481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5" name="Text 22"/>
          <p:cNvSpPr/>
          <p:nvPr/>
        </p:nvSpPr>
        <p:spPr>
          <a:xfrm>
            <a:off x="784225" y="4519613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4x memory throughput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0387" y="477678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27" name="Text 24"/>
          <p:cNvSpPr/>
          <p:nvPr/>
        </p:nvSpPr>
        <p:spPr>
          <a:xfrm>
            <a:off x="784225" y="474821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memory instructions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245769" y="2458247"/>
            <a:ext cx="3703637" cy="2932112"/>
          </a:xfrm>
          <a:custGeom>
            <a:avLst/>
            <a:gdLst/>
            <a:ahLst/>
            <a:cxnLst/>
            <a:rect l="l" t="t" r="r" b="b"/>
            <a:pathLst>
              <a:path w="3703637" h="2932112">
                <a:moveTo>
                  <a:pt x="114294" y="0"/>
                </a:moveTo>
                <a:lnTo>
                  <a:pt x="3589344" y="0"/>
                </a:lnTo>
                <a:cubicBezTo>
                  <a:pt x="3652466" y="0"/>
                  <a:pt x="3703637" y="51171"/>
                  <a:pt x="3703637" y="114294"/>
                </a:cubicBezTo>
                <a:lnTo>
                  <a:pt x="3703637" y="2817819"/>
                </a:lnTo>
                <a:cubicBezTo>
                  <a:pt x="3703637" y="2880941"/>
                  <a:pt x="3652466" y="2932112"/>
                  <a:pt x="3589344" y="2932112"/>
                </a:cubicBezTo>
                <a:lnTo>
                  <a:pt x="114294" y="2932112"/>
                </a:lnTo>
                <a:cubicBezTo>
                  <a:pt x="51171" y="2932112"/>
                  <a:pt x="0" y="2880941"/>
                  <a:pt x="0" y="2817819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6106" y="261858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65332" y="269081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973638" y="2709863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Shared Memory Tiling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06106" y="3190081"/>
            <a:ext cx="3379787" cy="1360487"/>
          </a:xfrm>
          <a:custGeom>
            <a:avLst/>
            <a:gdLst/>
            <a:ahLst/>
            <a:cxnLst/>
            <a:rect l="l" t="t" r="r" b="b"/>
            <a:pathLst>
              <a:path w="3379787" h="1360487">
                <a:moveTo>
                  <a:pt x="76201" y="0"/>
                </a:moveTo>
                <a:lnTo>
                  <a:pt x="3303587" y="0"/>
                </a:lnTo>
                <a:cubicBezTo>
                  <a:pt x="3345671" y="0"/>
                  <a:pt x="3379787" y="34116"/>
                  <a:pt x="3379787" y="76201"/>
                </a:cubicBezTo>
                <a:lnTo>
                  <a:pt x="3379787" y="1284287"/>
                </a:lnTo>
                <a:cubicBezTo>
                  <a:pt x="3379787" y="1326371"/>
                  <a:pt x="3345671" y="1360487"/>
                  <a:pt x="3303587" y="1360487"/>
                </a:cubicBezTo>
                <a:lnTo>
                  <a:pt x="76201" y="1360487"/>
                </a:lnTo>
                <a:cubicBezTo>
                  <a:pt x="34116" y="1360487"/>
                  <a:pt x="0" y="1326371"/>
                  <a:pt x="0" y="1284287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4375" y="3308347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Explicitly manage SRAM to reduce those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45.9% L1TEX stalls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software-controlled caching.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524375" y="3817934"/>
            <a:ext cx="3143250" cy="609600"/>
          </a:xfrm>
          <a:custGeom>
            <a:avLst/>
            <a:gdLst/>
            <a:ahLst/>
            <a:cxnLst/>
            <a:rect l="l" t="t" r="r" b="b"/>
            <a:pathLst>
              <a:path w="3143250" h="609600">
                <a:moveTo>
                  <a:pt x="38100" y="0"/>
                </a:moveTo>
                <a:lnTo>
                  <a:pt x="3105150" y="0"/>
                </a:lnTo>
                <a:cubicBezTo>
                  <a:pt x="3126178" y="0"/>
                  <a:pt x="3143250" y="17072"/>
                  <a:pt x="3143250" y="38100"/>
                </a:cubicBezTo>
                <a:lnTo>
                  <a:pt x="3143250" y="571500"/>
                </a:lnTo>
                <a:cubicBezTo>
                  <a:pt x="3143250" y="592528"/>
                  <a:pt x="3126178" y="609600"/>
                  <a:pt x="31051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35" name="Text 32"/>
          <p:cNvSpPr/>
          <p:nvPr/>
        </p:nvSpPr>
        <p:spPr>
          <a:xfrm>
            <a:off x="4600575" y="3894134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__shared__float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tile[TILE_SIZE];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00575" y="4046534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tile[threadIdx.x] = global_data;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600575" y="4198934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D2A8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__syncthreads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21188" y="4692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9" name="Text 36"/>
          <p:cNvSpPr/>
          <p:nvPr/>
        </p:nvSpPr>
        <p:spPr>
          <a:xfrm>
            <a:off x="4645025" y="4664078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L1 cache pressure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21188" y="49212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1" name="Text 38"/>
          <p:cNvSpPr/>
          <p:nvPr/>
        </p:nvSpPr>
        <p:spPr>
          <a:xfrm>
            <a:off x="4645025" y="4892678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data access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06569" y="2458247"/>
            <a:ext cx="3703637" cy="2932112"/>
          </a:xfrm>
          <a:custGeom>
            <a:avLst/>
            <a:gdLst/>
            <a:ahLst/>
            <a:cxnLst/>
            <a:rect l="l" t="t" r="r" b="b"/>
            <a:pathLst>
              <a:path w="3703637" h="2932112">
                <a:moveTo>
                  <a:pt x="114294" y="0"/>
                </a:moveTo>
                <a:lnTo>
                  <a:pt x="3589344" y="0"/>
                </a:lnTo>
                <a:cubicBezTo>
                  <a:pt x="3652466" y="0"/>
                  <a:pt x="3703637" y="51171"/>
                  <a:pt x="3703637" y="114294"/>
                </a:cubicBezTo>
                <a:lnTo>
                  <a:pt x="3703637" y="2817819"/>
                </a:lnTo>
                <a:cubicBezTo>
                  <a:pt x="3703637" y="2880941"/>
                  <a:pt x="3652466" y="2932112"/>
                  <a:pt x="3589344" y="2932112"/>
                </a:cubicBezTo>
                <a:lnTo>
                  <a:pt x="114294" y="2932112"/>
                </a:lnTo>
                <a:cubicBezTo>
                  <a:pt x="51171" y="2932112"/>
                  <a:pt x="0" y="2880941"/>
                  <a:pt x="0" y="2817819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906" y="261858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26132" y="2690813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834438" y="2709863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Inline PTX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66906" y="3190081"/>
            <a:ext cx="3379787" cy="1512887"/>
          </a:xfrm>
          <a:custGeom>
            <a:avLst/>
            <a:gdLst/>
            <a:ahLst/>
            <a:cxnLst/>
            <a:rect l="l" t="t" r="r" b="b"/>
            <a:pathLst>
              <a:path w="3379787" h="1512887">
                <a:moveTo>
                  <a:pt x="76204" y="0"/>
                </a:moveTo>
                <a:lnTo>
                  <a:pt x="3303583" y="0"/>
                </a:lnTo>
                <a:cubicBezTo>
                  <a:pt x="3345670" y="0"/>
                  <a:pt x="3379787" y="34118"/>
                  <a:pt x="3379787" y="76204"/>
                </a:cubicBezTo>
                <a:lnTo>
                  <a:pt x="3379787" y="1436683"/>
                </a:lnTo>
                <a:cubicBezTo>
                  <a:pt x="3379787" y="1478770"/>
                  <a:pt x="3345670" y="1512887"/>
                  <a:pt x="3303583" y="1512887"/>
                </a:cubicBezTo>
                <a:lnTo>
                  <a:pt x="76204" y="1512887"/>
                </a:lnTo>
                <a:cubicBezTo>
                  <a:pt x="34118" y="1512887"/>
                  <a:pt x="0" y="1478770"/>
                  <a:pt x="0" y="1436683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85175" y="3308347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Fused Multiply-Add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instructions to close the 33% compute gap identified in profiling.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385175" y="3817934"/>
            <a:ext cx="3143250" cy="762000"/>
          </a:xfrm>
          <a:custGeom>
            <a:avLst/>
            <a:gdLst/>
            <a:ahLst/>
            <a:cxnLst/>
            <a:rect l="l" t="t" r="r" b="b"/>
            <a:pathLst>
              <a:path w="3143250" h="762000">
                <a:moveTo>
                  <a:pt x="38100" y="0"/>
                </a:moveTo>
                <a:lnTo>
                  <a:pt x="3105150" y="0"/>
                </a:lnTo>
                <a:cubicBezTo>
                  <a:pt x="3126178" y="0"/>
                  <a:pt x="3143250" y="17072"/>
                  <a:pt x="3143250" y="38100"/>
                </a:cubicBezTo>
                <a:lnTo>
                  <a:pt x="3143250" y="723900"/>
                </a:lnTo>
                <a:cubicBezTo>
                  <a:pt x="3143250" y="744928"/>
                  <a:pt x="3126178" y="762000"/>
                  <a:pt x="3105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49" name="Text 46"/>
          <p:cNvSpPr/>
          <p:nvPr/>
        </p:nvSpPr>
        <p:spPr>
          <a:xfrm>
            <a:off x="8461375" y="3902869"/>
            <a:ext cx="1604328" cy="13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Inline PTX assembly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461375" y="4046534"/>
            <a:ext cx="304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asm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"fma.rn.f32 %0, %1, %2, %3;"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613775" y="4198934"/>
            <a:ext cx="2895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"=f"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(result)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613775" y="4351334"/>
            <a:ext cx="2895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"f"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(x),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"f"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(y), 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A5D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"f"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C9D1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(z));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81987" y="48450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4" name="Text 51"/>
          <p:cNvSpPr/>
          <p:nvPr/>
        </p:nvSpPr>
        <p:spPr>
          <a:xfrm>
            <a:off x="8505825" y="4816478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FMA usage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281987" y="50736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56" name="Text 53"/>
          <p:cNvSpPr/>
          <p:nvPr/>
        </p:nvSpPr>
        <p:spPr>
          <a:xfrm>
            <a:off x="8505825" y="5045078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33% compute improvement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969" y="404019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7688" y="552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969" y="1108869"/>
            <a:ext cx="5627687" cy="1684337"/>
          </a:xfrm>
          <a:custGeom>
            <a:avLst/>
            <a:gdLst/>
            <a:ahLst/>
            <a:cxnLst/>
            <a:rect l="l" t="t" r="r" b="b"/>
            <a:pathLst>
              <a:path w="5627687" h="1684337">
                <a:moveTo>
                  <a:pt x="114299" y="0"/>
                </a:moveTo>
                <a:lnTo>
                  <a:pt x="5513388" y="0"/>
                </a:lnTo>
                <a:cubicBezTo>
                  <a:pt x="5576514" y="0"/>
                  <a:pt x="5627687" y="51173"/>
                  <a:pt x="5627687" y="114299"/>
                </a:cubicBezTo>
                <a:lnTo>
                  <a:pt x="5627687" y="1570038"/>
                </a:lnTo>
                <a:cubicBezTo>
                  <a:pt x="5627687" y="1633164"/>
                  <a:pt x="5576514" y="1684337"/>
                  <a:pt x="5513388" y="1684337"/>
                </a:cubicBezTo>
                <a:lnTo>
                  <a:pt x="114299" y="1684337"/>
                </a:lnTo>
                <a:cubicBezTo>
                  <a:pt x="51173" y="1684337"/>
                  <a:pt x="0" y="1633164"/>
                  <a:pt x="0" y="157003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FB95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3FB950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306" y="1269203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687" y="13985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1112837" y="1360484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Achievement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337" y="1836734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set up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profiling environment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Arch Linux with all necessary tools and dependencies.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337" y="2408234"/>
            <a:ext cx="1028700" cy="228600"/>
          </a:xfrm>
          <a:custGeom>
            <a:avLst/>
            <a:gdLst/>
            <a:ahLst/>
            <a:cxnLst/>
            <a:rect l="l" t="t" r="r" b="b"/>
            <a:pathLst>
              <a:path w="1028700" h="228600">
                <a:moveTo>
                  <a:pt x="38101" y="0"/>
                </a:moveTo>
                <a:lnTo>
                  <a:pt x="990599" y="0"/>
                </a:lnTo>
                <a:cubicBezTo>
                  <a:pt x="1011642" y="0"/>
                  <a:pt x="1028700" y="17058"/>
                  <a:pt x="1028700" y="38101"/>
                </a:cubicBezTo>
                <a:lnTo>
                  <a:pt x="1028700" y="190499"/>
                </a:lnTo>
                <a:cubicBezTo>
                  <a:pt x="1028700" y="211542"/>
                  <a:pt x="1011642" y="228600"/>
                  <a:pt x="990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1337" y="2408234"/>
            <a:ext cx="1085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Nsight Compute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47984" y="2408234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190499"/>
                </a:lnTo>
                <a:cubicBezTo>
                  <a:pt x="781050" y="211542"/>
                  <a:pt x="763992" y="228600"/>
                  <a:pt x="742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47984" y="2408234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PyTorch 2.6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00630" y="2408234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00630" y="2408234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CUDA 12.4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969" y="2915447"/>
            <a:ext cx="5627687" cy="1893887"/>
          </a:xfrm>
          <a:custGeom>
            <a:avLst/>
            <a:gdLst/>
            <a:ahLst/>
            <a:cxnLst/>
            <a:rect l="l" t="t" r="r" b="b"/>
            <a:pathLst>
              <a:path w="5627687" h="1893887">
                <a:moveTo>
                  <a:pt x="114296" y="0"/>
                </a:moveTo>
                <a:lnTo>
                  <a:pt x="5513391" y="0"/>
                </a:lnTo>
                <a:cubicBezTo>
                  <a:pt x="5576515" y="0"/>
                  <a:pt x="5627687" y="51172"/>
                  <a:pt x="5627687" y="114296"/>
                </a:cubicBezTo>
                <a:lnTo>
                  <a:pt x="5627687" y="1779591"/>
                </a:lnTo>
                <a:cubicBezTo>
                  <a:pt x="5627687" y="1842715"/>
                  <a:pt x="5576515" y="1893887"/>
                  <a:pt x="5513391" y="1893887"/>
                </a:cubicBezTo>
                <a:lnTo>
                  <a:pt x="114296" y="1893887"/>
                </a:lnTo>
                <a:cubicBezTo>
                  <a:pt x="51172" y="1893887"/>
                  <a:pt x="0" y="1842715"/>
                  <a:pt x="0" y="1779591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306" y="3075781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687" y="3205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12837" y="3167063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Achievement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1337" y="3643313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Benchmarked Triton as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high-quality baseline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92% memory efficiency — a challenging target to beat.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5306" y="4218781"/>
            <a:ext cx="5313362" cy="427037"/>
          </a:xfrm>
          <a:custGeom>
            <a:avLst/>
            <a:gdLst/>
            <a:ahLst/>
            <a:cxnLst/>
            <a:rect l="l" t="t" r="r" b="b"/>
            <a:pathLst>
              <a:path w="5313362" h="427037">
                <a:moveTo>
                  <a:pt x="76201" y="0"/>
                </a:moveTo>
                <a:lnTo>
                  <a:pt x="5237162" y="0"/>
                </a:lnTo>
                <a:cubicBezTo>
                  <a:pt x="5279246" y="0"/>
                  <a:pt x="5313362" y="34116"/>
                  <a:pt x="5313362" y="76201"/>
                </a:cubicBezTo>
                <a:lnTo>
                  <a:pt x="5313362" y="350837"/>
                </a:lnTo>
                <a:cubicBezTo>
                  <a:pt x="5313362" y="392921"/>
                  <a:pt x="5279246" y="427037"/>
                  <a:pt x="5237162" y="427037"/>
                </a:cubicBezTo>
                <a:lnTo>
                  <a:pt x="76201" y="427037"/>
                </a:lnTo>
                <a:cubicBezTo>
                  <a:pt x="34144" y="427037"/>
                  <a:pt x="0" y="392893"/>
                  <a:pt x="0" y="350837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75" y="4337047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 Throughput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0171" y="4298947"/>
            <a:ext cx="67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92.34%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169" y="1108869"/>
            <a:ext cx="5627687" cy="2246312"/>
          </a:xfrm>
          <a:custGeom>
            <a:avLst/>
            <a:gdLst/>
            <a:ahLst/>
            <a:cxnLst/>
            <a:rect l="l" t="t" r="r" b="b"/>
            <a:pathLst>
              <a:path w="5627687" h="2246312">
                <a:moveTo>
                  <a:pt x="114292" y="0"/>
                </a:moveTo>
                <a:lnTo>
                  <a:pt x="5513395" y="0"/>
                </a:lnTo>
                <a:cubicBezTo>
                  <a:pt x="5576517" y="0"/>
                  <a:pt x="5627687" y="51170"/>
                  <a:pt x="5627687" y="114292"/>
                </a:cubicBezTo>
                <a:lnTo>
                  <a:pt x="5627687" y="2132020"/>
                </a:lnTo>
                <a:cubicBezTo>
                  <a:pt x="5627687" y="2195142"/>
                  <a:pt x="5576517" y="2246312"/>
                  <a:pt x="5513395" y="2246312"/>
                </a:cubicBezTo>
                <a:lnTo>
                  <a:pt x="114292" y="2246312"/>
                </a:lnTo>
                <a:cubicBezTo>
                  <a:pt x="51170" y="2246312"/>
                  <a:pt x="0" y="2195142"/>
                  <a:pt x="0" y="2132020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D2A8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D2A8FF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506" y="1269203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5887" y="13985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04037" y="1360484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Achievement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537" y="1836734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hardware-level bottlenecks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target in the next phase: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6506" y="2412203"/>
            <a:ext cx="5313362" cy="350837"/>
          </a:xfrm>
          <a:custGeom>
            <a:avLst/>
            <a:gdLst/>
            <a:ahLst/>
            <a:cxnLst/>
            <a:rect l="l" t="t" r="r" b="b"/>
            <a:pathLst>
              <a:path w="5313362" h="350837">
                <a:moveTo>
                  <a:pt x="76198" y="0"/>
                </a:moveTo>
                <a:lnTo>
                  <a:pt x="5237164" y="0"/>
                </a:lnTo>
                <a:cubicBezTo>
                  <a:pt x="5279247" y="0"/>
                  <a:pt x="5313362" y="34115"/>
                  <a:pt x="5313362" y="76198"/>
                </a:cubicBezTo>
                <a:lnTo>
                  <a:pt x="5313362" y="274639"/>
                </a:lnTo>
                <a:cubicBezTo>
                  <a:pt x="5313362" y="316722"/>
                  <a:pt x="5279247" y="350837"/>
                  <a:pt x="5237164" y="350837"/>
                </a:cubicBezTo>
                <a:lnTo>
                  <a:pt x="76198" y="350837"/>
                </a:lnTo>
                <a:cubicBezTo>
                  <a:pt x="34143" y="350837"/>
                  <a:pt x="0" y="316694"/>
                  <a:pt x="0" y="274639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6675" y="2492378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L1TEX Scoreboard Stalls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80127" y="2492378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45.9%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6506" y="2847181"/>
            <a:ext cx="5313362" cy="350837"/>
          </a:xfrm>
          <a:custGeom>
            <a:avLst/>
            <a:gdLst/>
            <a:ahLst/>
            <a:cxnLst/>
            <a:rect l="l" t="t" r="r" b="b"/>
            <a:pathLst>
              <a:path w="5313362" h="350837">
                <a:moveTo>
                  <a:pt x="76198" y="0"/>
                </a:moveTo>
                <a:lnTo>
                  <a:pt x="5237164" y="0"/>
                </a:lnTo>
                <a:cubicBezTo>
                  <a:pt x="5279247" y="0"/>
                  <a:pt x="5313362" y="34115"/>
                  <a:pt x="5313362" y="76198"/>
                </a:cubicBezTo>
                <a:lnTo>
                  <a:pt x="5313362" y="274639"/>
                </a:lnTo>
                <a:cubicBezTo>
                  <a:pt x="5313362" y="316722"/>
                  <a:pt x="5279247" y="350837"/>
                  <a:pt x="5237164" y="350837"/>
                </a:cubicBezTo>
                <a:lnTo>
                  <a:pt x="76198" y="350837"/>
                </a:lnTo>
                <a:cubicBezTo>
                  <a:pt x="34143" y="350837"/>
                  <a:pt x="0" y="316694"/>
                  <a:pt x="0" y="274639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6675" y="2927347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Non-Fused Instructions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93792" y="2927347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7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38%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6169" y="3480594"/>
            <a:ext cx="5627687" cy="1646237"/>
          </a:xfrm>
          <a:custGeom>
            <a:avLst/>
            <a:gdLst/>
            <a:ahLst/>
            <a:cxnLst/>
            <a:rect l="l" t="t" r="r" b="b"/>
            <a:pathLst>
              <a:path w="5627687" h="1646237">
                <a:moveTo>
                  <a:pt x="114298" y="0"/>
                </a:moveTo>
                <a:lnTo>
                  <a:pt x="5513389" y="0"/>
                </a:lnTo>
                <a:cubicBezTo>
                  <a:pt x="5576514" y="0"/>
                  <a:pt x="5627687" y="51173"/>
                  <a:pt x="5627687" y="114298"/>
                </a:cubicBezTo>
                <a:lnTo>
                  <a:pt x="5627687" y="1531939"/>
                </a:lnTo>
                <a:cubicBezTo>
                  <a:pt x="5627687" y="1595064"/>
                  <a:pt x="5576514" y="1646237"/>
                  <a:pt x="5513389" y="1646237"/>
                </a:cubicBezTo>
                <a:lnTo>
                  <a:pt x="114298" y="1646237"/>
                </a:lnTo>
                <a:cubicBezTo>
                  <a:pt x="51173" y="1646237"/>
                  <a:pt x="0" y="1595064"/>
                  <a:pt x="0" y="1531939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7B72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583">
            <a:solidFill>
              <a:srgbClr val="FF7B72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506" y="3640928"/>
            <a:ext cx="446087" cy="446087"/>
          </a:xfrm>
          <a:custGeom>
            <a:avLst/>
            <a:gdLst/>
            <a:ahLst/>
            <a:cxnLst/>
            <a:rect l="l" t="t" r="r" b="b"/>
            <a:pathLst>
              <a:path w="446087" h="446087">
                <a:moveTo>
                  <a:pt x="114301" y="0"/>
                </a:moveTo>
                <a:lnTo>
                  <a:pt x="331786" y="0"/>
                </a:lnTo>
                <a:cubicBezTo>
                  <a:pt x="394871" y="0"/>
                  <a:pt x="446087" y="51217"/>
                  <a:pt x="446087" y="114301"/>
                </a:cubicBezTo>
                <a:lnTo>
                  <a:pt x="446087" y="331786"/>
                </a:lnTo>
                <a:cubicBezTo>
                  <a:pt x="446087" y="394871"/>
                  <a:pt x="394871" y="446087"/>
                  <a:pt x="331786" y="446087"/>
                </a:cubicBezTo>
                <a:lnTo>
                  <a:pt x="114301" y="446087"/>
                </a:lnTo>
                <a:cubicBezTo>
                  <a:pt x="51217" y="446087"/>
                  <a:pt x="0" y="394871"/>
                  <a:pt x="0" y="331786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7B72">
              <a:alpha val="20000"/>
            </a:srgbClr>
          </a:solidFill>
          <a:ln w="10583">
            <a:solidFill>
              <a:srgbClr val="FF7B72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65887" y="37703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39" name="Text 37"/>
          <p:cNvSpPr/>
          <p:nvPr/>
        </p:nvSpPr>
        <p:spPr>
          <a:xfrm>
            <a:off x="6904037" y="3732209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7B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Achievement 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32537" y="4208459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transition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Python-based kernels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 systems programming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maximum performance.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1587" y="47990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FF7B72"/>
          </a:solidFill>
          <a:ln/>
        </p:spPr>
      </p:sp>
      <p:sp>
        <p:nvSpPr>
          <p:cNvPr id="42" name="Text 40"/>
          <p:cNvSpPr/>
          <p:nvPr/>
        </p:nvSpPr>
        <p:spPr>
          <a:xfrm>
            <a:off x="6599237" y="4779959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Custom Kernel development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969" y="5287172"/>
            <a:ext cx="11418887" cy="1150937"/>
          </a:xfrm>
          <a:custGeom>
            <a:avLst/>
            <a:gdLst/>
            <a:ahLst/>
            <a:cxnLst/>
            <a:rect l="l" t="t" r="r" b="b"/>
            <a:pathLst>
              <a:path w="11418887" h="1150937">
                <a:moveTo>
                  <a:pt x="114300" y="0"/>
                </a:moveTo>
                <a:lnTo>
                  <a:pt x="11304588" y="0"/>
                </a:lnTo>
                <a:cubicBezTo>
                  <a:pt x="11367714" y="0"/>
                  <a:pt x="11418887" y="51174"/>
                  <a:pt x="11418887" y="114300"/>
                </a:cubicBezTo>
                <a:lnTo>
                  <a:pt x="11418887" y="1036638"/>
                </a:lnTo>
                <a:cubicBezTo>
                  <a:pt x="11418887" y="1099764"/>
                  <a:pt x="11367714" y="1150937"/>
                  <a:pt x="11304588" y="1150937"/>
                </a:cubicBezTo>
                <a:lnTo>
                  <a:pt x="114300" y="1150937"/>
                </a:lnTo>
                <a:cubicBezTo>
                  <a:pt x="51174" y="1150937"/>
                  <a:pt x="0" y="1099764"/>
                  <a:pt x="0" y="1036638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10000"/>
                </a:srgbClr>
              </a:gs>
              <a:gs pos="50000">
                <a:srgbClr val="3FB950">
                  <a:alpha val="10000"/>
                </a:srgbClr>
              </a:gs>
              <a:gs pos="100000">
                <a:srgbClr val="D2A8FF">
                  <a:alpha val="10000"/>
                </a:srgbClr>
              </a:gs>
            </a:gsLst>
            <a:lin ang="0" scaled="1"/>
          </a:gradFill>
          <a:ln w="10583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5306" y="5599906"/>
            <a:ext cx="522287" cy="522287"/>
          </a:xfrm>
          <a:custGeom>
            <a:avLst/>
            <a:gdLst/>
            <a:ahLst/>
            <a:cxnLst/>
            <a:rect l="l" t="t" r="r" b="b"/>
            <a:pathLst>
              <a:path w="522287" h="522287">
                <a:moveTo>
                  <a:pt x="114297" y="0"/>
                </a:moveTo>
                <a:lnTo>
                  <a:pt x="407990" y="0"/>
                </a:lnTo>
                <a:cubicBezTo>
                  <a:pt x="471073" y="0"/>
                  <a:pt x="522287" y="51215"/>
                  <a:pt x="522287" y="114297"/>
                </a:cubicBezTo>
                <a:lnTo>
                  <a:pt x="522287" y="407990"/>
                </a:lnTo>
                <a:cubicBezTo>
                  <a:pt x="522287" y="471073"/>
                  <a:pt x="471073" y="522287"/>
                  <a:pt x="407990" y="522287"/>
                </a:cubicBezTo>
                <a:lnTo>
                  <a:pt x="114297" y="522287"/>
                </a:lnTo>
                <a:cubicBezTo>
                  <a:pt x="51215" y="522287"/>
                  <a:pt x="0" y="471073"/>
                  <a:pt x="0" y="40799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8A6FF">
                  <a:alpha val="20000"/>
                </a:srgbClr>
              </a:gs>
              <a:gs pos="100000">
                <a:srgbClr val="3FB950">
                  <a:alpha val="20000"/>
                </a:srgbClr>
              </a:gs>
            </a:gsLst>
            <a:lin ang="2700000" scaled="1"/>
          </a:gra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12" y="57483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6" name="Text 44"/>
          <p:cNvSpPr/>
          <p:nvPr/>
        </p:nvSpPr>
        <p:spPr>
          <a:xfrm>
            <a:off x="1227137" y="5443538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27137" y="5786438"/>
            <a:ext cx="10496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optimization workflow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from identifying bottlenecks through profiling to designing targeted solutions. The transition from Triton's high-level abstractions to raw CUDA represents the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8A6FF"/>
                </a:solidFill>
                <a:highlight>
                  <a:srgbClr val="58A6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frontier of GPU performance tuning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of4g4dxkrf6s/cover_gpu_tech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>
                  <a:alpha val="85000"/>
                </a:srgbClr>
              </a:gs>
              <a:gs pos="50000">
                <a:srgbClr val="0D1117">
                  <a:alpha val="90000"/>
                </a:srgbClr>
              </a:gs>
              <a:gs pos="100000">
                <a:srgbClr val="58A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50510" y="713581"/>
            <a:ext cx="1493837" cy="503237"/>
          </a:xfrm>
          <a:custGeom>
            <a:avLst/>
            <a:gdLst/>
            <a:ahLst/>
            <a:cxnLst/>
            <a:rect l="l" t="t" r="r" b="b"/>
            <a:pathLst>
              <a:path w="1493837" h="503237">
                <a:moveTo>
                  <a:pt x="114300" y="0"/>
                </a:moveTo>
                <a:lnTo>
                  <a:pt x="1379537" y="0"/>
                </a:lnTo>
                <a:cubicBezTo>
                  <a:pt x="1442663" y="0"/>
                  <a:pt x="1493837" y="51174"/>
                  <a:pt x="1493837" y="114300"/>
                </a:cubicBezTo>
                <a:lnTo>
                  <a:pt x="1493837" y="388937"/>
                </a:lnTo>
                <a:cubicBezTo>
                  <a:pt x="1493837" y="452063"/>
                  <a:pt x="1442663" y="503237"/>
                  <a:pt x="1379537" y="503237"/>
                </a:cubicBezTo>
                <a:lnTo>
                  <a:pt x="114300" y="503237"/>
                </a:lnTo>
                <a:cubicBezTo>
                  <a:pt x="51174" y="503237"/>
                  <a:pt x="0" y="452063"/>
                  <a:pt x="0" y="388937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40216" y="858041"/>
            <a:ext cx="111156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68" kern="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6950" y="1449391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C9D1D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Q&amp;A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0" y="2363791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floor for questions regarding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Triton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FB9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CUDA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the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D2A8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Pragna-1B 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2769" y="3415509"/>
            <a:ext cx="2684462" cy="1760537"/>
          </a:xfrm>
          <a:custGeom>
            <a:avLst/>
            <a:gdLst/>
            <a:ahLst/>
            <a:cxnLst/>
            <a:rect l="l" t="t" r="r" b="b"/>
            <a:pathLst>
              <a:path w="2684462" h="1760537">
                <a:moveTo>
                  <a:pt x="114294" y="0"/>
                </a:moveTo>
                <a:lnTo>
                  <a:pt x="2570168" y="0"/>
                </a:lnTo>
                <a:cubicBezTo>
                  <a:pt x="2633291" y="0"/>
                  <a:pt x="2684462" y="51171"/>
                  <a:pt x="2684462" y="114294"/>
                </a:cubicBezTo>
                <a:lnTo>
                  <a:pt x="2684462" y="1646243"/>
                </a:lnTo>
                <a:cubicBezTo>
                  <a:pt x="2684462" y="1709366"/>
                  <a:pt x="2633291" y="1760537"/>
                  <a:pt x="2570168" y="1760537"/>
                </a:cubicBezTo>
                <a:lnTo>
                  <a:pt x="114294" y="1760537"/>
                </a:lnTo>
                <a:cubicBezTo>
                  <a:pt x="51171" y="1760537"/>
                  <a:pt x="0" y="1709366"/>
                  <a:pt x="0" y="1646243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74169" y="3652044"/>
            <a:ext cx="598487" cy="598487"/>
          </a:xfrm>
          <a:custGeom>
            <a:avLst/>
            <a:gdLst/>
            <a:ahLst/>
            <a:cxnLst/>
            <a:rect l="l" t="t" r="r" b="b"/>
            <a:pathLst>
              <a:path w="598487" h="598487">
                <a:moveTo>
                  <a:pt x="114299" y="0"/>
                </a:moveTo>
                <a:lnTo>
                  <a:pt x="484188" y="0"/>
                </a:lnTo>
                <a:cubicBezTo>
                  <a:pt x="547314" y="0"/>
                  <a:pt x="598487" y="51173"/>
                  <a:pt x="598487" y="114299"/>
                </a:cubicBezTo>
                <a:lnTo>
                  <a:pt x="598487" y="484188"/>
                </a:lnTo>
                <a:cubicBezTo>
                  <a:pt x="598487" y="547314"/>
                  <a:pt x="547314" y="598487"/>
                  <a:pt x="484188" y="598487"/>
                </a:cubicBezTo>
                <a:lnTo>
                  <a:pt x="114299" y="598487"/>
                </a:lnTo>
                <a:cubicBezTo>
                  <a:pt x="51173" y="598487"/>
                  <a:pt x="0" y="547314"/>
                  <a:pt x="0" y="48418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10583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52365" y="38100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1" name="Text 8"/>
          <p:cNvSpPr/>
          <p:nvPr/>
        </p:nvSpPr>
        <p:spPr>
          <a:xfrm>
            <a:off x="2017712" y="441007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Triton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32000" y="47529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GPU kernel development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3769" y="3415509"/>
            <a:ext cx="2684462" cy="1760537"/>
          </a:xfrm>
          <a:custGeom>
            <a:avLst/>
            <a:gdLst/>
            <a:ahLst/>
            <a:cxnLst/>
            <a:rect l="l" t="t" r="r" b="b"/>
            <a:pathLst>
              <a:path w="2684462" h="1760537">
                <a:moveTo>
                  <a:pt x="114294" y="0"/>
                </a:moveTo>
                <a:lnTo>
                  <a:pt x="2570168" y="0"/>
                </a:lnTo>
                <a:cubicBezTo>
                  <a:pt x="2633291" y="0"/>
                  <a:pt x="2684462" y="51171"/>
                  <a:pt x="2684462" y="114294"/>
                </a:cubicBezTo>
                <a:lnTo>
                  <a:pt x="2684462" y="1646243"/>
                </a:lnTo>
                <a:cubicBezTo>
                  <a:pt x="2684462" y="1709366"/>
                  <a:pt x="2633291" y="1760537"/>
                  <a:pt x="2570168" y="1760537"/>
                </a:cubicBezTo>
                <a:lnTo>
                  <a:pt x="114294" y="1760537"/>
                </a:lnTo>
                <a:cubicBezTo>
                  <a:pt x="51171" y="1760537"/>
                  <a:pt x="0" y="1709366"/>
                  <a:pt x="0" y="1646243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95169" y="3652044"/>
            <a:ext cx="598487" cy="598487"/>
          </a:xfrm>
          <a:custGeom>
            <a:avLst/>
            <a:gdLst/>
            <a:ahLst/>
            <a:cxnLst/>
            <a:rect l="l" t="t" r="r" b="b"/>
            <a:pathLst>
              <a:path w="598487" h="598487">
                <a:moveTo>
                  <a:pt x="114299" y="0"/>
                </a:moveTo>
                <a:lnTo>
                  <a:pt x="484188" y="0"/>
                </a:lnTo>
                <a:cubicBezTo>
                  <a:pt x="547314" y="0"/>
                  <a:pt x="598487" y="51173"/>
                  <a:pt x="598487" y="114299"/>
                </a:cubicBezTo>
                <a:lnTo>
                  <a:pt x="598487" y="484188"/>
                </a:lnTo>
                <a:cubicBezTo>
                  <a:pt x="598487" y="547314"/>
                  <a:pt x="547314" y="598487"/>
                  <a:pt x="484188" y="598487"/>
                </a:cubicBezTo>
                <a:lnTo>
                  <a:pt x="114299" y="598487"/>
                </a:lnTo>
                <a:cubicBezTo>
                  <a:pt x="51173" y="598487"/>
                  <a:pt x="0" y="547314"/>
                  <a:pt x="0" y="48418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FB950">
              <a:alpha val="20000"/>
            </a:srgbClr>
          </a:solidFill>
          <a:ln w="10583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55506" y="3810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16" name="Text 13"/>
          <p:cNvSpPr/>
          <p:nvPr/>
        </p:nvSpPr>
        <p:spPr>
          <a:xfrm>
            <a:off x="4938713" y="441007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CUDA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53000" y="47529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GPU programming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74769" y="3415509"/>
            <a:ext cx="2684462" cy="1760537"/>
          </a:xfrm>
          <a:custGeom>
            <a:avLst/>
            <a:gdLst/>
            <a:ahLst/>
            <a:cxnLst/>
            <a:rect l="l" t="t" r="r" b="b"/>
            <a:pathLst>
              <a:path w="2684462" h="1760537">
                <a:moveTo>
                  <a:pt x="114294" y="0"/>
                </a:moveTo>
                <a:lnTo>
                  <a:pt x="2570168" y="0"/>
                </a:lnTo>
                <a:cubicBezTo>
                  <a:pt x="2633291" y="0"/>
                  <a:pt x="2684462" y="51171"/>
                  <a:pt x="2684462" y="114294"/>
                </a:cubicBezTo>
                <a:lnTo>
                  <a:pt x="2684462" y="1646243"/>
                </a:lnTo>
                <a:cubicBezTo>
                  <a:pt x="2684462" y="1709366"/>
                  <a:pt x="2633291" y="1760537"/>
                  <a:pt x="2570168" y="1760537"/>
                </a:cubicBezTo>
                <a:lnTo>
                  <a:pt x="114294" y="1760537"/>
                </a:lnTo>
                <a:cubicBezTo>
                  <a:pt x="51171" y="1760537"/>
                  <a:pt x="0" y="1709366"/>
                  <a:pt x="0" y="1646243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16169" y="3652044"/>
            <a:ext cx="598487" cy="598487"/>
          </a:xfrm>
          <a:custGeom>
            <a:avLst/>
            <a:gdLst/>
            <a:ahLst/>
            <a:cxnLst/>
            <a:rect l="l" t="t" r="r" b="b"/>
            <a:pathLst>
              <a:path w="598487" h="598487">
                <a:moveTo>
                  <a:pt x="114299" y="0"/>
                </a:moveTo>
                <a:lnTo>
                  <a:pt x="484188" y="0"/>
                </a:lnTo>
                <a:cubicBezTo>
                  <a:pt x="547314" y="0"/>
                  <a:pt x="598487" y="51173"/>
                  <a:pt x="598487" y="114299"/>
                </a:cubicBezTo>
                <a:lnTo>
                  <a:pt x="598487" y="484188"/>
                </a:lnTo>
                <a:cubicBezTo>
                  <a:pt x="598487" y="547314"/>
                  <a:pt x="547314" y="598487"/>
                  <a:pt x="484188" y="598487"/>
                </a:cubicBezTo>
                <a:lnTo>
                  <a:pt x="114299" y="598487"/>
                </a:lnTo>
                <a:cubicBezTo>
                  <a:pt x="51173" y="598487"/>
                  <a:pt x="0" y="547314"/>
                  <a:pt x="0" y="48418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D2A8FF">
              <a:alpha val="20000"/>
            </a:srgbClr>
          </a:solidFill>
          <a:ln w="10583">
            <a:solidFill>
              <a:srgbClr val="D2A8FF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76506" y="3810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D2A8FF"/>
          </a:solidFill>
          <a:ln/>
        </p:spPr>
      </p:sp>
      <p:sp>
        <p:nvSpPr>
          <p:cNvPr id="21" name="Text 18"/>
          <p:cNvSpPr/>
          <p:nvPr/>
        </p:nvSpPr>
        <p:spPr>
          <a:xfrm>
            <a:off x="7859713" y="441007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2A8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Pragna-1B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74000" y="47529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 &amp; optimization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558256" y="5488778"/>
            <a:ext cx="3960812" cy="655637"/>
          </a:xfrm>
          <a:custGeom>
            <a:avLst/>
            <a:gdLst/>
            <a:ahLst/>
            <a:cxnLst/>
            <a:rect l="l" t="t" r="r" b="b"/>
            <a:pathLst>
              <a:path w="3960812" h="655637">
                <a:moveTo>
                  <a:pt x="114297" y="0"/>
                </a:moveTo>
                <a:lnTo>
                  <a:pt x="3846515" y="0"/>
                </a:lnTo>
                <a:cubicBezTo>
                  <a:pt x="3909640" y="0"/>
                  <a:pt x="3960812" y="51173"/>
                  <a:pt x="3960812" y="114297"/>
                </a:cubicBezTo>
                <a:lnTo>
                  <a:pt x="3960812" y="541340"/>
                </a:lnTo>
                <a:cubicBezTo>
                  <a:pt x="3960812" y="604465"/>
                  <a:pt x="3909640" y="655637"/>
                  <a:pt x="3846515" y="655637"/>
                </a:cubicBezTo>
                <a:lnTo>
                  <a:pt x="114297" y="655637"/>
                </a:lnTo>
                <a:cubicBezTo>
                  <a:pt x="51173" y="655637"/>
                  <a:pt x="0" y="604465"/>
                  <a:pt x="0" y="54134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19400" y="57023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25" name="Text 22"/>
          <p:cNvSpPr/>
          <p:nvPr/>
        </p:nvSpPr>
        <p:spPr>
          <a:xfrm>
            <a:off x="3190875" y="5607053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190875" y="5797553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8A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moonboyknm/Pragna1B_Custom_Kernel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756082" y="5488778"/>
            <a:ext cx="2874962" cy="655637"/>
          </a:xfrm>
          <a:custGeom>
            <a:avLst/>
            <a:gdLst/>
            <a:ahLst/>
            <a:cxnLst/>
            <a:rect l="l" t="t" r="r" b="b"/>
            <a:pathLst>
              <a:path w="2874962" h="655637">
                <a:moveTo>
                  <a:pt x="114297" y="0"/>
                </a:moveTo>
                <a:lnTo>
                  <a:pt x="2760665" y="0"/>
                </a:lnTo>
                <a:cubicBezTo>
                  <a:pt x="2823790" y="0"/>
                  <a:pt x="2874962" y="51173"/>
                  <a:pt x="2874962" y="114297"/>
                </a:cubicBezTo>
                <a:lnTo>
                  <a:pt x="2874962" y="541340"/>
                </a:lnTo>
                <a:cubicBezTo>
                  <a:pt x="2874962" y="604465"/>
                  <a:pt x="2823790" y="655637"/>
                  <a:pt x="2760665" y="655637"/>
                </a:cubicBezTo>
                <a:lnTo>
                  <a:pt x="114297" y="655637"/>
                </a:lnTo>
                <a:cubicBezTo>
                  <a:pt x="51173" y="655637"/>
                  <a:pt x="0" y="604465"/>
                  <a:pt x="0" y="54134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0583">
            <a:solidFill>
              <a:srgbClr val="30363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017226" y="57023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29" name="Text 26"/>
          <p:cNvSpPr/>
          <p:nvPr/>
        </p:nvSpPr>
        <p:spPr>
          <a:xfrm>
            <a:off x="7388701" y="5607053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88701" y="5797553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mudgal.kratik@gmail.com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Pragna-1B Inference: Triton vs. Custom CUDA Kernels</dc:title>
  <dc:subject>Optimizing Pragna-1B Inference: Triton vs. Custom CUDA Kernels</dc:subject>
  <dc:creator>Kimi</dc:creator>
  <cp:lastModifiedBy>Kimi</cp:lastModifiedBy>
  <cp:revision>1</cp:revision>
  <dcterms:created xsi:type="dcterms:W3CDTF">2026-02-14T06:21:21Z</dcterms:created>
  <dcterms:modified xsi:type="dcterms:W3CDTF">2026-02-14T06:21:21Z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{"Label":"Optimizing Pragna-1B Inference: Triton vs. Custom CUDA Kernels","ContentProducer":"001191110108MACG2KBH8F10000","ProduceID":"19c5a9fb-0852-8864-8000-00000ed43f16","ReservedCode1":"","ContentPropagator":"001191110108MACG2KBH8F20000","PropagateID":"19c5a9fb-0852-8864-8000-00000ed43f16","ReservedCode2":""}</vt:lpwstr>
  </property>
</Properties>
</file>